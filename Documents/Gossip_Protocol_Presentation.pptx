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8" r:id="rId8"/>
    <p:sldId id="307" r:id="rId9"/>
    <p:sldId id="289" r:id="rId10"/>
    <p:sldId id="311" r:id="rId11"/>
    <p:sldId id="309" r:id="rId12"/>
    <p:sldId id="301" r:id="rId13"/>
    <p:sldId id="318" r:id="rId14"/>
    <p:sldId id="319" r:id="rId15"/>
    <p:sldId id="320" r:id="rId16"/>
    <p:sldId id="321" r:id="rId17"/>
    <p:sldId id="322" r:id="rId18"/>
    <p:sldId id="323" r:id="rId19"/>
    <p:sldId id="325" r:id="rId20"/>
    <p:sldId id="326" r:id="rId21"/>
    <p:sldId id="264" r:id="rId22"/>
    <p:sldId id="281" r:id="rId23"/>
    <p:sldId id="282" r:id="rId24"/>
    <p:sldId id="293" r:id="rId25"/>
    <p:sldId id="283" r:id="rId26"/>
    <p:sldId id="312" r:id="rId27"/>
    <p:sldId id="314" r:id="rId28"/>
    <p:sldId id="315" r:id="rId29"/>
    <p:sldId id="317" r:id="rId30"/>
    <p:sldId id="266" r:id="rId31"/>
    <p:sldId id="328" r:id="rId32"/>
    <p:sldId id="331" r:id="rId33"/>
    <p:sldId id="329" r:id="rId34"/>
    <p:sldId id="330" r:id="rId35"/>
    <p:sldId id="332" r:id="rId36"/>
    <p:sldId id="333" r:id="rId37"/>
    <p:sldId id="341" r:id="rId38"/>
    <p:sldId id="347" r:id="rId39"/>
    <p:sldId id="306" r:id="rId40"/>
    <p:sldId id="334" r:id="rId41"/>
    <p:sldId id="335" r:id="rId42"/>
    <p:sldId id="336" r:id="rId43"/>
    <p:sldId id="345" r:id="rId44"/>
    <p:sldId id="269" r:id="rId45"/>
    <p:sldId id="272" r:id="rId46"/>
    <p:sldId id="316" r:id="rId47"/>
    <p:sldId id="338" r:id="rId48"/>
    <p:sldId id="342" r:id="rId49"/>
    <p:sldId id="343" r:id="rId50"/>
    <p:sldId id="344" r:id="rId51"/>
    <p:sldId id="346" r:id="rId52"/>
    <p:sldId id="271" r:id="rId53"/>
    <p:sldId id="275" r:id="rId54"/>
    <p:sldId id="348" r:id="rId55"/>
    <p:sldId id="276" r:id="rId56"/>
    <p:sldId id="313" r:id="rId57"/>
    <p:sldId id="277" r:id="rId58"/>
    <p:sldId id="278" r:id="rId59"/>
    <p:sldId id="279" r:id="rId60"/>
    <p:sldId id="280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5FF6"/>
    <a:srgbClr val="7F57DE"/>
    <a:srgbClr val="AC90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1BA3DE-0118-C07C-A67D-4FABE37292CB}" v="42" dt="2026-04-14T17:02:03.1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7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 flipV="1">
            <a:off x="1097280" y="548640"/>
            <a:ext cx="2103120" cy="365760"/>
          </a:xfrm>
          <a:prstGeom prst="line">
            <a:avLst/>
          </a:prstGeom>
          <a:ln w="127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914400"/>
            <a:ext cx="731520" cy="1371600"/>
          </a:xfrm>
          <a:prstGeom prst="line">
            <a:avLst/>
          </a:prstGeom>
          <a:ln w="127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00400" y="548640"/>
            <a:ext cx="640080" cy="1280160"/>
          </a:xfrm>
          <a:prstGeom prst="line">
            <a:avLst/>
          </a:prstGeom>
          <a:ln w="127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914400" y="2286000"/>
            <a:ext cx="914400" cy="914400"/>
          </a:xfrm>
          <a:prstGeom prst="line">
            <a:avLst/>
          </a:prstGeom>
          <a:ln w="127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828800" y="1828800"/>
            <a:ext cx="2011680" cy="457200"/>
          </a:xfrm>
          <a:prstGeom prst="line">
            <a:avLst/>
          </a:prstGeom>
          <a:ln w="127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40480" y="1828800"/>
            <a:ext cx="548640" cy="1645920"/>
          </a:xfrm>
          <a:prstGeom prst="line">
            <a:avLst/>
          </a:prstGeom>
          <a:ln w="127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400" y="3372928"/>
            <a:ext cx="1828800" cy="457200"/>
          </a:xfrm>
          <a:prstGeom prst="line">
            <a:avLst/>
          </a:prstGeom>
          <a:ln w="127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645920" y="3657600"/>
            <a:ext cx="1097280" cy="1097280"/>
          </a:xfrm>
          <a:prstGeom prst="line">
            <a:avLst/>
          </a:prstGeom>
          <a:ln w="127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743200" y="3474720"/>
            <a:ext cx="1645920" cy="182880"/>
          </a:xfrm>
          <a:prstGeom prst="line">
            <a:avLst/>
          </a:prstGeom>
          <a:ln w="127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45920" y="4754880"/>
            <a:ext cx="1828800" cy="274320"/>
          </a:xfrm>
          <a:prstGeom prst="line">
            <a:avLst/>
          </a:prstGeom>
          <a:ln w="127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474720" y="3474720"/>
            <a:ext cx="914400" cy="1554480"/>
          </a:xfrm>
          <a:prstGeom prst="line">
            <a:avLst/>
          </a:prstGeom>
          <a:ln w="127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60120" y="777240"/>
            <a:ext cx="274320" cy="2743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063240" y="411480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691640" y="2148840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703320" y="1691640"/>
            <a:ext cx="274320" cy="274320"/>
          </a:xfrm>
          <a:prstGeom prst="ellipse">
            <a:avLst/>
          </a:prstGeom>
          <a:solidFill>
            <a:srgbClr val="818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77240" y="3063240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606040" y="3520440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251960" y="3337560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508760" y="4617720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337560" y="4892040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4011" y="1056448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 Semibold"/>
              </a:defRPr>
            </a:pPr>
            <a:r>
              <a:t>Gossip Protocol</a:t>
            </a:r>
            <a:br/>
            <a:r>
              <a:t>in P2P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313" y="2881222"/>
            <a:ext cx="4114800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0">
                <a:solidFill>
                  <a:srgbClr val="A5B4FC"/>
                </a:solidFill>
                <a:latin typeface="Segoe UI"/>
              </a:defRPr>
            </a:pPr>
            <a:r>
              <a:t>Epidemic Dissemination with Total Order</a:t>
            </a:r>
            <a:r>
              <a:rPr lang="en-US"/>
              <a:t> </a:t>
            </a:r>
          </a:p>
          <a:p>
            <a:pPr>
              <a:defRPr sz="1500" b="0">
                <a:solidFill>
                  <a:srgbClr val="A5B4FC"/>
                </a:solidFill>
                <a:latin typeface="Segoe UI"/>
              </a:defRPr>
            </a:pPr>
            <a:r>
              <a:t>&amp; Dynamic Sequencer Election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7195" y="5198745"/>
            <a:ext cx="4114800" cy="14927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lang="en-US">
                <a:solidFill>
                  <a:schemeClr val="bg1"/>
                </a:solidFill>
              </a:rPr>
              <a:t>Distributed Systems  •  Spring 2026</a:t>
            </a:r>
            <a:endParaRPr lang="en-US">
              <a:solidFill>
                <a:schemeClr val="bg1"/>
              </a:solidFill>
              <a:cs typeface="Segoe UI"/>
            </a:endParaRPr>
          </a:p>
          <a:p>
            <a:pPr>
              <a:defRPr sz="1300" b="0">
                <a:solidFill>
                  <a:srgbClr val="94A3B8"/>
                </a:solidFill>
                <a:latin typeface="Segoe UI"/>
              </a:defRPr>
            </a:pPr>
            <a:endParaRPr lang="en-US">
              <a:solidFill>
                <a:schemeClr val="bg1"/>
              </a:solidFill>
              <a:cs typeface="Segoe UI"/>
            </a:endParaRPr>
          </a:p>
          <a:p>
            <a:pPr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lang="en-US">
                <a:solidFill>
                  <a:schemeClr val="bg1"/>
                </a:solidFill>
                <a:cs typeface="Segoe UI"/>
              </a:rPr>
              <a:t>Oussama Laaroussi | Mounia </a:t>
            </a:r>
            <a:r>
              <a:rPr lang="en-US" err="1">
                <a:solidFill>
                  <a:schemeClr val="bg1"/>
                </a:solidFill>
                <a:cs typeface="Segoe UI"/>
              </a:rPr>
              <a:t>Baddou</a:t>
            </a:r>
            <a:endParaRPr lang="en-US">
              <a:solidFill>
                <a:schemeClr val="bg1"/>
              </a:solidFill>
              <a:cs typeface="Segoe UI"/>
            </a:endParaRPr>
          </a:p>
          <a:p>
            <a:pPr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lang="en-US" err="1">
                <a:solidFill>
                  <a:schemeClr val="bg1"/>
                </a:solidFill>
                <a:cs typeface="Segoe UI"/>
              </a:rPr>
              <a:t>Elghali</a:t>
            </a:r>
            <a:r>
              <a:rPr lang="en-US">
                <a:solidFill>
                  <a:schemeClr val="bg1"/>
                </a:solidFill>
                <a:cs typeface="Segoe UI"/>
              </a:rPr>
              <a:t> Benjelloun |  Kawtar </a:t>
            </a:r>
            <a:r>
              <a:rPr lang="en-US" err="1">
                <a:solidFill>
                  <a:schemeClr val="bg1"/>
                </a:solidFill>
                <a:cs typeface="Segoe UI"/>
              </a:rPr>
              <a:t>Labzae</a:t>
            </a:r>
            <a:endParaRPr lang="en-US">
              <a:solidFill>
                <a:schemeClr val="bg1"/>
              </a:solidFill>
              <a:cs typeface="Segoe UI"/>
            </a:endParaRPr>
          </a:p>
          <a:p>
            <a:pPr>
              <a:defRPr sz="1300" b="0">
                <a:solidFill>
                  <a:srgbClr val="94A3B8"/>
                </a:solidFill>
                <a:latin typeface="Segoe UI"/>
              </a:defRPr>
            </a:pPr>
            <a:endParaRPr lang="en-US">
              <a:solidFill>
                <a:schemeClr val="bg1"/>
              </a:solidFill>
              <a:cs typeface="Segoe UI"/>
            </a:endParaRPr>
          </a:p>
          <a:p>
            <a:pPr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lang="en-US">
                <a:solidFill>
                  <a:schemeClr val="bg1"/>
                </a:solidFill>
                <a:cs typeface="Segoe UI"/>
              </a:rPr>
              <a:t>Supervised by</a:t>
            </a:r>
          </a:p>
          <a:p>
            <a:pPr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lang="en-US">
                <a:solidFill>
                  <a:schemeClr val="bg1"/>
                </a:solidFill>
                <a:cs typeface="Segoe UI"/>
              </a:rPr>
              <a:t>Prof Robert Basmadjian | Prof </a:t>
            </a:r>
            <a:r>
              <a:rPr lang="en-US" err="1">
                <a:solidFill>
                  <a:schemeClr val="bg1"/>
                </a:solidFill>
                <a:cs typeface="Segoe UI"/>
              </a:rPr>
              <a:t>Chaimae</a:t>
            </a:r>
            <a:r>
              <a:rPr lang="en-US">
                <a:solidFill>
                  <a:schemeClr val="bg1"/>
                </a:solidFill>
                <a:cs typeface="Segoe UI"/>
              </a:rPr>
              <a:t> </a:t>
            </a:r>
            <a:r>
              <a:rPr lang="en-US" err="1">
                <a:solidFill>
                  <a:schemeClr val="bg1"/>
                </a:solidFill>
                <a:cs typeface="Segoe UI"/>
              </a:rPr>
              <a:t>Jallouli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097280"/>
            <a:ext cx="5669280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Segoe UI Semibold"/>
              </a:defRPr>
            </a:pPr>
            <a:r>
              <a:t>"Imagine </a:t>
            </a:r>
            <a:r>
              <a:rPr lang="en-US"/>
              <a:t>20 </a:t>
            </a:r>
            <a:r>
              <a:t>machines that need to</a:t>
            </a:r>
            <a:br>
              <a:rPr/>
            </a:br>
            <a:r>
              <a:t>agree on the order of events…</a:t>
            </a:r>
            <a:br>
              <a:rPr/>
            </a:br>
            <a:r>
              <a:t>with no central server."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7432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This is the challenge of distributed gossip protocols.</a:t>
            </a:r>
          </a:p>
        </p:txBody>
      </p:sp>
      <p:sp>
        <p:nvSpPr>
          <p:cNvPr id="28" name="Oval 27"/>
          <p:cNvSpPr/>
          <p:nvPr/>
        </p:nvSpPr>
        <p:spPr>
          <a:xfrm>
            <a:off x="5943600" y="353872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3474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Epidemic Gossip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749040"/>
            <a:ext cx="237744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rPr lang="en-US"/>
              <a:t>probabilistic</a:t>
            </a:r>
            <a:r>
              <a:t> delivery</a:t>
            </a:r>
          </a:p>
        </p:txBody>
      </p:sp>
      <p:sp>
        <p:nvSpPr>
          <p:cNvPr id="31" name="Oval 30"/>
          <p:cNvSpPr/>
          <p:nvPr/>
        </p:nvSpPr>
        <p:spPr>
          <a:xfrm>
            <a:off x="8869680" y="3538728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81160" y="3474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Adaptive Edges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3749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EMA + congestion blending</a:t>
            </a:r>
          </a:p>
        </p:txBody>
      </p:sp>
      <p:sp>
        <p:nvSpPr>
          <p:cNvPr id="34" name="Oval 33"/>
          <p:cNvSpPr/>
          <p:nvPr/>
        </p:nvSpPr>
        <p:spPr>
          <a:xfrm>
            <a:off x="5943600" y="4590287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452627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Total Order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8005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Sequencer-based per channel</a:t>
            </a:r>
          </a:p>
        </p:txBody>
      </p:sp>
      <p:sp>
        <p:nvSpPr>
          <p:cNvPr id="37" name="Oval 36"/>
          <p:cNvSpPr/>
          <p:nvPr/>
        </p:nvSpPr>
        <p:spPr>
          <a:xfrm>
            <a:off x="8869680" y="4590287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81160" y="452627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Dynamic 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48005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Auto join/leave group</a:t>
            </a:r>
          </a:p>
        </p:txBody>
      </p:sp>
      <p:sp>
        <p:nvSpPr>
          <p:cNvPr id="40" name="Oval 39"/>
          <p:cNvSpPr/>
          <p:nvPr/>
        </p:nvSpPr>
        <p:spPr>
          <a:xfrm>
            <a:off x="5943600" y="5641848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55080" y="5577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Leader Election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852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Quorum-based deterministic</a:t>
            </a:r>
          </a:p>
        </p:txBody>
      </p:sp>
      <p:sp>
        <p:nvSpPr>
          <p:cNvPr id="43" name="Oval 42"/>
          <p:cNvSpPr/>
          <p:nvPr/>
        </p:nvSpPr>
        <p:spPr>
          <a:xfrm>
            <a:off x="8869680" y="5641848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81160" y="5577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Crash Recovery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5852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SQLite + history catch-up</a:t>
            </a:r>
          </a:p>
        </p:txBody>
      </p: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6759B965-0391-57F6-C1E7-F6D269D57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40389"/>
            <a:ext cx="82296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sz="2800"/>
              <a:t>The </a:t>
            </a:r>
            <a:r>
              <a:rPr lang="en-US" sz="2800"/>
              <a:t>Problem</a:t>
            </a:r>
            <a:endParaRPr lang="en-US" sz="2800" err="1">
              <a:cs typeface="Segoe UI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337669"/>
            <a:ext cx="4802037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Centralized (fragile)</a:t>
            </a:r>
            <a:endParaRPr lang="en-US">
              <a:cs typeface="Segoe UI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560320" y="3200400"/>
            <a:ext cx="685800" cy="1187840"/>
          </a:xfrm>
          <a:prstGeom prst="line">
            <a:avLst/>
          </a:prstGeom>
          <a:ln w="12700">
            <a:solidFill>
              <a:srgbClr val="FECA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60320" y="3200400"/>
            <a:ext cx="1371600" cy="0"/>
          </a:xfrm>
          <a:prstGeom prst="line">
            <a:avLst/>
          </a:prstGeom>
          <a:ln w="12700">
            <a:solidFill>
              <a:srgbClr val="FECA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560320" y="2012560"/>
            <a:ext cx="685800" cy="1187840"/>
          </a:xfrm>
          <a:prstGeom prst="line">
            <a:avLst/>
          </a:prstGeom>
          <a:ln w="12700">
            <a:solidFill>
              <a:srgbClr val="FECA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874520" y="2012560"/>
            <a:ext cx="685800" cy="1187840"/>
          </a:xfrm>
          <a:prstGeom prst="line">
            <a:avLst/>
          </a:prstGeom>
          <a:ln w="12700">
            <a:solidFill>
              <a:srgbClr val="FECA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188720" y="3200400"/>
            <a:ext cx="1371600" cy="0"/>
          </a:xfrm>
          <a:prstGeom prst="line">
            <a:avLst/>
          </a:prstGeom>
          <a:ln w="12700">
            <a:solidFill>
              <a:srgbClr val="FECA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874521" y="3200400"/>
            <a:ext cx="685799" cy="1187840"/>
          </a:xfrm>
          <a:prstGeom prst="line">
            <a:avLst/>
          </a:prstGeom>
          <a:ln w="12700">
            <a:solidFill>
              <a:srgbClr val="FECA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240280" y="288036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Server</a:t>
            </a:r>
          </a:p>
        </p:txBody>
      </p:sp>
      <p:sp>
        <p:nvSpPr>
          <p:cNvPr id="7" name="Oval 6"/>
          <p:cNvSpPr/>
          <p:nvPr/>
        </p:nvSpPr>
        <p:spPr>
          <a:xfrm>
            <a:off x="3767328" y="3035808"/>
            <a:ext cx="329184" cy="329184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Segoe UI"/>
              </a:defRPr>
            </a:pPr>
            <a:r>
              <a:t>N1</a:t>
            </a:r>
          </a:p>
        </p:txBody>
      </p:sp>
      <p:sp>
        <p:nvSpPr>
          <p:cNvPr id="9" name="Oval 8"/>
          <p:cNvSpPr/>
          <p:nvPr/>
        </p:nvSpPr>
        <p:spPr>
          <a:xfrm>
            <a:off x="3081528" y="4223648"/>
            <a:ext cx="329184" cy="329184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Segoe UI"/>
              </a:defRPr>
            </a:pPr>
            <a:r>
              <a:t>N2</a:t>
            </a:r>
          </a:p>
        </p:txBody>
      </p:sp>
      <p:sp>
        <p:nvSpPr>
          <p:cNvPr id="11" name="Oval 10"/>
          <p:cNvSpPr/>
          <p:nvPr/>
        </p:nvSpPr>
        <p:spPr>
          <a:xfrm>
            <a:off x="1709929" y="4223648"/>
            <a:ext cx="329184" cy="329184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Segoe UI"/>
              </a:defRPr>
            </a:pPr>
            <a:r>
              <a:t>N3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035808"/>
            <a:ext cx="329184" cy="329184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Segoe UI"/>
              </a:defRPr>
            </a:pPr>
            <a:r>
              <a:t>N4</a:t>
            </a:r>
          </a:p>
        </p:txBody>
      </p:sp>
      <p:sp>
        <p:nvSpPr>
          <p:cNvPr id="15" name="Oval 14"/>
          <p:cNvSpPr/>
          <p:nvPr/>
        </p:nvSpPr>
        <p:spPr>
          <a:xfrm>
            <a:off x="1709928" y="1847968"/>
            <a:ext cx="329184" cy="329184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Segoe UI"/>
              </a:defRPr>
            </a:pPr>
            <a:r>
              <a:t>N5</a:t>
            </a:r>
          </a:p>
        </p:txBody>
      </p:sp>
      <p:sp>
        <p:nvSpPr>
          <p:cNvPr id="17" name="Oval 16"/>
          <p:cNvSpPr/>
          <p:nvPr/>
        </p:nvSpPr>
        <p:spPr>
          <a:xfrm>
            <a:off x="3081528" y="1847968"/>
            <a:ext cx="329184" cy="329184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Segoe UI"/>
              </a:defRPr>
            </a:pPr>
            <a:r>
              <a:t>N6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1595" y="5489274"/>
            <a:ext cx="3338423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br>
              <a:rPr sz="1600"/>
            </a:br>
            <a:r>
              <a:rPr sz="1600"/>
              <a:t>If the server crashes, everyone is disconnected.</a:t>
            </a:r>
            <a:endParaRPr lang="en-US" sz="1600">
              <a:cs typeface="Segoe U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760720" y="1371600"/>
            <a:ext cx="2540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Gossip Protocol (resilient)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203057" y="1856232"/>
            <a:ext cx="1645920" cy="246888"/>
          </a:xfrm>
          <a:prstGeom prst="line">
            <a:avLst/>
          </a:prstGeom>
          <a:ln w="1714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203057" y="2103120"/>
            <a:ext cx="411480" cy="1481328"/>
          </a:xfrm>
          <a:prstGeom prst="line">
            <a:avLst/>
          </a:prstGeom>
          <a:ln w="1714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48977" y="1856232"/>
            <a:ext cx="1234440" cy="658368"/>
          </a:xfrm>
          <a:prstGeom prst="line">
            <a:avLst/>
          </a:prstGeom>
          <a:ln w="1714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848977" y="1856232"/>
            <a:ext cx="411480" cy="1481328"/>
          </a:xfrm>
          <a:prstGeom prst="line">
            <a:avLst/>
          </a:prstGeom>
          <a:ln w="1714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083417" y="2514600"/>
            <a:ext cx="411480" cy="1234440"/>
          </a:xfrm>
          <a:prstGeom prst="line">
            <a:avLst/>
          </a:prstGeom>
          <a:ln w="1714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614537" y="3337560"/>
            <a:ext cx="1645920" cy="246888"/>
          </a:xfrm>
          <a:prstGeom prst="line">
            <a:avLst/>
          </a:prstGeom>
          <a:ln w="1714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528273" y="3584448"/>
            <a:ext cx="454612" cy="1152144"/>
          </a:xfrm>
          <a:prstGeom prst="line">
            <a:avLst/>
          </a:prstGeom>
          <a:ln w="1714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260457" y="3337560"/>
            <a:ext cx="1234440" cy="411480"/>
          </a:xfrm>
          <a:prstGeom prst="line">
            <a:avLst/>
          </a:prstGeom>
          <a:ln w="1714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60457" y="3337560"/>
            <a:ext cx="411480" cy="1234440"/>
          </a:xfrm>
          <a:prstGeom prst="line">
            <a:avLst/>
          </a:prstGeom>
          <a:ln w="1714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9671937" y="3749040"/>
            <a:ext cx="822960" cy="822960"/>
          </a:xfrm>
          <a:prstGeom prst="line">
            <a:avLst/>
          </a:prstGeom>
          <a:ln w="1714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026017" y="4572000"/>
            <a:ext cx="1645920" cy="164592"/>
          </a:xfrm>
          <a:prstGeom prst="line">
            <a:avLst/>
          </a:prstGeom>
          <a:ln w="1714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005546" y="1905610"/>
            <a:ext cx="395020" cy="3950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N1</a:t>
            </a:r>
          </a:p>
        </p:txBody>
      </p:sp>
      <p:sp>
        <p:nvSpPr>
          <p:cNvPr id="35" name="Oval 34"/>
          <p:cNvSpPr/>
          <p:nvPr/>
        </p:nvSpPr>
        <p:spPr>
          <a:xfrm>
            <a:off x="8651466" y="1658722"/>
            <a:ext cx="395020" cy="3950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N2</a:t>
            </a:r>
          </a:p>
        </p:txBody>
      </p:sp>
      <p:sp>
        <p:nvSpPr>
          <p:cNvPr id="36" name="Oval 35"/>
          <p:cNvSpPr/>
          <p:nvPr/>
        </p:nvSpPr>
        <p:spPr>
          <a:xfrm>
            <a:off x="9885906" y="2317090"/>
            <a:ext cx="395020" cy="3950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N3</a:t>
            </a:r>
          </a:p>
        </p:txBody>
      </p:sp>
      <p:sp>
        <p:nvSpPr>
          <p:cNvPr id="37" name="Oval 36"/>
          <p:cNvSpPr/>
          <p:nvPr/>
        </p:nvSpPr>
        <p:spPr>
          <a:xfrm>
            <a:off x="7417026" y="3386938"/>
            <a:ext cx="395020" cy="3950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N4</a:t>
            </a:r>
          </a:p>
        </p:txBody>
      </p:sp>
      <p:sp>
        <p:nvSpPr>
          <p:cNvPr id="38" name="Oval 37"/>
          <p:cNvSpPr/>
          <p:nvPr/>
        </p:nvSpPr>
        <p:spPr>
          <a:xfrm>
            <a:off x="9062946" y="3140050"/>
            <a:ext cx="395020" cy="3950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N5</a:t>
            </a:r>
          </a:p>
        </p:txBody>
      </p:sp>
      <p:sp>
        <p:nvSpPr>
          <p:cNvPr id="39" name="Oval 38"/>
          <p:cNvSpPr/>
          <p:nvPr/>
        </p:nvSpPr>
        <p:spPr>
          <a:xfrm>
            <a:off x="10297386" y="3551530"/>
            <a:ext cx="395020" cy="3950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N6</a:t>
            </a:r>
          </a:p>
        </p:txBody>
      </p:sp>
      <p:sp>
        <p:nvSpPr>
          <p:cNvPr id="40" name="Oval 39"/>
          <p:cNvSpPr/>
          <p:nvPr/>
        </p:nvSpPr>
        <p:spPr>
          <a:xfrm>
            <a:off x="7828506" y="4539082"/>
            <a:ext cx="395020" cy="3950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N7</a:t>
            </a:r>
          </a:p>
        </p:txBody>
      </p:sp>
      <p:sp>
        <p:nvSpPr>
          <p:cNvPr id="41" name="Oval 40"/>
          <p:cNvSpPr/>
          <p:nvPr/>
        </p:nvSpPr>
        <p:spPr>
          <a:xfrm>
            <a:off x="9474426" y="4374490"/>
            <a:ext cx="395020" cy="3950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N8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22411" y="5503653"/>
            <a:ext cx="3605842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Segoe UI"/>
              </a:defRPr>
            </a:pPr>
            <a:br>
              <a:rPr lang="en-US" sz="1600"/>
            </a:br>
            <a:r>
              <a:rPr lang="en-US" sz="1600"/>
              <a:t>Each node talks to a few neighbors </a:t>
            </a:r>
            <a:endParaRPr lang="en-US" sz="1600">
              <a:cs typeface="Segoe UI"/>
            </a:endParaRPr>
          </a:p>
          <a:p>
            <a:pPr>
              <a:defRPr sz="1200" b="0">
                <a:solidFill>
                  <a:srgbClr val="64748B"/>
                </a:solidFill>
                <a:latin typeface="Segoe UI"/>
              </a:defRPr>
            </a:pPr>
            <a:r>
              <a:rPr lang="en-US" sz="1600"/>
              <a:t>→ message spreads like an epidemic.</a:t>
            </a:r>
            <a:endParaRPr lang="en-US" sz="1600">
              <a:cs typeface="Segoe UI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C90CB4-A843-8094-8194-F73FD854DA56}"/>
              </a:ext>
            </a:extLst>
          </p:cNvPr>
          <p:cNvSpPr txBox="1"/>
          <p:nvPr/>
        </p:nvSpPr>
        <p:spPr>
          <a:xfrm>
            <a:off x="1375026" y="5128740"/>
            <a:ext cx="2721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Single Point of Failure</a:t>
            </a:r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3FBC215-9373-197C-C233-FA57468EBB30}"/>
              </a:ext>
            </a:extLst>
          </p:cNvPr>
          <p:cNvSpPr txBox="1"/>
          <p:nvPr/>
        </p:nvSpPr>
        <p:spPr>
          <a:xfrm>
            <a:off x="7044906" y="5125529"/>
            <a:ext cx="3608717" cy="3837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Decentralized – No Point of Failure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A08E128-52A1-A49E-BA04-2B3E18371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59992" y="648574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Roadmap: Two Phases of Building</a:t>
            </a:r>
            <a:endParaRPr lang="en-US" sz="1500">
              <a:latin typeface="Segoe UI"/>
              <a:cs typeface="Segoe U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03520" cy="5486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PHASE I — Core Protocol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207568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System Model &amp; Assumptions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271576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743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Node Identity &amp; Overlay Topology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3355847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38327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" y="3995927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02335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1051560" y="463600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663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Epidemic Gossip Dissemination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" y="527608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303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303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Adaptive Edge Reliability (EMA)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6113" y="3518513"/>
            <a:ext cx="7500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366F1"/>
                </a:solidFill>
                <a:latin typeface="Segoe UI"/>
              </a:defRPr>
            </a:pPr>
            <a:r>
              <a:t>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1371600"/>
            <a:ext cx="5303520" cy="548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PHASE II — Total Order &amp; Enhancements</a:t>
            </a:r>
          </a:p>
        </p:txBody>
      </p:sp>
      <p:sp>
        <p:nvSpPr>
          <p:cNvPr id="30" name="Oval 29"/>
          <p:cNvSpPr/>
          <p:nvPr/>
        </p:nvSpPr>
        <p:spPr>
          <a:xfrm>
            <a:off x="6720840" y="2075688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0" y="2103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Lamport Clocks &amp; Causal Ordering</a:t>
            </a:r>
          </a:p>
        </p:txBody>
      </p:sp>
      <p:sp>
        <p:nvSpPr>
          <p:cNvPr id="33" name="Oval 32"/>
          <p:cNvSpPr/>
          <p:nvPr/>
        </p:nvSpPr>
        <p:spPr>
          <a:xfrm>
            <a:off x="6720840" y="2715768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0" y="2743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Channel Sequencer &amp; Total Order</a:t>
            </a:r>
          </a:p>
        </p:txBody>
      </p:sp>
      <p:sp>
        <p:nvSpPr>
          <p:cNvPr id="36" name="Oval 35"/>
          <p:cNvSpPr/>
          <p:nvPr/>
        </p:nvSpPr>
        <p:spPr>
          <a:xfrm>
            <a:off x="6720840" y="3355847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75120" y="338327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3832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Ordered Delivery Buffer</a:t>
            </a:r>
          </a:p>
        </p:txBody>
      </p:sp>
      <p:sp>
        <p:nvSpPr>
          <p:cNvPr id="39" name="Oval 38"/>
          <p:cNvSpPr/>
          <p:nvPr/>
        </p:nvSpPr>
        <p:spPr>
          <a:xfrm>
            <a:off x="6720840" y="3995927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75120" y="402335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402335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Dynamic Core Node Group</a:t>
            </a:r>
          </a:p>
        </p:txBody>
      </p:sp>
      <p:sp>
        <p:nvSpPr>
          <p:cNvPr id="42" name="Oval 41"/>
          <p:cNvSpPr/>
          <p:nvPr/>
        </p:nvSpPr>
        <p:spPr>
          <a:xfrm>
            <a:off x="6720840" y="4636008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75120" y="4663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Sequencer Election Protocol</a:t>
            </a:r>
          </a:p>
        </p:txBody>
      </p:sp>
      <p:sp>
        <p:nvSpPr>
          <p:cNvPr id="45" name="Oval 44"/>
          <p:cNvSpPr/>
          <p:nvPr/>
        </p:nvSpPr>
        <p:spPr>
          <a:xfrm>
            <a:off x="6720840" y="5276088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75120" y="5303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5303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Crash Recovery &amp; Monitoring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9FEE595-584E-F8A9-9034-7F921BF7D07F}"/>
              </a:ext>
            </a:extLst>
          </p:cNvPr>
          <p:cNvSpPr txBox="1"/>
          <p:nvPr/>
        </p:nvSpPr>
        <p:spPr>
          <a:xfrm>
            <a:off x="1513278" y="3975759"/>
            <a:ext cx="2820389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>
                <a:solidFill>
                  <a:srgbClr val="1E293B"/>
                </a:solidFill>
                <a:latin typeface="Segoe UI"/>
                <a:cs typeface="Segoe UI"/>
              </a:rPr>
              <a:t>Heartbeat Failure Detection</a:t>
            </a:r>
            <a:endParaRPr lang="en-US" sz="1500">
              <a:latin typeface="Segoe UI"/>
              <a:cs typeface="Segoe UI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A4E8E3-E8C7-5717-4A3A-376A802BFD5E}"/>
              </a:ext>
            </a:extLst>
          </p:cNvPr>
          <p:cNvSpPr txBox="1"/>
          <p:nvPr/>
        </p:nvSpPr>
        <p:spPr>
          <a:xfrm>
            <a:off x="1506682" y="3386942"/>
            <a:ext cx="3523012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>
                <a:solidFill>
                  <a:srgbClr val="1E293B"/>
                </a:solidFill>
                <a:latin typeface="Segoe UI"/>
                <a:cs typeface="Segoe UI"/>
              </a:rPr>
              <a:t>Peer Discovery &amp; Network Join</a:t>
            </a:r>
            <a:endParaRPr lang="en-US" sz="1500">
              <a:latin typeface="Segoe UI"/>
              <a:cs typeface="Segoe UI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19EBE9F-ED83-352E-EA94-17D240C5F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6366F1"/>
                </a:solidFill>
                <a:latin typeface="Segoe UI Light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Segoe UI Semibold"/>
              </a:defRPr>
            </a:pPr>
            <a:r>
              <a:t>Phase I: Core Gossip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"How do nodes find each other, stay connected, and spread information?"</a:t>
            </a:r>
          </a:p>
        </p:txBody>
      </p:sp>
      <p:sp>
        <p:nvSpPr>
          <p:cNvPr id="6" name="Oval 5"/>
          <p:cNvSpPr/>
          <p:nvPr/>
        </p:nvSpPr>
        <p:spPr>
          <a:xfrm>
            <a:off x="9985248" y="5870448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351008" y="5870448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16768" y="587044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82528" y="587044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448288" y="587044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814048" y="5870448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3108ED7-FF75-3D87-A63A-30E14FF9B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System Model &amp; Assumptions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2827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FOUNDATIONS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82783" y="1453243"/>
            <a:ext cx="2651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82783" y="1453243"/>
            <a:ext cx="2651760" cy="508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08863" y="1453243"/>
            <a:ext cx="2651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08863" y="1453243"/>
            <a:ext cx="2651760" cy="508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34943" y="1453243"/>
            <a:ext cx="2651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34943" y="1453243"/>
            <a:ext cx="265176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48640" y="4572000"/>
            <a:ext cx="10972800" cy="18288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6753" y="4572000"/>
            <a:ext cx="63500" cy="1828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DA8445-442F-1309-E8D8-322F0EB3EB64}"/>
              </a:ext>
            </a:extLst>
          </p:cNvPr>
          <p:cNvSpPr txBox="1"/>
          <p:nvPr/>
        </p:nvSpPr>
        <p:spPr>
          <a:xfrm>
            <a:off x="820427" y="4715468"/>
            <a:ext cx="296815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7F57DE"/>
                </a:solidFill>
                <a:latin typeface="Segoe UI"/>
                <a:ea typeface="Calibri"/>
                <a:cs typeface="Segoe UI"/>
              </a:rPr>
              <a:t>Theoretical Backing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5C9263-E367-19E3-7F6E-BB67B4F3C36E}"/>
              </a:ext>
            </a:extLst>
          </p:cNvPr>
          <p:cNvSpPr txBox="1"/>
          <p:nvPr/>
        </p:nvSpPr>
        <p:spPr>
          <a:xfrm>
            <a:off x="737221" y="5120481"/>
            <a:ext cx="1065698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b="1">
                <a:solidFill>
                  <a:srgbClr val="8C5FF6"/>
                </a:solidFill>
                <a:ea typeface="Calibri"/>
                <a:cs typeface="Calibri"/>
              </a:rPr>
              <a:t>Epidemic Theory </a:t>
            </a:r>
            <a:r>
              <a:rPr lang="en-US" sz="1600" i="1">
                <a:solidFill>
                  <a:srgbClr val="8C5FF6"/>
                </a:solidFill>
                <a:ea typeface="Calibri"/>
                <a:cs typeface="Calibri"/>
              </a:rPr>
              <a:t>(Demers et al. 1987)</a:t>
            </a:r>
            <a:r>
              <a:rPr lang="en-US" b="1">
                <a:solidFill>
                  <a:srgbClr val="8C5FF6"/>
                </a:solidFill>
                <a:ea typeface="Calibri"/>
                <a:cs typeface="Calibri"/>
              </a:rPr>
              <a:t>:</a:t>
            </a:r>
            <a:r>
              <a:rPr lang="en-US" b="1">
                <a:ea typeface="Calibri"/>
                <a:cs typeface="Calibri"/>
              </a:rPr>
              <a:t> </a:t>
            </a:r>
            <a:r>
              <a:rPr lang="en-US">
                <a:ea typeface="Calibri"/>
                <a:cs typeface="Calibri"/>
              </a:rPr>
              <a:t>Push gossip with fanout f reaches all n nodes </a:t>
            </a:r>
            <a:r>
              <a:rPr lang="en-US" sz="1600" i="1">
                <a:ea typeface="Calibri"/>
                <a:cs typeface="Calibri"/>
              </a:rPr>
              <a:t>(in O(log n))</a:t>
            </a:r>
            <a:endParaRPr lang="en-US" sz="1600" i="1">
              <a:solidFill>
                <a:srgbClr val="000000"/>
              </a:solidFill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b="1">
                <a:solidFill>
                  <a:srgbClr val="8C5FF6"/>
                </a:solidFill>
                <a:ea typeface="Calibri"/>
                <a:cs typeface="Calibri"/>
              </a:rPr>
              <a:t>Lamport Clocks </a:t>
            </a:r>
            <a:r>
              <a:rPr lang="en-US" sz="1600" i="1">
                <a:solidFill>
                  <a:srgbClr val="8C5FF6"/>
                </a:solidFill>
                <a:ea typeface="Calibri"/>
                <a:cs typeface="Calibri"/>
              </a:rPr>
              <a:t>(Lamport, 1978)</a:t>
            </a:r>
            <a:r>
              <a:rPr lang="en-US" b="1">
                <a:solidFill>
                  <a:srgbClr val="8C5FF6"/>
                </a:solidFill>
                <a:ea typeface="Calibri"/>
                <a:cs typeface="Calibri"/>
              </a:rPr>
              <a:t>:</a:t>
            </a:r>
            <a:r>
              <a:rPr lang="en-US">
                <a:solidFill>
                  <a:srgbClr val="8C5FF6"/>
                </a:solidFill>
                <a:ea typeface="Calibri"/>
                <a:cs typeface="Calibri"/>
              </a:rPr>
              <a:t> </a:t>
            </a:r>
            <a:r>
              <a:rPr lang="en-US">
                <a:ea typeface="Calibri"/>
                <a:cs typeface="Calibri"/>
              </a:rPr>
              <a:t>Causal ordering without synchronized clocks</a:t>
            </a:r>
          </a:p>
          <a:p>
            <a:pPr marL="285750" indent="-285750">
              <a:buFont typeface="Calibri"/>
              <a:buChar char="-"/>
            </a:pPr>
            <a:r>
              <a:rPr lang="en-US" b="1">
                <a:solidFill>
                  <a:srgbClr val="8C5FF6"/>
                </a:solidFill>
                <a:ea typeface="Calibri"/>
                <a:cs typeface="Calibri"/>
              </a:rPr>
              <a:t>Failure Detectors </a:t>
            </a:r>
            <a:r>
              <a:rPr lang="en-US" sz="1600" i="1">
                <a:solidFill>
                  <a:srgbClr val="8C5FF6"/>
                </a:solidFill>
                <a:ea typeface="Calibri"/>
                <a:cs typeface="Calibri"/>
              </a:rPr>
              <a:t>(Chandra &amp; Toueg, 1996)</a:t>
            </a:r>
            <a:r>
              <a:rPr lang="en-US" b="1">
                <a:solidFill>
                  <a:srgbClr val="8C5FF6"/>
                </a:solidFill>
                <a:ea typeface="Calibri"/>
                <a:cs typeface="Calibri"/>
              </a:rPr>
              <a:t>: </a:t>
            </a:r>
            <a:r>
              <a:rPr lang="en-US">
                <a:ea typeface="Calibri"/>
                <a:cs typeface="Calibri"/>
              </a:rPr>
              <a:t>Eventually perfect means no false positives eventually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4EDCCB-3E76-9548-5F86-CA9D603B486D}"/>
              </a:ext>
            </a:extLst>
          </p:cNvPr>
          <p:cNvSpPr txBox="1"/>
          <p:nvPr/>
        </p:nvSpPr>
        <p:spPr>
          <a:xfrm>
            <a:off x="1716914" y="2791622"/>
            <a:ext cx="239948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No bound on message delay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Messages may be lost or reordered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CBF446-71C5-9B01-2262-4BE45A8D4180}"/>
              </a:ext>
            </a:extLst>
          </p:cNvPr>
          <p:cNvSpPr txBox="1"/>
          <p:nvPr/>
        </p:nvSpPr>
        <p:spPr>
          <a:xfrm>
            <a:off x="1898619" y="1818550"/>
            <a:ext cx="20265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ea typeface="Calibri"/>
                <a:cs typeface="Calibri"/>
              </a:rPr>
              <a:t>Partial Synchrony Network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DF4F37-001B-D85E-8B16-E1F8FBE65D9D}"/>
              </a:ext>
            </a:extLst>
          </p:cNvPr>
          <p:cNvSpPr txBox="1"/>
          <p:nvPr/>
        </p:nvSpPr>
        <p:spPr>
          <a:xfrm>
            <a:off x="4817223" y="1818549"/>
            <a:ext cx="20265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ea typeface="Calibri"/>
                <a:cs typeface="Calibri"/>
              </a:rPr>
              <a:t>Crash-Recovery Failures</a:t>
            </a:r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EB3AB6-CE7A-DA8F-4891-E60BC03628A7}"/>
              </a:ext>
            </a:extLst>
          </p:cNvPr>
          <p:cNvSpPr txBox="1"/>
          <p:nvPr/>
        </p:nvSpPr>
        <p:spPr>
          <a:xfrm>
            <a:off x="4635517" y="2662225"/>
            <a:ext cx="239948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Nodes fail by halting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No adversarial or malicious behavior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Failed nodes eventually detected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0A020A-6A06-977C-1FA5-D6A8FEB8EEA2}"/>
              </a:ext>
            </a:extLst>
          </p:cNvPr>
          <p:cNvSpPr txBox="1"/>
          <p:nvPr/>
        </p:nvSpPr>
        <p:spPr>
          <a:xfrm>
            <a:off x="7750204" y="1818548"/>
            <a:ext cx="20265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ea typeface="Calibri"/>
                <a:cs typeface="Calibri"/>
              </a:rPr>
              <a:t>Partial Connectivity</a:t>
            </a:r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11DB8C-7441-DE6D-14AA-75C3400A072D}"/>
              </a:ext>
            </a:extLst>
          </p:cNvPr>
          <p:cNvSpPr txBox="1"/>
          <p:nvPr/>
        </p:nvSpPr>
        <p:spPr>
          <a:xfrm>
            <a:off x="7582875" y="2518452"/>
            <a:ext cx="251450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Not all pairs are connected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Overlay built via discovery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Seed nodes are bootstrap anchors</a:t>
            </a:r>
          </a:p>
        </p:txBody>
      </p:sp>
      <p:sp>
        <p:nvSpPr>
          <p:cNvPr id="39" name="Rounded Rectangle 23">
            <a:extLst>
              <a:ext uri="{FF2B5EF4-FFF2-40B4-BE49-F238E27FC236}">
                <a16:creationId xmlns:a16="http://schemas.microsoft.com/office/drawing/2014/main" id="{DBAD6489-9640-51C8-8E64-C316DE12EFC5}"/>
              </a:ext>
            </a:extLst>
          </p:cNvPr>
          <p:cNvSpPr/>
          <p:nvPr/>
        </p:nvSpPr>
        <p:spPr>
          <a:xfrm>
            <a:off x="15132220" y="1781602"/>
            <a:ext cx="3181830" cy="34684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46CCF71-4F93-2F23-9893-C84142E94782}"/>
              </a:ext>
            </a:extLst>
          </p:cNvPr>
          <p:cNvSpPr/>
          <p:nvPr/>
        </p:nvSpPr>
        <p:spPr>
          <a:xfrm>
            <a:off x="13008500" y="2964087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52B8C16-3F27-0FE9-779A-71B695514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49" name="Rounded Rectangle 23">
            <a:extLst>
              <a:ext uri="{FF2B5EF4-FFF2-40B4-BE49-F238E27FC236}">
                <a16:creationId xmlns:a16="http://schemas.microsoft.com/office/drawing/2014/main" id="{15ABC0B3-C282-0D51-9192-23C68D389E58}"/>
              </a:ext>
            </a:extLst>
          </p:cNvPr>
          <p:cNvSpPr/>
          <p:nvPr/>
        </p:nvSpPr>
        <p:spPr>
          <a:xfrm>
            <a:off x="6232635" y="2054772"/>
            <a:ext cx="3181830" cy="34684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CE3F5B0-EA37-53F2-4EB7-AB50583D4EDF}"/>
              </a:ext>
            </a:extLst>
          </p:cNvPr>
          <p:cNvSpPr/>
          <p:nvPr/>
        </p:nvSpPr>
        <p:spPr>
          <a:xfrm>
            <a:off x="4108915" y="3237257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9CBA06-96AE-0C24-3A1D-0171F1AE8606}"/>
              </a:ext>
            </a:extLst>
          </p:cNvPr>
          <p:cNvSpPr txBox="1"/>
          <p:nvPr/>
        </p:nvSpPr>
        <p:spPr>
          <a:xfrm>
            <a:off x="6773333" y="2352566"/>
            <a:ext cx="208805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Calibri"/>
                <a:cs typeface="Calibri"/>
              </a:rPr>
              <a:t>Each node has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3FA244E-0D38-7576-AB29-F9081BBCC388}"/>
              </a:ext>
            </a:extLst>
          </p:cNvPr>
          <p:cNvSpPr txBox="1"/>
          <p:nvPr/>
        </p:nvSpPr>
        <p:spPr>
          <a:xfrm>
            <a:off x="6502879" y="3052972"/>
            <a:ext cx="262466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Identity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Lamport Clock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Message Factory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Neighbor Table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Deduplication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D446FDD-EFBA-F8FB-01C3-FAFD76486BAB}"/>
              </a:ext>
            </a:extLst>
          </p:cNvPr>
          <p:cNvSpPr txBox="1"/>
          <p:nvPr/>
        </p:nvSpPr>
        <p:spPr>
          <a:xfrm>
            <a:off x="4260193" y="3591620"/>
            <a:ext cx="7946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solidFill>
                  <a:schemeClr val="bg1"/>
                </a:solidFill>
                <a:ea typeface="Calibri"/>
                <a:cs typeface="Calibri"/>
              </a:rPr>
              <a:t>Node</a:t>
            </a:r>
          </a:p>
        </p:txBody>
      </p:sp>
      <p:sp>
        <p:nvSpPr>
          <p:cNvPr id="92" name="Rounded Rectangle 7">
            <a:extLst>
              <a:ext uri="{FF2B5EF4-FFF2-40B4-BE49-F238E27FC236}">
                <a16:creationId xmlns:a16="http://schemas.microsoft.com/office/drawing/2014/main" id="{6889FD09-7964-286F-9EE1-2DDDED15ACF2}"/>
              </a:ext>
            </a:extLst>
          </p:cNvPr>
          <p:cNvSpPr/>
          <p:nvPr/>
        </p:nvSpPr>
        <p:spPr>
          <a:xfrm>
            <a:off x="2819927" y="8072644"/>
            <a:ext cx="2186150" cy="632373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EE6FBD5-F7BF-6C7A-98F3-BF761D255462}"/>
              </a:ext>
            </a:extLst>
          </p:cNvPr>
          <p:cNvSpPr txBox="1"/>
          <p:nvPr/>
        </p:nvSpPr>
        <p:spPr>
          <a:xfrm>
            <a:off x="3032058" y="8249743"/>
            <a:ext cx="1998366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rPr sz="1600"/>
              <a:t>127.0.0.1:7001</a:t>
            </a:r>
            <a:endParaRPr lang="en-US" sz="16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EAF3A05-BAA2-2820-9BEF-459D34816450}"/>
              </a:ext>
            </a:extLst>
          </p:cNvPr>
          <p:cNvSpPr txBox="1"/>
          <p:nvPr/>
        </p:nvSpPr>
        <p:spPr>
          <a:xfrm>
            <a:off x="5169512" y="817967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30A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8" name="Rounded Rectangle 10">
            <a:extLst>
              <a:ext uri="{FF2B5EF4-FFF2-40B4-BE49-F238E27FC236}">
                <a16:creationId xmlns:a16="http://schemas.microsoft.com/office/drawing/2014/main" id="{5D9E7265-6CC0-8925-C186-3BE6F3C9DC51}"/>
              </a:ext>
            </a:extLst>
          </p:cNvPr>
          <p:cNvSpPr/>
          <p:nvPr/>
        </p:nvSpPr>
        <p:spPr>
          <a:xfrm>
            <a:off x="5712372" y="7921822"/>
            <a:ext cx="1281211" cy="769531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C5BD286-D61A-312B-AC05-A11121DC7884}"/>
              </a:ext>
            </a:extLst>
          </p:cNvPr>
          <p:cNvSpPr txBox="1"/>
          <p:nvPr/>
        </p:nvSpPr>
        <p:spPr>
          <a:xfrm>
            <a:off x="5854437" y="8135882"/>
            <a:ext cx="100584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SHA-1</a:t>
            </a:r>
            <a:endParaRPr lang="en-US">
              <a:cs typeface="Segoe UI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8967148-96D9-1A72-CB43-526C2B12FD9A}"/>
              </a:ext>
            </a:extLst>
          </p:cNvPr>
          <p:cNvSpPr txBox="1"/>
          <p:nvPr/>
        </p:nvSpPr>
        <p:spPr>
          <a:xfrm>
            <a:off x="7102540" y="817967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30A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C74CAFD-AABB-E24A-F05C-674D96CFBF12}"/>
              </a:ext>
            </a:extLst>
          </p:cNvPr>
          <p:cNvSpPr txBox="1"/>
          <p:nvPr/>
        </p:nvSpPr>
        <p:spPr>
          <a:xfrm>
            <a:off x="3861384" y="7300602"/>
            <a:ext cx="37323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Segoe UI"/>
                <a:ea typeface="Calibri"/>
                <a:cs typeface="Segoe UI"/>
              </a:rPr>
              <a:t>Identity Generation</a:t>
            </a:r>
            <a:endParaRPr lang="en-US" sz="2400" b="1">
              <a:latin typeface="Segoe UI"/>
              <a:cs typeface="Segoe UI"/>
            </a:endParaRPr>
          </a:p>
        </p:txBody>
      </p:sp>
      <p:sp>
        <p:nvSpPr>
          <p:cNvPr id="106" name="Rounded Rectangle 7">
            <a:extLst>
              <a:ext uri="{FF2B5EF4-FFF2-40B4-BE49-F238E27FC236}">
                <a16:creationId xmlns:a16="http://schemas.microsoft.com/office/drawing/2014/main" id="{9622BE69-7BAE-8256-7994-2373DCAA42BF}"/>
              </a:ext>
            </a:extLst>
          </p:cNvPr>
          <p:cNvSpPr/>
          <p:nvPr/>
        </p:nvSpPr>
        <p:spPr>
          <a:xfrm>
            <a:off x="7724755" y="7958782"/>
            <a:ext cx="2186150" cy="632373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280ED32-4381-2FA2-A92E-E5607B2D090F}"/>
              </a:ext>
            </a:extLst>
          </p:cNvPr>
          <p:cNvSpPr txBox="1"/>
          <p:nvPr/>
        </p:nvSpPr>
        <p:spPr>
          <a:xfrm>
            <a:off x="8101726" y="8136174"/>
            <a:ext cx="18165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8B5CF6"/>
                </a:solidFill>
                <a:latin typeface="Consolas"/>
              </a:rPr>
              <a:t>a3f2...8b1c</a:t>
            </a:r>
            <a:endParaRPr lang="en-US">
              <a:latin typeface="Consola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24CF5-E968-016E-4573-6DB00F519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9D27A2-1E28-E0DF-469C-EE1B98597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E93105-3A68-ADEF-1BF4-4D7C40869030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9ABBAF-922E-AA92-4C9E-F533E401AB5C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68898-3860-E3F2-F045-88BA89C2FEA3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BABE649-6107-756B-8F99-D81402B69A57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49" name="Rounded Rectangle 23">
            <a:extLst>
              <a:ext uri="{FF2B5EF4-FFF2-40B4-BE49-F238E27FC236}">
                <a16:creationId xmlns:a16="http://schemas.microsoft.com/office/drawing/2014/main" id="{6D9F1F18-BA40-517A-9D1B-8BA1135A84CF}"/>
              </a:ext>
            </a:extLst>
          </p:cNvPr>
          <p:cNvSpPr/>
          <p:nvPr/>
        </p:nvSpPr>
        <p:spPr>
          <a:xfrm>
            <a:off x="4454635" y="8238358"/>
            <a:ext cx="3181830" cy="34684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6601721-1F58-E662-B0FC-554A70B03635}"/>
              </a:ext>
            </a:extLst>
          </p:cNvPr>
          <p:cNvSpPr/>
          <p:nvPr/>
        </p:nvSpPr>
        <p:spPr>
          <a:xfrm>
            <a:off x="5597881" y="2659188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2E47DD-470A-3384-D8A1-96B9D99A03B8}"/>
              </a:ext>
            </a:extLst>
          </p:cNvPr>
          <p:cNvSpPr txBox="1"/>
          <p:nvPr/>
        </p:nvSpPr>
        <p:spPr>
          <a:xfrm>
            <a:off x="4995333" y="8536153"/>
            <a:ext cx="208805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Calibri"/>
                <a:cs typeface="Calibri"/>
              </a:rPr>
              <a:t>Each node has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5897D2-0617-384C-435A-DCC7A33C041E}"/>
              </a:ext>
            </a:extLst>
          </p:cNvPr>
          <p:cNvSpPr txBox="1"/>
          <p:nvPr/>
        </p:nvSpPr>
        <p:spPr>
          <a:xfrm>
            <a:off x="5749159" y="3013551"/>
            <a:ext cx="7946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solidFill>
                  <a:schemeClr val="bg1"/>
                </a:solidFill>
                <a:ea typeface="Calibri"/>
                <a:cs typeface="Calibri"/>
              </a:rPr>
              <a:t>Node</a:t>
            </a: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461492C9-C2C3-EF0E-D1EF-0C474102A4DB}"/>
              </a:ext>
            </a:extLst>
          </p:cNvPr>
          <p:cNvSpPr/>
          <p:nvPr/>
        </p:nvSpPr>
        <p:spPr>
          <a:xfrm>
            <a:off x="2635996" y="4823196"/>
            <a:ext cx="2186150" cy="632373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289577-2FE1-4A04-1830-0300F095AB1E}"/>
              </a:ext>
            </a:extLst>
          </p:cNvPr>
          <p:cNvSpPr txBox="1"/>
          <p:nvPr/>
        </p:nvSpPr>
        <p:spPr>
          <a:xfrm>
            <a:off x="2848127" y="5000295"/>
            <a:ext cx="1998366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rPr sz="1600"/>
              <a:t>127.0.0.1:7001</a:t>
            </a:r>
            <a:endParaRPr lang="en-US" sz="16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D2992C-DC35-F00A-20A2-A2AE87C54E62}"/>
              </a:ext>
            </a:extLst>
          </p:cNvPr>
          <p:cNvSpPr txBox="1"/>
          <p:nvPr/>
        </p:nvSpPr>
        <p:spPr>
          <a:xfrm>
            <a:off x="4985581" y="493022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30A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19B99CA8-F454-1716-E143-6ECAB3C1FEF6}"/>
              </a:ext>
            </a:extLst>
          </p:cNvPr>
          <p:cNvSpPr/>
          <p:nvPr/>
        </p:nvSpPr>
        <p:spPr>
          <a:xfrm>
            <a:off x="5528441" y="4672374"/>
            <a:ext cx="1281211" cy="769531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3E36B5-7FB0-B4E2-344E-6044832B39A8}"/>
              </a:ext>
            </a:extLst>
          </p:cNvPr>
          <p:cNvSpPr txBox="1"/>
          <p:nvPr/>
        </p:nvSpPr>
        <p:spPr>
          <a:xfrm>
            <a:off x="5670506" y="4886434"/>
            <a:ext cx="100584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SHA-1</a:t>
            </a:r>
            <a:endParaRPr lang="en-US">
              <a:cs typeface="Segoe U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50C6A2-CCE3-B4CB-0962-68ACA4BDA2C7}"/>
              </a:ext>
            </a:extLst>
          </p:cNvPr>
          <p:cNvSpPr txBox="1"/>
          <p:nvPr/>
        </p:nvSpPr>
        <p:spPr>
          <a:xfrm>
            <a:off x="6918609" y="493022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30A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87745E-5466-5079-62B7-C6ABC2CE3A0E}"/>
              </a:ext>
            </a:extLst>
          </p:cNvPr>
          <p:cNvSpPr txBox="1"/>
          <p:nvPr/>
        </p:nvSpPr>
        <p:spPr>
          <a:xfrm>
            <a:off x="3677453" y="4051154"/>
            <a:ext cx="37323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Segoe UI"/>
                <a:ea typeface="Calibri"/>
                <a:cs typeface="Segoe UI"/>
              </a:rPr>
              <a:t>Identity Generation</a:t>
            </a:r>
            <a:endParaRPr lang="en-US" sz="2400" b="1">
              <a:latin typeface="Segoe UI"/>
              <a:cs typeface="Segoe UI"/>
            </a:endParaRPr>
          </a:p>
        </p:txBody>
      </p:sp>
      <p:sp>
        <p:nvSpPr>
          <p:cNvPr id="25" name="Rounded Rectangle 7">
            <a:extLst>
              <a:ext uri="{FF2B5EF4-FFF2-40B4-BE49-F238E27FC236}">
                <a16:creationId xmlns:a16="http://schemas.microsoft.com/office/drawing/2014/main" id="{8CC4C087-1F95-B232-C9DA-FF30B7A1FE59}"/>
              </a:ext>
            </a:extLst>
          </p:cNvPr>
          <p:cNvSpPr/>
          <p:nvPr/>
        </p:nvSpPr>
        <p:spPr>
          <a:xfrm>
            <a:off x="7540824" y="4709334"/>
            <a:ext cx="2186150" cy="632373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D0CC27-3818-0BAA-86B3-9FFDE1C8A91B}"/>
              </a:ext>
            </a:extLst>
          </p:cNvPr>
          <p:cNvSpPr txBox="1"/>
          <p:nvPr/>
        </p:nvSpPr>
        <p:spPr>
          <a:xfrm>
            <a:off x="7917795" y="4886726"/>
            <a:ext cx="18165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8B5CF6"/>
                </a:solidFill>
                <a:latin typeface="Consolas"/>
              </a:rPr>
              <a:t>a3f2...8b1c</a:t>
            </a:r>
            <a:endParaRPr lang="en-US">
              <a:latin typeface="Consola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97ED3E9-7B94-0F0F-A36D-641BD6B702C9}"/>
              </a:ext>
            </a:extLst>
          </p:cNvPr>
          <p:cNvSpPr/>
          <p:nvPr/>
        </p:nvSpPr>
        <p:spPr>
          <a:xfrm>
            <a:off x="15477253" y="2615394"/>
            <a:ext cx="1274064" cy="1274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BA0EA68-5544-A9B6-7594-A28603D77B50}"/>
              </a:ext>
            </a:extLst>
          </p:cNvPr>
          <p:cNvSpPr/>
          <p:nvPr/>
        </p:nvSpPr>
        <p:spPr>
          <a:xfrm>
            <a:off x="18175259" y="2659188"/>
            <a:ext cx="1274064" cy="127406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431944D-1119-0F5F-31C7-ACDE03F861E2}"/>
              </a:ext>
            </a:extLst>
          </p:cNvPr>
          <p:cNvSpPr/>
          <p:nvPr/>
        </p:nvSpPr>
        <p:spPr>
          <a:xfrm>
            <a:off x="12525247" y="2615393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47" name="TextBox 12">
            <a:extLst>
              <a:ext uri="{FF2B5EF4-FFF2-40B4-BE49-F238E27FC236}">
                <a16:creationId xmlns:a16="http://schemas.microsoft.com/office/drawing/2014/main" id="{5D539368-E979-DFB7-2645-8BD865157E58}"/>
              </a:ext>
            </a:extLst>
          </p:cNvPr>
          <p:cNvSpPr txBox="1"/>
          <p:nvPr/>
        </p:nvSpPr>
        <p:spPr>
          <a:xfrm>
            <a:off x="2301048" y="7655513"/>
            <a:ext cx="1125642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ea typeface="Calibri"/>
                <a:cs typeface="Calibri"/>
              </a:rPr>
              <a:t>Alive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48" name="TextBox 14">
            <a:extLst>
              <a:ext uri="{FF2B5EF4-FFF2-40B4-BE49-F238E27FC236}">
                <a16:creationId xmlns:a16="http://schemas.microsoft.com/office/drawing/2014/main" id="{0B4C4F5E-1D4C-FB99-D543-BC091179E8BD}"/>
              </a:ext>
            </a:extLst>
          </p:cNvPr>
          <p:cNvSpPr txBox="1"/>
          <p:nvPr/>
        </p:nvSpPr>
        <p:spPr>
          <a:xfrm>
            <a:off x="5375323" y="7655513"/>
            <a:ext cx="158984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ea typeface="Calibri"/>
                <a:cs typeface="Calibri"/>
              </a:rPr>
              <a:t>Suspect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50" name="TextBox 15">
            <a:extLst>
              <a:ext uri="{FF2B5EF4-FFF2-40B4-BE49-F238E27FC236}">
                <a16:creationId xmlns:a16="http://schemas.microsoft.com/office/drawing/2014/main" id="{85687D51-AFEE-95FD-260D-CC2492456F0D}"/>
              </a:ext>
            </a:extLst>
          </p:cNvPr>
          <p:cNvSpPr txBox="1"/>
          <p:nvPr/>
        </p:nvSpPr>
        <p:spPr>
          <a:xfrm>
            <a:off x="8712357" y="7655513"/>
            <a:ext cx="1125642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ea typeface="Calibri"/>
                <a:cs typeface="Calibri"/>
              </a:rPr>
              <a:t>Dead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4BEEE6-C31A-8FF3-7DDD-EB9A0D5EB030}"/>
              </a:ext>
            </a:extLst>
          </p:cNvPr>
          <p:cNvSpPr txBox="1"/>
          <p:nvPr/>
        </p:nvSpPr>
        <p:spPr>
          <a:xfrm>
            <a:off x="4782426" y="9399003"/>
            <a:ext cx="262466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Identity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Lamport Clock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Message Factory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Neighbor Table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Deduplication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6CF1-DA80-FE13-AF05-BCF4EE54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041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94C5CF-D3BD-9F73-D88B-B2F4D3512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F052A4-65CF-1E91-99B0-22CC74B203D4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06E2B7-6799-5F90-F14B-FA4DF3483422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2FE5FB-0AE0-E57A-50D7-A90A175EA5EC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5B0B929-94F1-378D-9785-C5509B009A62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C7F96E6-AE8A-9668-C7C0-3963811E042A}"/>
              </a:ext>
            </a:extLst>
          </p:cNvPr>
          <p:cNvSpPr/>
          <p:nvPr/>
        </p:nvSpPr>
        <p:spPr>
          <a:xfrm>
            <a:off x="537305" y="4631423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ACB16D2-707E-A55C-1DFB-046B2D42BE78}"/>
              </a:ext>
            </a:extLst>
          </p:cNvPr>
          <p:cNvSpPr/>
          <p:nvPr/>
        </p:nvSpPr>
        <p:spPr>
          <a:xfrm>
            <a:off x="7565900" y="4116982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43132AA-EE91-F204-8FCC-4227327FF6A4}"/>
              </a:ext>
            </a:extLst>
          </p:cNvPr>
          <p:cNvSpPr/>
          <p:nvPr/>
        </p:nvSpPr>
        <p:spPr>
          <a:xfrm>
            <a:off x="5908173" y="1343525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7235644-563D-F0C5-F1DA-3B9837881FE9}"/>
              </a:ext>
            </a:extLst>
          </p:cNvPr>
          <p:cNvSpPr/>
          <p:nvPr/>
        </p:nvSpPr>
        <p:spPr>
          <a:xfrm>
            <a:off x="10233643" y="2576172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55BB83-8DB6-7C34-D4C7-35374A8A23B5}"/>
              </a:ext>
            </a:extLst>
          </p:cNvPr>
          <p:cNvSpPr/>
          <p:nvPr/>
        </p:nvSpPr>
        <p:spPr>
          <a:xfrm>
            <a:off x="11511113" y="606120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38F79CD-EB7F-D7FB-D8FA-A50DEBE52224}"/>
              </a:ext>
            </a:extLst>
          </p:cNvPr>
          <p:cNvSpPr/>
          <p:nvPr/>
        </p:nvSpPr>
        <p:spPr>
          <a:xfrm>
            <a:off x="4630702" y="463245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F36F202-3FEF-15CB-8FCB-4CC876D4B58D}"/>
              </a:ext>
            </a:extLst>
          </p:cNvPr>
          <p:cNvSpPr/>
          <p:nvPr/>
        </p:nvSpPr>
        <p:spPr>
          <a:xfrm>
            <a:off x="11555194" y="1343526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35C5199-5B76-3DDE-612E-4A43B4A2E17D}"/>
              </a:ext>
            </a:extLst>
          </p:cNvPr>
          <p:cNvCxnSpPr/>
          <p:nvPr/>
        </p:nvCxnSpPr>
        <p:spPr>
          <a:xfrm>
            <a:off x="7151595" y="18680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95D4438-6A73-09B0-E580-21AEE0AEC917}"/>
              </a:ext>
            </a:extLst>
          </p:cNvPr>
          <p:cNvCxnSpPr>
            <a:cxnSpLocks/>
          </p:cNvCxnSpPr>
          <p:nvPr/>
        </p:nvCxnSpPr>
        <p:spPr>
          <a:xfrm flipV="1">
            <a:off x="5465109" y="2507878"/>
            <a:ext cx="774325" cy="22008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3C3DC53-154B-5713-B760-42E5995A0203}"/>
              </a:ext>
            </a:extLst>
          </p:cNvPr>
          <p:cNvCxnSpPr>
            <a:cxnSpLocks/>
          </p:cNvCxnSpPr>
          <p:nvPr/>
        </p:nvCxnSpPr>
        <p:spPr>
          <a:xfrm>
            <a:off x="6905064" y="2506754"/>
            <a:ext cx="4970926" cy="36318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5ECE67D-1D98-D3FD-12D1-D5B50F40A964}"/>
              </a:ext>
            </a:extLst>
          </p:cNvPr>
          <p:cNvCxnSpPr>
            <a:cxnSpLocks/>
          </p:cNvCxnSpPr>
          <p:nvPr/>
        </p:nvCxnSpPr>
        <p:spPr>
          <a:xfrm>
            <a:off x="8518712" y="52970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EBFA13F-CF4F-951F-8B45-383464026E06}"/>
              </a:ext>
            </a:extLst>
          </p:cNvPr>
          <p:cNvCxnSpPr>
            <a:cxnSpLocks/>
          </p:cNvCxnSpPr>
          <p:nvPr/>
        </p:nvCxnSpPr>
        <p:spPr>
          <a:xfrm flipH="1">
            <a:off x="11265271" y="2321860"/>
            <a:ext cx="424705" cy="382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Rounded Rectangle 7">
            <a:extLst>
              <a:ext uri="{FF2B5EF4-FFF2-40B4-BE49-F238E27FC236}">
                <a16:creationId xmlns:a16="http://schemas.microsoft.com/office/drawing/2014/main" id="{64416654-7DDA-61BA-B5F3-3D1B60C5414B}"/>
              </a:ext>
            </a:extLst>
          </p:cNvPr>
          <p:cNvSpPr/>
          <p:nvPr/>
        </p:nvSpPr>
        <p:spPr>
          <a:xfrm>
            <a:off x="-7757460" y="4901637"/>
            <a:ext cx="2186150" cy="632373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2ABB8C-0C55-117F-97B3-3B4C6454D6FF}"/>
              </a:ext>
            </a:extLst>
          </p:cNvPr>
          <p:cNvSpPr txBox="1"/>
          <p:nvPr/>
        </p:nvSpPr>
        <p:spPr>
          <a:xfrm>
            <a:off x="-7545329" y="5078736"/>
            <a:ext cx="1998366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rPr sz="1600"/>
              <a:t>127.0.0.1:7001</a:t>
            </a:r>
            <a:endParaRPr lang="en-US" sz="16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5ED5DE4-0038-5771-8141-31AB97E60C72}"/>
              </a:ext>
            </a:extLst>
          </p:cNvPr>
          <p:cNvSpPr txBox="1"/>
          <p:nvPr/>
        </p:nvSpPr>
        <p:spPr>
          <a:xfrm>
            <a:off x="-5407875" y="50086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30A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46" name="Rounded Rectangle 10">
            <a:extLst>
              <a:ext uri="{FF2B5EF4-FFF2-40B4-BE49-F238E27FC236}">
                <a16:creationId xmlns:a16="http://schemas.microsoft.com/office/drawing/2014/main" id="{940DFE9E-5310-5C7F-24AE-925A68D833CA}"/>
              </a:ext>
            </a:extLst>
          </p:cNvPr>
          <p:cNvSpPr/>
          <p:nvPr/>
        </p:nvSpPr>
        <p:spPr>
          <a:xfrm>
            <a:off x="-4865015" y="4750815"/>
            <a:ext cx="1281211" cy="769531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1DD369-7F87-BD99-B634-FF4DDD8F8358}"/>
              </a:ext>
            </a:extLst>
          </p:cNvPr>
          <p:cNvSpPr txBox="1"/>
          <p:nvPr/>
        </p:nvSpPr>
        <p:spPr>
          <a:xfrm>
            <a:off x="-4722950" y="4964875"/>
            <a:ext cx="100584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SHA-1</a:t>
            </a:r>
            <a:endParaRPr lang="en-US">
              <a:cs typeface="Segoe UI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AC9CAE-3EFA-8E1D-379C-A800A55C1B17}"/>
              </a:ext>
            </a:extLst>
          </p:cNvPr>
          <p:cNvSpPr txBox="1"/>
          <p:nvPr/>
        </p:nvSpPr>
        <p:spPr>
          <a:xfrm>
            <a:off x="-3474847" y="50086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30A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59D4D10-889E-DF9D-716E-DE5F9F4C2275}"/>
              </a:ext>
            </a:extLst>
          </p:cNvPr>
          <p:cNvSpPr txBox="1"/>
          <p:nvPr/>
        </p:nvSpPr>
        <p:spPr>
          <a:xfrm>
            <a:off x="-6716003" y="4129595"/>
            <a:ext cx="37323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Segoe UI"/>
                <a:ea typeface="Calibri"/>
                <a:cs typeface="Segoe UI"/>
              </a:rPr>
              <a:t>Identity Generation</a:t>
            </a:r>
            <a:endParaRPr lang="en-US" sz="2400" b="1">
              <a:latin typeface="Segoe UI"/>
              <a:cs typeface="Segoe UI"/>
            </a:endParaRPr>
          </a:p>
        </p:txBody>
      </p:sp>
      <p:sp>
        <p:nvSpPr>
          <p:cNvPr id="56" name="Rounded Rectangle 7">
            <a:extLst>
              <a:ext uri="{FF2B5EF4-FFF2-40B4-BE49-F238E27FC236}">
                <a16:creationId xmlns:a16="http://schemas.microsoft.com/office/drawing/2014/main" id="{A94742FE-A7DE-BB07-EEAF-2E510939123B}"/>
              </a:ext>
            </a:extLst>
          </p:cNvPr>
          <p:cNvSpPr/>
          <p:nvPr/>
        </p:nvSpPr>
        <p:spPr>
          <a:xfrm>
            <a:off x="-2852632" y="4787775"/>
            <a:ext cx="2186150" cy="632373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6FB7AB-4EFF-D2B8-C019-DFCF9AFA4181}"/>
              </a:ext>
            </a:extLst>
          </p:cNvPr>
          <p:cNvSpPr txBox="1"/>
          <p:nvPr/>
        </p:nvSpPr>
        <p:spPr>
          <a:xfrm>
            <a:off x="-2475661" y="4965167"/>
            <a:ext cx="18165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8B5CF6"/>
                </a:solidFill>
                <a:latin typeface="Consolas"/>
              </a:rPr>
              <a:t>a3f2...8b1c</a:t>
            </a:r>
            <a:endParaRPr lang="en-US">
              <a:latin typeface="Consola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440AB4-A734-FF45-FEEE-2DB018C8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63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A955E8-673D-066E-736A-97007F13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EF158D-FD74-29F0-2B1D-C9A1F22B8714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F7AA75-F448-250C-0F15-8F7B806DA8C9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849D79-F339-14C2-BBE2-3BB4CB5C225C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09C471F-4B63-D22F-0B0B-B97DEA4FB981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BAEA62-D42B-32D7-5BCE-1EEDCB93E44D}"/>
              </a:ext>
            </a:extLst>
          </p:cNvPr>
          <p:cNvSpPr/>
          <p:nvPr/>
        </p:nvSpPr>
        <p:spPr>
          <a:xfrm>
            <a:off x="2591361" y="2611980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21" name="Rounded Rectangle 23">
            <a:extLst>
              <a:ext uri="{FF2B5EF4-FFF2-40B4-BE49-F238E27FC236}">
                <a16:creationId xmlns:a16="http://schemas.microsoft.com/office/drawing/2014/main" id="{BF02FC0B-413D-1AED-AE2F-4501B82565F4}"/>
              </a:ext>
            </a:extLst>
          </p:cNvPr>
          <p:cNvSpPr/>
          <p:nvPr/>
        </p:nvSpPr>
        <p:spPr>
          <a:xfrm>
            <a:off x="4579510" y="2392944"/>
            <a:ext cx="5471307" cy="31268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3" name="TextBox 51">
            <a:extLst>
              <a:ext uri="{FF2B5EF4-FFF2-40B4-BE49-F238E27FC236}">
                <a16:creationId xmlns:a16="http://schemas.microsoft.com/office/drawing/2014/main" id="{047FFFCE-3FCE-926C-21A3-2F3FFCBF8F8B}"/>
              </a:ext>
            </a:extLst>
          </p:cNvPr>
          <p:cNvSpPr txBox="1"/>
          <p:nvPr/>
        </p:nvSpPr>
        <p:spPr>
          <a:xfrm>
            <a:off x="5488069" y="2626983"/>
            <a:ext cx="2975058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>
                <a:ea typeface="Calibri"/>
                <a:cs typeface="Calibri"/>
              </a:rPr>
              <a:t>Regular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28" name="TextBox 52">
            <a:extLst>
              <a:ext uri="{FF2B5EF4-FFF2-40B4-BE49-F238E27FC236}">
                <a16:creationId xmlns:a16="http://schemas.microsoft.com/office/drawing/2014/main" id="{7CED9D9D-6DB7-1E9E-34A9-44B86420748D}"/>
              </a:ext>
            </a:extLst>
          </p:cNvPr>
          <p:cNvSpPr txBox="1"/>
          <p:nvPr/>
        </p:nvSpPr>
        <p:spPr>
          <a:xfrm>
            <a:off x="4957791" y="3393858"/>
            <a:ext cx="4697754" cy="163121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2000">
                <a:ea typeface="Calibri"/>
                <a:cs typeface="Calibri"/>
              </a:rPr>
              <a:t>Participates in gossip dissemination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Calibri"/>
                <a:cs typeface="Calibri"/>
              </a:rPr>
              <a:t>Maintains heartbeats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Calibri"/>
                <a:cs typeface="Calibri"/>
              </a:rPr>
              <a:t>Forwards messages probabilistically</a:t>
            </a:r>
          </a:p>
          <a:p>
            <a:pPr marL="285750" indent="-285750">
              <a:buFont typeface="Arial"/>
              <a:buChar char="•"/>
            </a:pP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solidFill>
                  <a:srgbClr val="00B050"/>
                </a:solidFill>
                <a:ea typeface="Calibri"/>
                <a:cs typeface="Calibri"/>
              </a:rPr>
              <a:t>Criteria:</a:t>
            </a:r>
            <a:r>
              <a:rPr lang="en-US" sz="2000">
                <a:ea typeface="Calibri"/>
                <a:cs typeface="Calibri"/>
              </a:rPr>
              <a:t> 4</a:t>
            </a:r>
            <a:r>
              <a:rPr lang="en-US" sz="2000" i="1">
                <a:ea typeface="Calibri"/>
                <a:cs typeface="Calibri"/>
              </a:rPr>
              <a:t>&gt;= Neighbor Count &gt;= 2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D4C839F-BDFD-BDB6-0E21-83BE5A57E18D}"/>
              </a:ext>
            </a:extLst>
          </p:cNvPr>
          <p:cNvSpPr/>
          <p:nvPr/>
        </p:nvSpPr>
        <p:spPr>
          <a:xfrm>
            <a:off x="19667968" y="3168154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58" name="Rounded Rectangle 23">
            <a:extLst>
              <a:ext uri="{FF2B5EF4-FFF2-40B4-BE49-F238E27FC236}">
                <a16:creationId xmlns:a16="http://schemas.microsoft.com/office/drawing/2014/main" id="{BD5E5CC4-CA32-4F60-ABBB-B5233C5BBAEF}"/>
              </a:ext>
            </a:extLst>
          </p:cNvPr>
          <p:cNvSpPr/>
          <p:nvPr/>
        </p:nvSpPr>
        <p:spPr>
          <a:xfrm>
            <a:off x="13320099" y="2348120"/>
            <a:ext cx="5471307" cy="31268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0" name="TextBox 51">
            <a:extLst>
              <a:ext uri="{FF2B5EF4-FFF2-40B4-BE49-F238E27FC236}">
                <a16:creationId xmlns:a16="http://schemas.microsoft.com/office/drawing/2014/main" id="{02796A24-BB63-06ED-BF87-FF2CE4C45424}"/>
              </a:ext>
            </a:extLst>
          </p:cNvPr>
          <p:cNvSpPr txBox="1"/>
          <p:nvPr/>
        </p:nvSpPr>
        <p:spPr>
          <a:xfrm>
            <a:off x="14475187" y="2526130"/>
            <a:ext cx="2975058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>
                <a:ea typeface="Calibri"/>
                <a:cs typeface="Calibri"/>
              </a:rPr>
              <a:t>Seed</a:t>
            </a:r>
            <a:endParaRPr lang="en-US"/>
          </a:p>
        </p:txBody>
      </p:sp>
      <p:sp>
        <p:nvSpPr>
          <p:cNvPr id="62" name="TextBox 52">
            <a:extLst>
              <a:ext uri="{FF2B5EF4-FFF2-40B4-BE49-F238E27FC236}">
                <a16:creationId xmlns:a16="http://schemas.microsoft.com/office/drawing/2014/main" id="{6F3F7FD4-3303-4AE7-A87C-D221D6B5A09F}"/>
              </a:ext>
            </a:extLst>
          </p:cNvPr>
          <p:cNvSpPr txBox="1"/>
          <p:nvPr/>
        </p:nvSpPr>
        <p:spPr>
          <a:xfrm>
            <a:off x="13709586" y="3074490"/>
            <a:ext cx="4697754" cy="267765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,Sans-Serif"/>
              <a:buChar char="•"/>
            </a:pPr>
            <a:r>
              <a:rPr lang="en-US" sz="2000">
                <a:ea typeface="Calibri"/>
                <a:cs typeface="Calibri"/>
              </a:rPr>
              <a:t>Higher neighbor limit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ea typeface="Calibri"/>
                <a:cs typeface="Calibri"/>
              </a:rPr>
              <a:t>Bootstrap anchor for new nodes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ea typeface="Calibri"/>
                <a:cs typeface="Calibri"/>
              </a:rPr>
              <a:t>More permissive unaccepting connections</a:t>
            </a:r>
          </a:p>
          <a:p>
            <a:pPr marL="285750" indent="-285750">
              <a:buFont typeface="Arial,Sans-Serif"/>
              <a:buChar char="•"/>
            </a:pP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b="1">
                <a:solidFill>
                  <a:schemeClr val="tx2">
                    <a:lumMod val="60000"/>
                    <a:lumOff val="40000"/>
                  </a:schemeClr>
                </a:solidFill>
                <a:ea typeface="Calibri"/>
                <a:cs typeface="Calibri"/>
              </a:rPr>
              <a:t>Criteria:</a:t>
            </a:r>
            <a:r>
              <a:rPr lang="en-US" sz="2000">
                <a:ea typeface="Calibri"/>
                <a:cs typeface="Calibri"/>
              </a:rPr>
              <a:t> address in </a:t>
            </a:r>
            <a:r>
              <a:rPr lang="en-US" sz="2000" err="1">
                <a:ea typeface="Calibri"/>
                <a:cs typeface="Calibri"/>
              </a:rPr>
              <a:t>discovery.seed_nodes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800"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BB98F-75C4-D7C9-74A7-45B1CE838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51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7719B8-D248-744F-4A71-ABBBC4968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303905-CE1F-F9AE-2991-B7B98C8C0AF0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F353C3-7077-91D6-A8AC-E637F33FD018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3F939E-1644-F681-77F9-B858416A0E3E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B0A5BCB-00FC-F24D-BB01-BACE5377CC46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A4701E6-FA54-C33D-4591-C327C0B94C05}"/>
              </a:ext>
            </a:extLst>
          </p:cNvPr>
          <p:cNvSpPr/>
          <p:nvPr/>
        </p:nvSpPr>
        <p:spPr>
          <a:xfrm>
            <a:off x="-1922386" y="4911570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973FE9-E477-E7A9-B614-5F54516F6D6F}"/>
              </a:ext>
            </a:extLst>
          </p:cNvPr>
          <p:cNvSpPr txBox="1"/>
          <p:nvPr/>
        </p:nvSpPr>
        <p:spPr>
          <a:xfrm>
            <a:off x="13492424" y="2890286"/>
            <a:ext cx="7946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solidFill>
                  <a:schemeClr val="bg1"/>
                </a:solidFill>
                <a:ea typeface="Calibri"/>
                <a:cs typeface="Calibri"/>
              </a:rPr>
              <a:t>Node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B8E8E81-337A-F45B-B990-6B458E558F3C}"/>
              </a:ext>
            </a:extLst>
          </p:cNvPr>
          <p:cNvSpPr/>
          <p:nvPr/>
        </p:nvSpPr>
        <p:spPr>
          <a:xfrm>
            <a:off x="15309165" y="3993717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C3A59CE-FD8F-1E61-6360-42692884D182}"/>
              </a:ext>
            </a:extLst>
          </p:cNvPr>
          <p:cNvSpPr/>
          <p:nvPr/>
        </p:nvSpPr>
        <p:spPr>
          <a:xfrm>
            <a:off x="13651438" y="1220260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DDC5C31-FE6B-2A73-3819-1F07A850D26B}"/>
              </a:ext>
            </a:extLst>
          </p:cNvPr>
          <p:cNvSpPr/>
          <p:nvPr/>
        </p:nvSpPr>
        <p:spPr>
          <a:xfrm>
            <a:off x="17976908" y="2452907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7C42C12-41CD-D42F-533A-97D86EE19F25}"/>
              </a:ext>
            </a:extLst>
          </p:cNvPr>
          <p:cNvSpPr/>
          <p:nvPr/>
        </p:nvSpPr>
        <p:spPr>
          <a:xfrm>
            <a:off x="19254378" y="5937936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E2D9ECB-0DED-64F6-4F87-FAE6268E6B81}"/>
              </a:ext>
            </a:extLst>
          </p:cNvPr>
          <p:cNvSpPr/>
          <p:nvPr/>
        </p:nvSpPr>
        <p:spPr>
          <a:xfrm>
            <a:off x="12373967" y="4509186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C33BC94-FCE7-A472-232B-544D375116E7}"/>
              </a:ext>
            </a:extLst>
          </p:cNvPr>
          <p:cNvSpPr/>
          <p:nvPr/>
        </p:nvSpPr>
        <p:spPr>
          <a:xfrm>
            <a:off x="19298459" y="1220261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5BAEDE1-30B3-C892-3B5E-81BCB98EBF18}"/>
              </a:ext>
            </a:extLst>
          </p:cNvPr>
          <p:cNvCxnSpPr/>
          <p:nvPr/>
        </p:nvCxnSpPr>
        <p:spPr>
          <a:xfrm>
            <a:off x="14894860" y="1744756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BEC497F-1003-0775-4204-312A961C043F}"/>
              </a:ext>
            </a:extLst>
          </p:cNvPr>
          <p:cNvCxnSpPr>
            <a:cxnSpLocks/>
          </p:cNvCxnSpPr>
          <p:nvPr/>
        </p:nvCxnSpPr>
        <p:spPr>
          <a:xfrm flipV="1">
            <a:off x="13208374" y="2384613"/>
            <a:ext cx="774325" cy="22008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A0A708B-0BCA-361A-B611-8CBB6A21E2DC}"/>
              </a:ext>
            </a:extLst>
          </p:cNvPr>
          <p:cNvCxnSpPr>
            <a:cxnSpLocks/>
          </p:cNvCxnSpPr>
          <p:nvPr/>
        </p:nvCxnSpPr>
        <p:spPr>
          <a:xfrm>
            <a:off x="14648329" y="2383489"/>
            <a:ext cx="4970926" cy="36318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6C215D2-6AF1-4417-7733-BB97C8485CA7}"/>
              </a:ext>
            </a:extLst>
          </p:cNvPr>
          <p:cNvCxnSpPr>
            <a:cxnSpLocks/>
          </p:cNvCxnSpPr>
          <p:nvPr/>
        </p:nvCxnSpPr>
        <p:spPr>
          <a:xfrm>
            <a:off x="16261977" y="5173756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878AD22-A705-7DDB-4E9B-AA43CA470850}"/>
              </a:ext>
            </a:extLst>
          </p:cNvPr>
          <p:cNvCxnSpPr>
            <a:cxnSpLocks/>
          </p:cNvCxnSpPr>
          <p:nvPr/>
        </p:nvCxnSpPr>
        <p:spPr>
          <a:xfrm flipH="1">
            <a:off x="19008536" y="2198595"/>
            <a:ext cx="424705" cy="382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FDF98355-7414-CF13-3148-877D6906BB37}"/>
              </a:ext>
            </a:extLst>
          </p:cNvPr>
          <p:cNvSpPr/>
          <p:nvPr/>
        </p:nvSpPr>
        <p:spPr>
          <a:xfrm>
            <a:off x="8781453" y="2792757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0" name="Rounded Rectangle 23">
            <a:extLst>
              <a:ext uri="{FF2B5EF4-FFF2-40B4-BE49-F238E27FC236}">
                <a16:creationId xmlns:a16="http://schemas.microsoft.com/office/drawing/2014/main" id="{9D638372-785C-8757-BA5E-2C244235E06D}"/>
              </a:ext>
            </a:extLst>
          </p:cNvPr>
          <p:cNvSpPr/>
          <p:nvPr/>
        </p:nvSpPr>
        <p:spPr>
          <a:xfrm>
            <a:off x="2433584" y="1972723"/>
            <a:ext cx="5471307" cy="31268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51">
            <a:extLst>
              <a:ext uri="{FF2B5EF4-FFF2-40B4-BE49-F238E27FC236}">
                <a16:creationId xmlns:a16="http://schemas.microsoft.com/office/drawing/2014/main" id="{170F0289-5BB1-9831-D2CB-E59BEB4E48D1}"/>
              </a:ext>
            </a:extLst>
          </p:cNvPr>
          <p:cNvSpPr txBox="1"/>
          <p:nvPr/>
        </p:nvSpPr>
        <p:spPr>
          <a:xfrm>
            <a:off x="3588672" y="2150733"/>
            <a:ext cx="2975058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>
                <a:ea typeface="Calibri"/>
                <a:cs typeface="Calibri"/>
              </a:rPr>
              <a:t>Seed</a:t>
            </a:r>
            <a:endParaRPr lang="en-US"/>
          </a:p>
        </p:txBody>
      </p:sp>
      <p:sp>
        <p:nvSpPr>
          <p:cNvPr id="21" name="TextBox 52">
            <a:extLst>
              <a:ext uri="{FF2B5EF4-FFF2-40B4-BE49-F238E27FC236}">
                <a16:creationId xmlns:a16="http://schemas.microsoft.com/office/drawing/2014/main" id="{F77BF2F3-55A0-9CCE-EF4E-68AFDB3BB66C}"/>
              </a:ext>
            </a:extLst>
          </p:cNvPr>
          <p:cNvSpPr txBox="1"/>
          <p:nvPr/>
        </p:nvSpPr>
        <p:spPr>
          <a:xfrm>
            <a:off x="2823071" y="2699093"/>
            <a:ext cx="4697754" cy="267765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,Sans-Serif"/>
              <a:buChar char="•"/>
            </a:pPr>
            <a:r>
              <a:rPr lang="en-US" sz="2000">
                <a:ea typeface="Calibri"/>
                <a:cs typeface="Calibri"/>
              </a:rPr>
              <a:t>Higher neighbor limit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ea typeface="Calibri"/>
                <a:cs typeface="Calibri"/>
              </a:rPr>
              <a:t>Bootstrap anchor for new nodes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ea typeface="Calibri"/>
                <a:cs typeface="Calibri"/>
              </a:rPr>
              <a:t>More permissive unaccepting connections</a:t>
            </a:r>
          </a:p>
          <a:p>
            <a:pPr marL="285750" indent="-285750">
              <a:buFont typeface="Arial,Sans-Serif"/>
              <a:buChar char="•"/>
            </a:pP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b="1">
                <a:solidFill>
                  <a:schemeClr val="tx2">
                    <a:lumMod val="60000"/>
                    <a:lumOff val="40000"/>
                  </a:schemeClr>
                </a:solidFill>
                <a:ea typeface="Calibri"/>
                <a:cs typeface="Calibri"/>
              </a:rPr>
              <a:t>Criteria:</a:t>
            </a:r>
            <a:r>
              <a:rPr lang="en-US" sz="2000">
                <a:ea typeface="Calibri"/>
                <a:cs typeface="Calibri"/>
              </a:rPr>
              <a:t> address in </a:t>
            </a:r>
            <a:r>
              <a:rPr lang="en-US" sz="2000" err="1">
                <a:ea typeface="Calibri"/>
                <a:cs typeface="Calibri"/>
              </a:rPr>
              <a:t>discovery.seed_nodes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800">
              <a:ea typeface="Calibri"/>
              <a:cs typeface="Calibri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5283A9F-7EE4-22A5-CCE4-96C14E65DD87}"/>
              </a:ext>
            </a:extLst>
          </p:cNvPr>
          <p:cNvSpPr/>
          <p:nvPr/>
        </p:nvSpPr>
        <p:spPr>
          <a:xfrm>
            <a:off x="-8143874" y="2236583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27" name="Rounded Rectangle 23">
            <a:extLst>
              <a:ext uri="{FF2B5EF4-FFF2-40B4-BE49-F238E27FC236}">
                <a16:creationId xmlns:a16="http://schemas.microsoft.com/office/drawing/2014/main" id="{3F47C128-8936-0A54-2678-16E60194315A}"/>
              </a:ext>
            </a:extLst>
          </p:cNvPr>
          <p:cNvSpPr/>
          <p:nvPr/>
        </p:nvSpPr>
        <p:spPr>
          <a:xfrm>
            <a:off x="-6155725" y="2017547"/>
            <a:ext cx="5471307" cy="31268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0" name="TextBox 51">
            <a:extLst>
              <a:ext uri="{FF2B5EF4-FFF2-40B4-BE49-F238E27FC236}">
                <a16:creationId xmlns:a16="http://schemas.microsoft.com/office/drawing/2014/main" id="{0BDBD018-CAB3-75A4-31E0-44D9A4D1EAEE}"/>
              </a:ext>
            </a:extLst>
          </p:cNvPr>
          <p:cNvSpPr txBox="1"/>
          <p:nvPr/>
        </p:nvSpPr>
        <p:spPr>
          <a:xfrm>
            <a:off x="-5247166" y="2251586"/>
            <a:ext cx="2975058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>
                <a:ea typeface="Calibri"/>
                <a:cs typeface="Calibri"/>
              </a:rPr>
              <a:t>Regular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32" name="TextBox 52">
            <a:extLst>
              <a:ext uri="{FF2B5EF4-FFF2-40B4-BE49-F238E27FC236}">
                <a16:creationId xmlns:a16="http://schemas.microsoft.com/office/drawing/2014/main" id="{E4E75F8C-80CD-04CA-3377-91349E09B53C}"/>
              </a:ext>
            </a:extLst>
          </p:cNvPr>
          <p:cNvSpPr txBox="1"/>
          <p:nvPr/>
        </p:nvSpPr>
        <p:spPr>
          <a:xfrm>
            <a:off x="-5777444" y="3018461"/>
            <a:ext cx="4697754" cy="163121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2000">
                <a:ea typeface="Calibri"/>
                <a:cs typeface="Calibri"/>
              </a:rPr>
              <a:t>Participates in gossip dissemination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Calibri"/>
                <a:cs typeface="Calibri"/>
              </a:rPr>
              <a:t>Maintains heartbeats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Calibri"/>
                <a:cs typeface="Calibri"/>
              </a:rPr>
              <a:t>Forwards messages probabilistically</a:t>
            </a:r>
          </a:p>
          <a:p>
            <a:pPr marL="285750" indent="-285750">
              <a:buFont typeface="Arial"/>
              <a:buChar char="•"/>
            </a:pP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solidFill>
                  <a:srgbClr val="00B050"/>
                </a:solidFill>
                <a:ea typeface="Calibri"/>
                <a:cs typeface="Calibri"/>
              </a:rPr>
              <a:t>Criteria:</a:t>
            </a:r>
            <a:r>
              <a:rPr lang="en-US" sz="2000">
                <a:ea typeface="Calibri"/>
                <a:cs typeface="Calibri"/>
              </a:rPr>
              <a:t> </a:t>
            </a:r>
            <a:r>
              <a:rPr lang="en-US" sz="2000" i="1">
                <a:ea typeface="Calibri"/>
                <a:cs typeface="Calibri"/>
              </a:rPr>
              <a:t>6&gt;= Neighbor Count &gt;=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EB033-3861-F1C9-8A00-80100E01F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023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06B2F4-F56D-A19E-38FC-666758516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DBCE73-69C4-FC55-27FE-6CCA59CA348A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311BE3-A5DA-6D92-B098-652AC746076B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8CB95D-23E9-8E4F-1F9F-F8A3CB84D3A1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AFC993A-5EAC-2E91-D83E-5ACAA2476A31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F8623FF-DA7C-EE60-0458-C24B20F4E174}"/>
              </a:ext>
            </a:extLst>
          </p:cNvPr>
          <p:cNvSpPr/>
          <p:nvPr/>
        </p:nvSpPr>
        <p:spPr>
          <a:xfrm>
            <a:off x="537305" y="4631423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F504EA8-C57D-701A-A504-45C77C8EB1A0}"/>
              </a:ext>
            </a:extLst>
          </p:cNvPr>
          <p:cNvSpPr/>
          <p:nvPr/>
        </p:nvSpPr>
        <p:spPr>
          <a:xfrm>
            <a:off x="7565900" y="4116982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E3CAC9B-1C4C-2F47-F8CF-BE83DAB6FE3D}"/>
              </a:ext>
            </a:extLst>
          </p:cNvPr>
          <p:cNvSpPr/>
          <p:nvPr/>
        </p:nvSpPr>
        <p:spPr>
          <a:xfrm>
            <a:off x="5908173" y="1343525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D4A63D-FD25-EC01-F723-1ACFCC7407F9}"/>
              </a:ext>
            </a:extLst>
          </p:cNvPr>
          <p:cNvSpPr/>
          <p:nvPr/>
        </p:nvSpPr>
        <p:spPr>
          <a:xfrm>
            <a:off x="10233643" y="2576172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6DAAA06-87C3-FC79-9864-5A166BF8AF4F}"/>
              </a:ext>
            </a:extLst>
          </p:cNvPr>
          <p:cNvSpPr/>
          <p:nvPr/>
        </p:nvSpPr>
        <p:spPr>
          <a:xfrm>
            <a:off x="11511113" y="606120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CF146F9-A63F-EE7E-3957-EBCE75AE9A98}"/>
              </a:ext>
            </a:extLst>
          </p:cNvPr>
          <p:cNvSpPr/>
          <p:nvPr/>
        </p:nvSpPr>
        <p:spPr>
          <a:xfrm>
            <a:off x="4630702" y="463245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651C419-20F6-4014-E587-F2A7F4724481}"/>
              </a:ext>
            </a:extLst>
          </p:cNvPr>
          <p:cNvSpPr/>
          <p:nvPr/>
        </p:nvSpPr>
        <p:spPr>
          <a:xfrm>
            <a:off x="11555194" y="1343526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F7C66F-BFCE-4342-B6D9-3C8F0827A4C1}"/>
              </a:ext>
            </a:extLst>
          </p:cNvPr>
          <p:cNvCxnSpPr/>
          <p:nvPr/>
        </p:nvCxnSpPr>
        <p:spPr>
          <a:xfrm>
            <a:off x="7151595" y="18680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4F86956-AE61-CE3E-5221-FECD8D6D67FC}"/>
              </a:ext>
            </a:extLst>
          </p:cNvPr>
          <p:cNvCxnSpPr>
            <a:cxnSpLocks/>
          </p:cNvCxnSpPr>
          <p:nvPr/>
        </p:nvCxnSpPr>
        <p:spPr>
          <a:xfrm flipV="1">
            <a:off x="5465109" y="2507878"/>
            <a:ext cx="774325" cy="22008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C6F9E43-51BB-C71F-D50C-69006F5B0A96}"/>
              </a:ext>
            </a:extLst>
          </p:cNvPr>
          <p:cNvCxnSpPr>
            <a:cxnSpLocks/>
          </p:cNvCxnSpPr>
          <p:nvPr/>
        </p:nvCxnSpPr>
        <p:spPr>
          <a:xfrm>
            <a:off x="6905064" y="2506754"/>
            <a:ext cx="4970926" cy="36318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54C287A-5FEB-633F-3FF1-59C842DA8FA9}"/>
              </a:ext>
            </a:extLst>
          </p:cNvPr>
          <p:cNvCxnSpPr>
            <a:cxnSpLocks/>
          </p:cNvCxnSpPr>
          <p:nvPr/>
        </p:nvCxnSpPr>
        <p:spPr>
          <a:xfrm>
            <a:off x="8518712" y="52970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895FA8-8FA4-9FF2-1668-EAD419C3E033}"/>
              </a:ext>
            </a:extLst>
          </p:cNvPr>
          <p:cNvCxnSpPr>
            <a:cxnSpLocks/>
          </p:cNvCxnSpPr>
          <p:nvPr/>
        </p:nvCxnSpPr>
        <p:spPr>
          <a:xfrm flipH="1">
            <a:off x="11265271" y="2321860"/>
            <a:ext cx="424705" cy="382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F9936CD6-C966-B332-0DF5-EAA3056EE826}"/>
              </a:ext>
            </a:extLst>
          </p:cNvPr>
          <p:cNvSpPr/>
          <p:nvPr/>
        </p:nvSpPr>
        <p:spPr>
          <a:xfrm>
            <a:off x="-3007135" y="2826375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0" name="Rounded Rectangle 23">
            <a:extLst>
              <a:ext uri="{FF2B5EF4-FFF2-40B4-BE49-F238E27FC236}">
                <a16:creationId xmlns:a16="http://schemas.microsoft.com/office/drawing/2014/main" id="{92968A12-120C-9A91-236F-BC99B53DC431}"/>
              </a:ext>
            </a:extLst>
          </p:cNvPr>
          <p:cNvSpPr/>
          <p:nvPr/>
        </p:nvSpPr>
        <p:spPr>
          <a:xfrm>
            <a:off x="-9355004" y="2006341"/>
            <a:ext cx="5471307" cy="31268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TextBox 51">
            <a:extLst>
              <a:ext uri="{FF2B5EF4-FFF2-40B4-BE49-F238E27FC236}">
                <a16:creationId xmlns:a16="http://schemas.microsoft.com/office/drawing/2014/main" id="{C297615B-8661-ED98-1CE9-771EFC35E28C}"/>
              </a:ext>
            </a:extLst>
          </p:cNvPr>
          <p:cNvSpPr txBox="1"/>
          <p:nvPr/>
        </p:nvSpPr>
        <p:spPr>
          <a:xfrm>
            <a:off x="-8199916" y="2184351"/>
            <a:ext cx="2975058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>
                <a:ea typeface="Calibri"/>
                <a:cs typeface="Calibri"/>
              </a:rPr>
              <a:t>Seed</a:t>
            </a:r>
            <a:endParaRPr lang="en-US"/>
          </a:p>
        </p:txBody>
      </p:sp>
      <p:sp>
        <p:nvSpPr>
          <p:cNvPr id="12" name="TextBox 52">
            <a:extLst>
              <a:ext uri="{FF2B5EF4-FFF2-40B4-BE49-F238E27FC236}">
                <a16:creationId xmlns:a16="http://schemas.microsoft.com/office/drawing/2014/main" id="{D19EBE63-C07E-176F-80D3-13F631E6007F}"/>
              </a:ext>
            </a:extLst>
          </p:cNvPr>
          <p:cNvSpPr txBox="1"/>
          <p:nvPr/>
        </p:nvSpPr>
        <p:spPr>
          <a:xfrm>
            <a:off x="-8965517" y="2732711"/>
            <a:ext cx="4697754" cy="267765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,Sans-Serif"/>
              <a:buChar char="•"/>
            </a:pPr>
            <a:r>
              <a:rPr lang="en-US" sz="2000">
                <a:ea typeface="Calibri"/>
                <a:cs typeface="Calibri"/>
              </a:rPr>
              <a:t>Higher neighbor limit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ea typeface="Calibri"/>
                <a:cs typeface="Calibri"/>
              </a:rPr>
              <a:t>Bootstrap anchor for new nodes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ea typeface="Calibri"/>
                <a:cs typeface="Calibri"/>
              </a:rPr>
              <a:t>More permissive unaccepting connections</a:t>
            </a:r>
          </a:p>
          <a:p>
            <a:pPr marL="285750" indent="-285750">
              <a:buFont typeface="Arial,Sans-Serif"/>
              <a:buChar char="•"/>
            </a:pP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b="1">
                <a:solidFill>
                  <a:schemeClr val="tx2">
                    <a:lumMod val="60000"/>
                    <a:lumOff val="40000"/>
                  </a:schemeClr>
                </a:solidFill>
                <a:ea typeface="Calibri"/>
                <a:cs typeface="Calibri"/>
              </a:rPr>
              <a:t>Criteria:</a:t>
            </a:r>
            <a:r>
              <a:rPr lang="en-US" sz="2000">
                <a:ea typeface="Calibri"/>
                <a:cs typeface="Calibri"/>
              </a:rPr>
              <a:t> address in </a:t>
            </a:r>
            <a:r>
              <a:rPr lang="en-US" sz="2000" err="1">
                <a:ea typeface="Calibri"/>
                <a:cs typeface="Calibri"/>
              </a:rPr>
              <a:t>discovery.seed_nodes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800">
              <a:ea typeface="Calibri"/>
              <a:cs typeface="Calibri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74FB400-3341-DEA2-1C4D-B824A307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57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C48895-CE84-84A5-C408-7AB66F15C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EE64D8-F97A-DE6C-33B5-138EAE70F53D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0C33EB-64F9-5B03-DDC6-B36D83C98969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EB5315-6720-168B-6308-2E577D8182B4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Overlay Topology</a:t>
            </a:r>
            <a:r>
              <a:rPr lang="en-US"/>
              <a:t> Properties</a:t>
            </a:r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FA8740D-CE5A-7876-6F2F-B6668008D994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31D18D-919A-6C3C-42C9-C90D4A79215F}"/>
              </a:ext>
            </a:extLst>
          </p:cNvPr>
          <p:cNvSpPr txBox="1"/>
          <p:nvPr/>
        </p:nvSpPr>
        <p:spPr>
          <a:xfrm>
            <a:off x="2918372" y="3429876"/>
            <a:ext cx="672019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Segoe UI"/>
                <a:ea typeface="Calibri"/>
                <a:cs typeface="Segoe UI"/>
              </a:rPr>
              <a:t>How Nodes Join this Overlay ?</a:t>
            </a:r>
            <a:endParaRPr lang="en-US" sz="3200" b="1">
              <a:latin typeface="Segoe UI"/>
              <a:cs typeface="Segoe U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8FD6D-2944-43C9-D481-81C2D298D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2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15DDD1-F092-9411-18BE-46B526811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AEC0DA-48AA-DCFA-DAB4-8E5DC2C98A63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8AA45B-F11F-935D-0FF4-C5AB24B38518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3B1E8-C82D-D35C-9609-B0D65DED4F53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901DBAA-CB7B-DA9F-3BF9-6BE0F568F1A6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CE53D30-869B-BB26-A93A-9F905585B81A}"/>
              </a:ext>
            </a:extLst>
          </p:cNvPr>
          <p:cNvSpPr/>
          <p:nvPr/>
        </p:nvSpPr>
        <p:spPr>
          <a:xfrm>
            <a:off x="537305" y="4631423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07D25C8-4756-82A3-5637-1BC044B45E1E}"/>
              </a:ext>
            </a:extLst>
          </p:cNvPr>
          <p:cNvSpPr/>
          <p:nvPr/>
        </p:nvSpPr>
        <p:spPr>
          <a:xfrm>
            <a:off x="7565900" y="4116982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109A574-AB25-6A59-5110-1C892633CED2}"/>
              </a:ext>
            </a:extLst>
          </p:cNvPr>
          <p:cNvSpPr/>
          <p:nvPr/>
        </p:nvSpPr>
        <p:spPr>
          <a:xfrm>
            <a:off x="5908173" y="1343525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B39F9CB-FDE6-9C22-E23D-D51318656FD4}"/>
              </a:ext>
            </a:extLst>
          </p:cNvPr>
          <p:cNvSpPr/>
          <p:nvPr/>
        </p:nvSpPr>
        <p:spPr>
          <a:xfrm>
            <a:off x="10233643" y="2576172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FA68C2-57C8-3158-1DCC-2CAF620BA8B4}"/>
              </a:ext>
            </a:extLst>
          </p:cNvPr>
          <p:cNvSpPr/>
          <p:nvPr/>
        </p:nvSpPr>
        <p:spPr>
          <a:xfrm>
            <a:off x="11511113" y="606120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211DF6A-85D6-0380-049E-2A98129FE927}"/>
              </a:ext>
            </a:extLst>
          </p:cNvPr>
          <p:cNvSpPr/>
          <p:nvPr/>
        </p:nvSpPr>
        <p:spPr>
          <a:xfrm>
            <a:off x="4630702" y="463245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906D588-0BA3-29B7-065B-CFF763CA37C7}"/>
              </a:ext>
            </a:extLst>
          </p:cNvPr>
          <p:cNvSpPr/>
          <p:nvPr/>
        </p:nvSpPr>
        <p:spPr>
          <a:xfrm>
            <a:off x="11555194" y="1343526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1CFB5A-6156-E57D-C7B7-955F91D3DF72}"/>
              </a:ext>
            </a:extLst>
          </p:cNvPr>
          <p:cNvCxnSpPr/>
          <p:nvPr/>
        </p:nvCxnSpPr>
        <p:spPr>
          <a:xfrm>
            <a:off x="7151595" y="18680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0B02D71-4528-361C-79AB-E635F4C6211A}"/>
              </a:ext>
            </a:extLst>
          </p:cNvPr>
          <p:cNvCxnSpPr>
            <a:cxnSpLocks/>
          </p:cNvCxnSpPr>
          <p:nvPr/>
        </p:nvCxnSpPr>
        <p:spPr>
          <a:xfrm flipV="1">
            <a:off x="5465109" y="2507878"/>
            <a:ext cx="774325" cy="22008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BFCC4F6-B519-DE3C-D245-7E8F3CD16370}"/>
              </a:ext>
            </a:extLst>
          </p:cNvPr>
          <p:cNvCxnSpPr>
            <a:cxnSpLocks/>
          </p:cNvCxnSpPr>
          <p:nvPr/>
        </p:nvCxnSpPr>
        <p:spPr>
          <a:xfrm>
            <a:off x="6905064" y="2506754"/>
            <a:ext cx="4970926" cy="36318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1C2248E-CFD6-84E4-A4B3-62B1CB789FF0}"/>
              </a:ext>
            </a:extLst>
          </p:cNvPr>
          <p:cNvCxnSpPr>
            <a:cxnSpLocks/>
          </p:cNvCxnSpPr>
          <p:nvPr/>
        </p:nvCxnSpPr>
        <p:spPr>
          <a:xfrm>
            <a:off x="8518712" y="52970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F4D2E56-090D-F7C5-AF2B-7D0BCCC122AA}"/>
              </a:ext>
            </a:extLst>
          </p:cNvPr>
          <p:cNvCxnSpPr>
            <a:cxnSpLocks/>
          </p:cNvCxnSpPr>
          <p:nvPr/>
        </p:nvCxnSpPr>
        <p:spPr>
          <a:xfrm flipH="1">
            <a:off x="11265271" y="2321860"/>
            <a:ext cx="424705" cy="382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ounded Rectangle 39">
            <a:extLst>
              <a:ext uri="{FF2B5EF4-FFF2-40B4-BE49-F238E27FC236}">
                <a16:creationId xmlns:a16="http://schemas.microsoft.com/office/drawing/2014/main" id="{5ED3B525-063B-3CB4-2F49-71F91BE30489}"/>
              </a:ext>
            </a:extLst>
          </p:cNvPr>
          <p:cNvSpPr/>
          <p:nvPr/>
        </p:nvSpPr>
        <p:spPr>
          <a:xfrm>
            <a:off x="-5618781" y="2619093"/>
            <a:ext cx="3437934" cy="14802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CA4F4F-E851-8CB5-78BB-0B87B55AEC6A}"/>
              </a:ext>
            </a:extLst>
          </p:cNvPr>
          <p:cNvSpPr txBox="1"/>
          <p:nvPr/>
        </p:nvSpPr>
        <p:spPr>
          <a:xfrm>
            <a:off x="-5610957" y="3093927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Local Peer Cache</a:t>
            </a:r>
            <a:endParaRPr lang="en-US" sz="2800">
              <a:latin typeface="Segoe UI Semibold"/>
              <a:cs typeface="Segoe UI Semibold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601297-5442-3854-D5D2-BFE68FDB0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994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2391DB-8DEF-12DA-C1F8-BCF06BBF6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3F9E72-71C6-CA4F-0547-5238799894F8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FBD565-9BB9-CEE2-604B-4A3F1754D1B3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5DC22B-6B44-03CC-6E2E-661DB35AD355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3EF36D4-53B6-3D65-3701-71F1BC991116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BBE8511-CF4D-AEFF-BA1C-83DCAA9D015F}"/>
              </a:ext>
            </a:extLst>
          </p:cNvPr>
          <p:cNvSpPr/>
          <p:nvPr/>
        </p:nvSpPr>
        <p:spPr>
          <a:xfrm>
            <a:off x="5355834" y="2323011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D531505-F48A-0618-A12C-7CF3ACFC51C2}"/>
              </a:ext>
            </a:extLst>
          </p:cNvPr>
          <p:cNvSpPr/>
          <p:nvPr/>
        </p:nvSpPr>
        <p:spPr>
          <a:xfrm>
            <a:off x="11549591" y="4083364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BD95D6B-C3F4-5930-1FBD-DB93A8ADCEFA}"/>
              </a:ext>
            </a:extLst>
          </p:cNvPr>
          <p:cNvSpPr/>
          <p:nvPr/>
        </p:nvSpPr>
        <p:spPr>
          <a:xfrm>
            <a:off x="9891864" y="1309907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8260920-34AC-214B-C92B-9F7E0B674073}"/>
              </a:ext>
            </a:extLst>
          </p:cNvPr>
          <p:cNvSpPr/>
          <p:nvPr/>
        </p:nvSpPr>
        <p:spPr>
          <a:xfrm>
            <a:off x="14217334" y="2542554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59AB7E2-C2F0-6141-0C7B-88E04B1A56B1}"/>
              </a:ext>
            </a:extLst>
          </p:cNvPr>
          <p:cNvSpPr/>
          <p:nvPr/>
        </p:nvSpPr>
        <p:spPr>
          <a:xfrm>
            <a:off x="15494804" y="6027583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D6D1744-EF0F-75CD-04FC-CADCAEB9D40E}"/>
              </a:ext>
            </a:extLst>
          </p:cNvPr>
          <p:cNvSpPr/>
          <p:nvPr/>
        </p:nvSpPr>
        <p:spPr>
          <a:xfrm>
            <a:off x="8614393" y="4598833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9882142-82AD-722A-4BF3-ACF5E3E40520}"/>
              </a:ext>
            </a:extLst>
          </p:cNvPr>
          <p:cNvSpPr/>
          <p:nvPr/>
        </p:nvSpPr>
        <p:spPr>
          <a:xfrm>
            <a:off x="15538885" y="1309908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8F74D6E-E436-C42C-7428-F4315C631D8E}"/>
              </a:ext>
            </a:extLst>
          </p:cNvPr>
          <p:cNvCxnSpPr/>
          <p:nvPr/>
        </p:nvCxnSpPr>
        <p:spPr>
          <a:xfrm>
            <a:off x="11135286" y="1834403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19665B5-E4F2-7071-0966-CE002F79C15B}"/>
              </a:ext>
            </a:extLst>
          </p:cNvPr>
          <p:cNvCxnSpPr>
            <a:cxnSpLocks/>
          </p:cNvCxnSpPr>
          <p:nvPr/>
        </p:nvCxnSpPr>
        <p:spPr>
          <a:xfrm flipV="1">
            <a:off x="9448800" y="2474260"/>
            <a:ext cx="774325" cy="22008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367397-4929-7041-C270-E55C9947920A}"/>
              </a:ext>
            </a:extLst>
          </p:cNvPr>
          <p:cNvCxnSpPr>
            <a:cxnSpLocks/>
          </p:cNvCxnSpPr>
          <p:nvPr/>
        </p:nvCxnSpPr>
        <p:spPr>
          <a:xfrm>
            <a:off x="10888755" y="2473136"/>
            <a:ext cx="4970926" cy="36318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3BCD152-36DA-260D-1037-8AD5331C0B06}"/>
              </a:ext>
            </a:extLst>
          </p:cNvPr>
          <p:cNvCxnSpPr>
            <a:cxnSpLocks/>
          </p:cNvCxnSpPr>
          <p:nvPr/>
        </p:nvCxnSpPr>
        <p:spPr>
          <a:xfrm>
            <a:off x="12502403" y="5263403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06FC234-37AA-5C87-2EB4-DFD55DC8B65D}"/>
              </a:ext>
            </a:extLst>
          </p:cNvPr>
          <p:cNvCxnSpPr>
            <a:cxnSpLocks/>
          </p:cNvCxnSpPr>
          <p:nvPr/>
        </p:nvCxnSpPr>
        <p:spPr>
          <a:xfrm flipH="1">
            <a:off x="15248962" y="2288242"/>
            <a:ext cx="424705" cy="382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ounded Rectangle 39">
            <a:extLst>
              <a:ext uri="{FF2B5EF4-FFF2-40B4-BE49-F238E27FC236}">
                <a16:creationId xmlns:a16="http://schemas.microsoft.com/office/drawing/2014/main" id="{46A9B155-E00A-4E16-8610-52F2B3DC4A8E}"/>
              </a:ext>
            </a:extLst>
          </p:cNvPr>
          <p:cNvSpPr/>
          <p:nvPr/>
        </p:nvSpPr>
        <p:spPr>
          <a:xfrm>
            <a:off x="600484" y="3050520"/>
            <a:ext cx="3437934" cy="14802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E285AE-8D5D-A2AF-2487-6342B09C60B1}"/>
              </a:ext>
            </a:extLst>
          </p:cNvPr>
          <p:cNvSpPr txBox="1"/>
          <p:nvPr/>
        </p:nvSpPr>
        <p:spPr>
          <a:xfrm>
            <a:off x="608308" y="3525354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Local Peer Cache</a:t>
            </a:r>
            <a:endParaRPr lang="en-US" sz="2800">
              <a:latin typeface="Segoe UI Semibold"/>
              <a:cs typeface="Segoe UI Semibold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79A35F-9CA5-3EF6-81D7-2F843B649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318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2F4B2C-F43A-0BC4-CA2B-A3E0FC3B1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A47103-96E0-20B8-A438-6547868060F9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56C110-D1F6-F429-E32C-067F66F7CE23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6BF494-A0B7-8466-EFDE-222F9ADFC3A1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A4B1088-5473-B162-77BE-316052C3B5F7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FC406F5-DC06-FAFF-83E6-705B700A4E79}"/>
              </a:ext>
            </a:extLst>
          </p:cNvPr>
          <p:cNvSpPr/>
          <p:nvPr/>
        </p:nvSpPr>
        <p:spPr>
          <a:xfrm>
            <a:off x="5916128" y="3034585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1AB4964-1329-60AE-F079-AEF00AEB8DB8}"/>
              </a:ext>
            </a:extLst>
          </p:cNvPr>
          <p:cNvSpPr/>
          <p:nvPr/>
        </p:nvSpPr>
        <p:spPr>
          <a:xfrm>
            <a:off x="11549591" y="4083364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AA44E96-9330-1B50-3447-A2D358472EAD}"/>
              </a:ext>
            </a:extLst>
          </p:cNvPr>
          <p:cNvSpPr/>
          <p:nvPr/>
        </p:nvSpPr>
        <p:spPr>
          <a:xfrm>
            <a:off x="9891864" y="1309907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4CCB08-EB05-2B93-B117-12BB727D8278}"/>
              </a:ext>
            </a:extLst>
          </p:cNvPr>
          <p:cNvSpPr/>
          <p:nvPr/>
        </p:nvSpPr>
        <p:spPr>
          <a:xfrm>
            <a:off x="14217334" y="2542554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B459ECF-8A9C-3FC5-8DB3-5A4519A6B882}"/>
              </a:ext>
            </a:extLst>
          </p:cNvPr>
          <p:cNvSpPr/>
          <p:nvPr/>
        </p:nvSpPr>
        <p:spPr>
          <a:xfrm>
            <a:off x="15494804" y="6027583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A363600-EACF-F6F7-C3FC-04CCA1624762}"/>
              </a:ext>
            </a:extLst>
          </p:cNvPr>
          <p:cNvSpPr/>
          <p:nvPr/>
        </p:nvSpPr>
        <p:spPr>
          <a:xfrm>
            <a:off x="8614393" y="4598833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CF34577-323B-0821-BC6C-7D5C2C4EA842}"/>
              </a:ext>
            </a:extLst>
          </p:cNvPr>
          <p:cNvSpPr/>
          <p:nvPr/>
        </p:nvSpPr>
        <p:spPr>
          <a:xfrm>
            <a:off x="15538885" y="1309908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CC82404-A131-91A4-FD92-5FAE04F31981}"/>
              </a:ext>
            </a:extLst>
          </p:cNvPr>
          <p:cNvCxnSpPr/>
          <p:nvPr/>
        </p:nvCxnSpPr>
        <p:spPr>
          <a:xfrm>
            <a:off x="11135286" y="1834403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9EEF5A3-6A86-5B08-A9D8-B9BBC7B8DDA8}"/>
              </a:ext>
            </a:extLst>
          </p:cNvPr>
          <p:cNvCxnSpPr>
            <a:cxnSpLocks/>
          </p:cNvCxnSpPr>
          <p:nvPr/>
        </p:nvCxnSpPr>
        <p:spPr>
          <a:xfrm flipV="1">
            <a:off x="9448800" y="2474260"/>
            <a:ext cx="774325" cy="22008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2F993F9-94EE-EEDF-EE4A-326AD987F59E}"/>
              </a:ext>
            </a:extLst>
          </p:cNvPr>
          <p:cNvCxnSpPr>
            <a:cxnSpLocks/>
          </p:cNvCxnSpPr>
          <p:nvPr/>
        </p:nvCxnSpPr>
        <p:spPr>
          <a:xfrm>
            <a:off x="10888755" y="2473136"/>
            <a:ext cx="4970926" cy="36318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CF53527-5DBE-F6ED-C576-6D88BD8FBD16}"/>
              </a:ext>
            </a:extLst>
          </p:cNvPr>
          <p:cNvCxnSpPr>
            <a:cxnSpLocks/>
          </p:cNvCxnSpPr>
          <p:nvPr/>
        </p:nvCxnSpPr>
        <p:spPr>
          <a:xfrm>
            <a:off x="12502403" y="5263403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65D89C5-36AD-EC9F-67AD-5A49D26DAE38}"/>
              </a:ext>
            </a:extLst>
          </p:cNvPr>
          <p:cNvCxnSpPr>
            <a:cxnSpLocks/>
          </p:cNvCxnSpPr>
          <p:nvPr/>
        </p:nvCxnSpPr>
        <p:spPr>
          <a:xfrm flipH="1">
            <a:off x="15248962" y="2288242"/>
            <a:ext cx="424705" cy="382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ounded Rectangle 39">
            <a:extLst>
              <a:ext uri="{FF2B5EF4-FFF2-40B4-BE49-F238E27FC236}">
                <a16:creationId xmlns:a16="http://schemas.microsoft.com/office/drawing/2014/main" id="{4EC99438-78E3-6E4F-3438-6F593C62F761}"/>
              </a:ext>
            </a:extLst>
          </p:cNvPr>
          <p:cNvSpPr/>
          <p:nvPr/>
        </p:nvSpPr>
        <p:spPr>
          <a:xfrm>
            <a:off x="600484" y="3050520"/>
            <a:ext cx="3437934" cy="14802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44FA81-B676-2273-DB60-40741145ADDA}"/>
              </a:ext>
            </a:extLst>
          </p:cNvPr>
          <p:cNvSpPr txBox="1"/>
          <p:nvPr/>
        </p:nvSpPr>
        <p:spPr>
          <a:xfrm>
            <a:off x="608308" y="3525354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Local Peer Cache</a:t>
            </a:r>
            <a:endParaRPr lang="en-US" sz="2800">
              <a:latin typeface="Segoe UI Semibold"/>
              <a:cs typeface="Segoe UI Semibold"/>
            </a:endParaRPr>
          </a:p>
        </p:txBody>
      </p:sp>
      <p:pic>
        <p:nvPicPr>
          <p:cNvPr id="9" name="Picture 8" descr="Database Icons - Free SVG &amp; PNG Database Images - Noun Project">
            <a:extLst>
              <a:ext uri="{FF2B5EF4-FFF2-40B4-BE49-F238E27FC236}">
                <a16:creationId xmlns:a16="http://schemas.microsoft.com/office/drawing/2014/main" id="{D02389F3-9AE4-ADD0-71E6-FAD60C63C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661" y="3557867"/>
            <a:ext cx="924486" cy="941295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CC893D-74D3-8C29-C22D-CFE57077F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697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F57694-7278-2655-7E55-80ED1EB49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4AF67B-DC9E-85F0-0628-1FF536ADF204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F000C6-4D64-30C4-112E-C5EE44346276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4DDC53-ACF3-13AA-272B-6EE4BE6843B1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14913A-7568-0C38-6813-A4B2DF8C3F1C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E85EE4C-0B88-3BCC-8D3F-F63D76CC58F8}"/>
              </a:ext>
            </a:extLst>
          </p:cNvPr>
          <p:cNvSpPr/>
          <p:nvPr/>
        </p:nvSpPr>
        <p:spPr>
          <a:xfrm>
            <a:off x="5916128" y="3034585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EA89591-5EF7-55B8-E6A8-9959F4E9E5E6}"/>
              </a:ext>
            </a:extLst>
          </p:cNvPr>
          <p:cNvSpPr/>
          <p:nvPr/>
        </p:nvSpPr>
        <p:spPr>
          <a:xfrm>
            <a:off x="11549591" y="4083364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5A4CF51-25EC-A04E-305F-8DF52E03762B}"/>
              </a:ext>
            </a:extLst>
          </p:cNvPr>
          <p:cNvSpPr/>
          <p:nvPr/>
        </p:nvSpPr>
        <p:spPr>
          <a:xfrm>
            <a:off x="9891864" y="1309907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F36AA15-CE4B-D4FC-CE33-1EC54D2F0FCA}"/>
              </a:ext>
            </a:extLst>
          </p:cNvPr>
          <p:cNvSpPr/>
          <p:nvPr/>
        </p:nvSpPr>
        <p:spPr>
          <a:xfrm>
            <a:off x="14217334" y="2542554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962F15-7FC8-51C6-3F1A-1294FBFE0F5C}"/>
              </a:ext>
            </a:extLst>
          </p:cNvPr>
          <p:cNvSpPr/>
          <p:nvPr/>
        </p:nvSpPr>
        <p:spPr>
          <a:xfrm>
            <a:off x="15494804" y="6027583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FFE5E34-000E-96A8-6418-4A9369D06853}"/>
              </a:ext>
            </a:extLst>
          </p:cNvPr>
          <p:cNvSpPr/>
          <p:nvPr/>
        </p:nvSpPr>
        <p:spPr>
          <a:xfrm>
            <a:off x="8614393" y="4598833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5DD30AB-E578-C8F5-3718-36068186AF45}"/>
              </a:ext>
            </a:extLst>
          </p:cNvPr>
          <p:cNvSpPr/>
          <p:nvPr/>
        </p:nvSpPr>
        <p:spPr>
          <a:xfrm>
            <a:off x="15538885" y="1309908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043192B-7043-E8F3-EE30-DE7EC06898C7}"/>
              </a:ext>
            </a:extLst>
          </p:cNvPr>
          <p:cNvCxnSpPr/>
          <p:nvPr/>
        </p:nvCxnSpPr>
        <p:spPr>
          <a:xfrm>
            <a:off x="11135286" y="1834403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B24D2AD-4E59-0326-C61B-03B064EC6D0A}"/>
              </a:ext>
            </a:extLst>
          </p:cNvPr>
          <p:cNvCxnSpPr>
            <a:cxnSpLocks/>
          </p:cNvCxnSpPr>
          <p:nvPr/>
        </p:nvCxnSpPr>
        <p:spPr>
          <a:xfrm flipV="1">
            <a:off x="9448800" y="2474260"/>
            <a:ext cx="774325" cy="22008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70330F-1504-49D1-73E5-5C91F2DD0F5F}"/>
              </a:ext>
            </a:extLst>
          </p:cNvPr>
          <p:cNvCxnSpPr>
            <a:cxnSpLocks/>
          </p:cNvCxnSpPr>
          <p:nvPr/>
        </p:nvCxnSpPr>
        <p:spPr>
          <a:xfrm>
            <a:off x="10888755" y="2473136"/>
            <a:ext cx="4970926" cy="36318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8C6A1E8-E4C1-03E5-DDF6-0A2DF1E376FF}"/>
              </a:ext>
            </a:extLst>
          </p:cNvPr>
          <p:cNvCxnSpPr>
            <a:cxnSpLocks/>
          </p:cNvCxnSpPr>
          <p:nvPr/>
        </p:nvCxnSpPr>
        <p:spPr>
          <a:xfrm>
            <a:off x="12502403" y="5263403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DEA80F7-8CDC-E953-3396-070CE420B7D3}"/>
              </a:ext>
            </a:extLst>
          </p:cNvPr>
          <p:cNvCxnSpPr>
            <a:cxnSpLocks/>
          </p:cNvCxnSpPr>
          <p:nvPr/>
        </p:nvCxnSpPr>
        <p:spPr>
          <a:xfrm flipH="1">
            <a:off x="15248962" y="2288242"/>
            <a:ext cx="424705" cy="382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ounded Rectangle 39">
            <a:extLst>
              <a:ext uri="{FF2B5EF4-FFF2-40B4-BE49-F238E27FC236}">
                <a16:creationId xmlns:a16="http://schemas.microsoft.com/office/drawing/2014/main" id="{1DB55204-2799-4663-0068-BEB32E3AF002}"/>
              </a:ext>
            </a:extLst>
          </p:cNvPr>
          <p:cNvSpPr/>
          <p:nvPr/>
        </p:nvSpPr>
        <p:spPr>
          <a:xfrm>
            <a:off x="600484" y="3050520"/>
            <a:ext cx="3437934" cy="14802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533506-6210-BC8B-6156-3C370C9B5198}"/>
              </a:ext>
            </a:extLst>
          </p:cNvPr>
          <p:cNvSpPr txBox="1"/>
          <p:nvPr/>
        </p:nvSpPr>
        <p:spPr>
          <a:xfrm>
            <a:off x="608308" y="3525354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Local Peer Cache</a:t>
            </a:r>
            <a:endParaRPr lang="en-US" sz="2800">
              <a:latin typeface="Segoe UI Semibold"/>
              <a:cs typeface="Segoe UI Semibold"/>
            </a:endParaRPr>
          </a:p>
        </p:txBody>
      </p:sp>
      <p:pic>
        <p:nvPicPr>
          <p:cNvPr id="9" name="Picture 8" descr="Database Icons - Free SVG &amp; PNG Database Images - Noun Project">
            <a:extLst>
              <a:ext uri="{FF2B5EF4-FFF2-40B4-BE49-F238E27FC236}">
                <a16:creationId xmlns:a16="http://schemas.microsoft.com/office/drawing/2014/main" id="{4F9A97BE-3A85-67B5-7E23-81D657225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661" y="3557867"/>
            <a:ext cx="924486" cy="941295"/>
          </a:xfrm>
          <a:prstGeom prst="rect">
            <a:avLst/>
          </a:prstGeom>
        </p:spPr>
      </p:pic>
      <p:pic>
        <p:nvPicPr>
          <p:cNvPr id="11" name="Picture 10" descr="Death - Free shapes icons">
            <a:extLst>
              <a:ext uri="{FF2B5EF4-FFF2-40B4-BE49-F238E27FC236}">
                <a16:creationId xmlns:a16="http://schemas.microsoft.com/office/drawing/2014/main" id="{2D7141DD-8060-5B7B-A7BD-6D7B622FC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352" y="4969809"/>
            <a:ext cx="969310" cy="1058956"/>
          </a:xfrm>
          <a:prstGeom prst="rect">
            <a:avLst/>
          </a:prstGeom>
        </p:spPr>
      </p:pic>
      <p:pic>
        <p:nvPicPr>
          <p:cNvPr id="13" name="Picture 12" descr="Database Icons - Free SVG &amp; PNG Database Images - Noun Project">
            <a:extLst>
              <a:ext uri="{FF2B5EF4-FFF2-40B4-BE49-F238E27FC236}">
                <a16:creationId xmlns:a16="http://schemas.microsoft.com/office/drawing/2014/main" id="{F0801487-595C-EE4E-619C-B6B59CCA8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293" y="4969808"/>
            <a:ext cx="924486" cy="941295"/>
          </a:xfrm>
          <a:prstGeom prst="rect">
            <a:avLst/>
          </a:prstGeom>
        </p:spPr>
      </p:pic>
      <p:pic>
        <p:nvPicPr>
          <p:cNvPr id="15" name="Picture 14" descr="Clean - Free miscellaneous icons">
            <a:extLst>
              <a:ext uri="{FF2B5EF4-FFF2-40B4-BE49-F238E27FC236}">
                <a16:creationId xmlns:a16="http://schemas.microsoft.com/office/drawing/2014/main" id="{7F2DE21A-DB85-2246-31D2-025200E1B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555" y="5500967"/>
            <a:ext cx="1145241" cy="1128433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6432259-EB7D-5E81-D87B-F3FAC71F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957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72DC73-10CE-E9A7-60DA-4395756D4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AE6C08-BAAC-AA4E-6B85-FA289AADF51B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B50B37-ADCD-51CF-C7BA-622694EB9C29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E0CED3-7989-FF19-5641-7DA27C5EC69F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DD4AE8-C559-4970-7587-291A8AA7D0E5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66BF9EF-F4BA-A4E7-DB33-E5024F0FE766}"/>
              </a:ext>
            </a:extLst>
          </p:cNvPr>
          <p:cNvSpPr/>
          <p:nvPr/>
        </p:nvSpPr>
        <p:spPr>
          <a:xfrm>
            <a:off x="5697613" y="1913997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0BD51A6-C0F9-9BEA-5935-65D20C9EE08C}"/>
              </a:ext>
            </a:extLst>
          </p:cNvPr>
          <p:cNvSpPr/>
          <p:nvPr/>
        </p:nvSpPr>
        <p:spPr>
          <a:xfrm>
            <a:off x="15807826" y="4116982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E1236AC-2014-2E2F-6733-60ECC654B0A4}"/>
              </a:ext>
            </a:extLst>
          </p:cNvPr>
          <p:cNvSpPr/>
          <p:nvPr/>
        </p:nvSpPr>
        <p:spPr>
          <a:xfrm>
            <a:off x="14150099" y="1343525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9E9B980-3423-934A-BEB3-C77D22518DF7}"/>
              </a:ext>
            </a:extLst>
          </p:cNvPr>
          <p:cNvSpPr/>
          <p:nvPr/>
        </p:nvSpPr>
        <p:spPr>
          <a:xfrm>
            <a:off x="18475569" y="2576172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AC570A4-BE9D-3AF3-D889-A886B7289179}"/>
              </a:ext>
            </a:extLst>
          </p:cNvPr>
          <p:cNvSpPr/>
          <p:nvPr/>
        </p:nvSpPr>
        <p:spPr>
          <a:xfrm>
            <a:off x="19753039" y="606120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B3B897C-A63A-EE13-AA04-CACB49574C18}"/>
              </a:ext>
            </a:extLst>
          </p:cNvPr>
          <p:cNvSpPr/>
          <p:nvPr/>
        </p:nvSpPr>
        <p:spPr>
          <a:xfrm>
            <a:off x="12872628" y="463245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E5710AC-C354-D26A-5140-EE0687CA78CA}"/>
              </a:ext>
            </a:extLst>
          </p:cNvPr>
          <p:cNvSpPr/>
          <p:nvPr/>
        </p:nvSpPr>
        <p:spPr>
          <a:xfrm>
            <a:off x="19797120" y="1343526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B2A3BD-3DAC-99B9-875D-0A03F2963B1F}"/>
              </a:ext>
            </a:extLst>
          </p:cNvPr>
          <p:cNvCxnSpPr/>
          <p:nvPr/>
        </p:nvCxnSpPr>
        <p:spPr>
          <a:xfrm>
            <a:off x="15393521" y="18680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F83643A-CB05-C46F-EB22-35A57F968AAA}"/>
              </a:ext>
            </a:extLst>
          </p:cNvPr>
          <p:cNvCxnSpPr>
            <a:cxnSpLocks/>
          </p:cNvCxnSpPr>
          <p:nvPr/>
        </p:nvCxnSpPr>
        <p:spPr>
          <a:xfrm flipV="1">
            <a:off x="13707035" y="2507878"/>
            <a:ext cx="774325" cy="22008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99FE52D-A59C-B3FE-8E9B-83282714E861}"/>
              </a:ext>
            </a:extLst>
          </p:cNvPr>
          <p:cNvCxnSpPr>
            <a:cxnSpLocks/>
          </p:cNvCxnSpPr>
          <p:nvPr/>
        </p:nvCxnSpPr>
        <p:spPr>
          <a:xfrm>
            <a:off x="15146990" y="2506754"/>
            <a:ext cx="4970926" cy="36318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172FE0B-1127-3B33-C1B0-93B20B5B44AC}"/>
              </a:ext>
            </a:extLst>
          </p:cNvPr>
          <p:cNvCxnSpPr>
            <a:cxnSpLocks/>
          </p:cNvCxnSpPr>
          <p:nvPr/>
        </p:nvCxnSpPr>
        <p:spPr>
          <a:xfrm>
            <a:off x="16760638" y="52970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863D482-B40C-E413-44E4-3A6C93EC6D0E}"/>
              </a:ext>
            </a:extLst>
          </p:cNvPr>
          <p:cNvCxnSpPr>
            <a:cxnSpLocks/>
          </p:cNvCxnSpPr>
          <p:nvPr/>
        </p:nvCxnSpPr>
        <p:spPr>
          <a:xfrm flipH="1">
            <a:off x="19507197" y="2321860"/>
            <a:ext cx="424705" cy="382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ounded Rectangle 39">
            <a:extLst>
              <a:ext uri="{FF2B5EF4-FFF2-40B4-BE49-F238E27FC236}">
                <a16:creationId xmlns:a16="http://schemas.microsoft.com/office/drawing/2014/main" id="{16F4F037-7D8B-6523-33B1-0A8FB75AAE9D}"/>
              </a:ext>
            </a:extLst>
          </p:cNvPr>
          <p:cNvSpPr/>
          <p:nvPr/>
        </p:nvSpPr>
        <p:spPr>
          <a:xfrm>
            <a:off x="-5433884" y="3016902"/>
            <a:ext cx="3437934" cy="14802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7A53D7-A96C-8750-3627-5DB4CDBFD799}"/>
              </a:ext>
            </a:extLst>
          </p:cNvPr>
          <p:cNvSpPr txBox="1"/>
          <p:nvPr/>
        </p:nvSpPr>
        <p:spPr>
          <a:xfrm>
            <a:off x="-5426060" y="3491736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Local Peer Cache</a:t>
            </a:r>
            <a:endParaRPr lang="en-US" sz="2800">
              <a:latin typeface="Segoe UI Semibold"/>
              <a:cs typeface="Segoe UI Semibold"/>
            </a:endParaRPr>
          </a:p>
        </p:txBody>
      </p:sp>
      <p:pic>
        <p:nvPicPr>
          <p:cNvPr id="9" name="Picture 8" descr="Database Icons - Free SVG &amp; PNG Database Images - Noun Project">
            <a:extLst>
              <a:ext uri="{FF2B5EF4-FFF2-40B4-BE49-F238E27FC236}">
                <a16:creationId xmlns:a16="http://schemas.microsoft.com/office/drawing/2014/main" id="{15EBC8F7-48FD-1CA0-35D8-74ED2244C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146" y="2437279"/>
            <a:ext cx="924486" cy="941295"/>
          </a:xfrm>
          <a:prstGeom prst="rect">
            <a:avLst/>
          </a:prstGeom>
        </p:spPr>
      </p:pic>
      <p:pic>
        <p:nvPicPr>
          <p:cNvPr id="11" name="Picture 10" descr="Death - Free shapes icons">
            <a:extLst>
              <a:ext uri="{FF2B5EF4-FFF2-40B4-BE49-F238E27FC236}">
                <a16:creationId xmlns:a16="http://schemas.microsoft.com/office/drawing/2014/main" id="{5317FF61-1AA2-7A34-3918-CD7DDDC1A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910" y="4196603"/>
            <a:ext cx="969310" cy="1058956"/>
          </a:xfrm>
          <a:prstGeom prst="rect">
            <a:avLst/>
          </a:prstGeom>
        </p:spPr>
      </p:pic>
      <p:pic>
        <p:nvPicPr>
          <p:cNvPr id="13" name="Picture 12" descr="Database Icons - Free SVG &amp; PNG Database Images - Noun Project">
            <a:extLst>
              <a:ext uri="{FF2B5EF4-FFF2-40B4-BE49-F238E27FC236}">
                <a16:creationId xmlns:a16="http://schemas.microsoft.com/office/drawing/2014/main" id="{C955AB20-B383-81B9-478C-4E79ABF96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146" y="3787588"/>
            <a:ext cx="924486" cy="941295"/>
          </a:xfrm>
          <a:prstGeom prst="rect">
            <a:avLst/>
          </a:prstGeom>
        </p:spPr>
      </p:pic>
      <p:pic>
        <p:nvPicPr>
          <p:cNvPr id="15" name="Picture 14" descr="Clean - Free miscellaneous icons">
            <a:extLst>
              <a:ext uri="{FF2B5EF4-FFF2-40B4-BE49-F238E27FC236}">
                <a16:creationId xmlns:a16="http://schemas.microsoft.com/office/drawing/2014/main" id="{2E40052E-E161-A2B5-4D5D-1E4229AA8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408" y="4318747"/>
            <a:ext cx="1145241" cy="1128433"/>
          </a:xfrm>
          <a:prstGeom prst="rect">
            <a:avLst/>
          </a:prstGeom>
        </p:spPr>
      </p:pic>
      <p:sp>
        <p:nvSpPr>
          <p:cNvPr id="19" name="Rounded Rectangle 39">
            <a:extLst>
              <a:ext uri="{FF2B5EF4-FFF2-40B4-BE49-F238E27FC236}">
                <a16:creationId xmlns:a16="http://schemas.microsoft.com/office/drawing/2014/main" id="{EE9B0D4E-A592-6B81-8FE2-A3FC5865096E}"/>
              </a:ext>
            </a:extLst>
          </p:cNvPr>
          <p:cNvSpPr/>
          <p:nvPr/>
        </p:nvSpPr>
        <p:spPr>
          <a:xfrm>
            <a:off x="1039252" y="8128330"/>
            <a:ext cx="3437934" cy="148020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EB9332-675D-8FA6-3916-51E410C3CCF4}"/>
              </a:ext>
            </a:extLst>
          </p:cNvPr>
          <p:cNvSpPr txBox="1"/>
          <p:nvPr/>
        </p:nvSpPr>
        <p:spPr>
          <a:xfrm>
            <a:off x="1047076" y="8603164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Seed Nodes</a:t>
            </a:r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8E375C7-6706-A4BB-D997-6B330C56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16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360D34-166D-DC04-DCEF-66A609387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97749D-BC53-C03D-4856-1C9E67C9C848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100DB7-59C6-ABA5-538E-B49BC80F938D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A9C058-2D60-1240-73F7-DF0C6F5EBA93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105F89D-D924-389D-C67C-6E8FE04E02A8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F288511-DD8F-5A4D-F833-60D546CE2516}"/>
              </a:ext>
            </a:extLst>
          </p:cNvPr>
          <p:cNvSpPr/>
          <p:nvPr/>
        </p:nvSpPr>
        <p:spPr>
          <a:xfrm>
            <a:off x="5518319" y="3460409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F767CDA-664D-7029-5131-3D722D831808}"/>
              </a:ext>
            </a:extLst>
          </p:cNvPr>
          <p:cNvSpPr/>
          <p:nvPr/>
        </p:nvSpPr>
        <p:spPr>
          <a:xfrm>
            <a:off x="7291356" y="3926482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3E424F3-4927-82D0-D5BD-7FE29625F80F}"/>
              </a:ext>
            </a:extLst>
          </p:cNvPr>
          <p:cNvSpPr/>
          <p:nvPr/>
        </p:nvSpPr>
        <p:spPr>
          <a:xfrm>
            <a:off x="5633629" y="1153025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7A172D-D484-567F-EC96-C94FC6923890}"/>
              </a:ext>
            </a:extLst>
          </p:cNvPr>
          <p:cNvSpPr/>
          <p:nvPr/>
        </p:nvSpPr>
        <p:spPr>
          <a:xfrm>
            <a:off x="9959099" y="2385672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F9271E-B76C-4B49-ECB5-46FA27283990}"/>
              </a:ext>
            </a:extLst>
          </p:cNvPr>
          <p:cNvSpPr/>
          <p:nvPr/>
        </p:nvSpPr>
        <p:spPr>
          <a:xfrm>
            <a:off x="11236569" y="587070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9369C31-9077-69CB-2039-5209901374C7}"/>
              </a:ext>
            </a:extLst>
          </p:cNvPr>
          <p:cNvSpPr/>
          <p:nvPr/>
        </p:nvSpPr>
        <p:spPr>
          <a:xfrm>
            <a:off x="4356158" y="444195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4A2260B-7A14-B8FF-F756-1D3F710CA2C8}"/>
              </a:ext>
            </a:extLst>
          </p:cNvPr>
          <p:cNvSpPr/>
          <p:nvPr/>
        </p:nvSpPr>
        <p:spPr>
          <a:xfrm>
            <a:off x="11280650" y="1153026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B0BD50-5727-84EE-29AE-855CDE70DF31}"/>
              </a:ext>
            </a:extLst>
          </p:cNvPr>
          <p:cNvCxnSpPr/>
          <p:nvPr/>
        </p:nvCxnSpPr>
        <p:spPr>
          <a:xfrm>
            <a:off x="6877051" y="16775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5DA1AE1-778B-5088-F9CA-F7790B0D336A}"/>
              </a:ext>
            </a:extLst>
          </p:cNvPr>
          <p:cNvCxnSpPr>
            <a:cxnSpLocks/>
          </p:cNvCxnSpPr>
          <p:nvPr/>
        </p:nvCxnSpPr>
        <p:spPr>
          <a:xfrm flipV="1">
            <a:off x="5190565" y="2317378"/>
            <a:ext cx="774325" cy="22008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F3BF85E-54FA-259C-39EE-04C814DF10CB}"/>
              </a:ext>
            </a:extLst>
          </p:cNvPr>
          <p:cNvCxnSpPr>
            <a:cxnSpLocks/>
          </p:cNvCxnSpPr>
          <p:nvPr/>
        </p:nvCxnSpPr>
        <p:spPr>
          <a:xfrm>
            <a:off x="6630520" y="2316254"/>
            <a:ext cx="4970926" cy="36318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BEF883E-C858-E890-B341-E045CDC518BE}"/>
              </a:ext>
            </a:extLst>
          </p:cNvPr>
          <p:cNvCxnSpPr>
            <a:cxnSpLocks/>
          </p:cNvCxnSpPr>
          <p:nvPr/>
        </p:nvCxnSpPr>
        <p:spPr>
          <a:xfrm>
            <a:off x="8244168" y="51065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7ACE749-0A83-6FC9-2128-9B596574D348}"/>
              </a:ext>
            </a:extLst>
          </p:cNvPr>
          <p:cNvCxnSpPr>
            <a:cxnSpLocks/>
          </p:cNvCxnSpPr>
          <p:nvPr/>
        </p:nvCxnSpPr>
        <p:spPr>
          <a:xfrm flipH="1">
            <a:off x="10990727" y="2131360"/>
            <a:ext cx="424705" cy="382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ounded Rectangle 39">
            <a:extLst>
              <a:ext uri="{FF2B5EF4-FFF2-40B4-BE49-F238E27FC236}">
                <a16:creationId xmlns:a16="http://schemas.microsoft.com/office/drawing/2014/main" id="{64D15C1B-4E07-E0F9-430A-2B866456470A}"/>
              </a:ext>
            </a:extLst>
          </p:cNvPr>
          <p:cNvSpPr/>
          <p:nvPr/>
        </p:nvSpPr>
        <p:spPr>
          <a:xfrm>
            <a:off x="546193" y="2777521"/>
            <a:ext cx="3437934" cy="148020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8CD9DA-E57D-A298-E02B-0485281079AB}"/>
              </a:ext>
            </a:extLst>
          </p:cNvPr>
          <p:cNvSpPr txBox="1"/>
          <p:nvPr/>
        </p:nvSpPr>
        <p:spPr>
          <a:xfrm>
            <a:off x="554017" y="3252355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Seed Nodes</a:t>
            </a:r>
            <a:endParaRPr lang="en-US"/>
          </a:p>
        </p:txBody>
      </p:sp>
      <p:pic>
        <p:nvPicPr>
          <p:cNvPr id="23" name="Picture 22" descr="Database Icons - Free SVG &amp; PNG Database Images - Noun Project">
            <a:extLst>
              <a:ext uri="{FF2B5EF4-FFF2-40B4-BE49-F238E27FC236}">
                <a16:creationId xmlns:a16="http://schemas.microsoft.com/office/drawing/2014/main" id="{42C5447A-80E2-7E5C-6CB4-D1A6CD4BD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764" y="-4123765"/>
            <a:ext cx="924486" cy="941295"/>
          </a:xfrm>
          <a:prstGeom prst="rect">
            <a:avLst/>
          </a:prstGeom>
        </p:spPr>
      </p:pic>
      <p:pic>
        <p:nvPicPr>
          <p:cNvPr id="25" name="Picture 24" descr="Death - Free shapes icons">
            <a:extLst>
              <a:ext uri="{FF2B5EF4-FFF2-40B4-BE49-F238E27FC236}">
                <a16:creationId xmlns:a16="http://schemas.microsoft.com/office/drawing/2014/main" id="{C7C03122-B2C9-E4DA-8856-3C45DB62F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528" y="-2364441"/>
            <a:ext cx="969310" cy="1058956"/>
          </a:xfrm>
          <a:prstGeom prst="rect">
            <a:avLst/>
          </a:prstGeom>
        </p:spPr>
      </p:pic>
      <p:pic>
        <p:nvPicPr>
          <p:cNvPr id="27" name="Picture 26" descr="Database Icons - Free SVG &amp; PNG Database Images - Noun Project">
            <a:extLst>
              <a:ext uri="{FF2B5EF4-FFF2-40B4-BE49-F238E27FC236}">
                <a16:creationId xmlns:a16="http://schemas.microsoft.com/office/drawing/2014/main" id="{34FE6AAD-FC8A-9BD8-5BFC-237308731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764" y="-2773456"/>
            <a:ext cx="924486" cy="941295"/>
          </a:xfrm>
          <a:prstGeom prst="rect">
            <a:avLst/>
          </a:prstGeom>
        </p:spPr>
      </p:pic>
      <p:pic>
        <p:nvPicPr>
          <p:cNvPr id="29" name="Picture 28" descr="Clean - Free miscellaneous icons">
            <a:extLst>
              <a:ext uri="{FF2B5EF4-FFF2-40B4-BE49-F238E27FC236}">
                <a16:creationId xmlns:a16="http://schemas.microsoft.com/office/drawing/2014/main" id="{FEA1F4A7-C028-CBFA-A768-6A42FB8DA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8026" y="-2242297"/>
            <a:ext cx="1145241" cy="1128433"/>
          </a:xfrm>
          <a:prstGeom prst="rect">
            <a:avLst/>
          </a:prstGeom>
        </p:spPr>
      </p:pic>
      <p:sp>
        <p:nvSpPr>
          <p:cNvPr id="32" name="Arrow: Right 31">
            <a:extLst>
              <a:ext uri="{FF2B5EF4-FFF2-40B4-BE49-F238E27FC236}">
                <a16:creationId xmlns:a16="http://schemas.microsoft.com/office/drawing/2014/main" id="{79038CBA-3F06-852D-483F-DABFCD3BDBCC}"/>
              </a:ext>
            </a:extLst>
          </p:cNvPr>
          <p:cNvSpPr/>
          <p:nvPr/>
        </p:nvSpPr>
        <p:spPr>
          <a:xfrm rot="1500000">
            <a:off x="6667283" y="4246432"/>
            <a:ext cx="664643" cy="39498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B0BCE4-9C4C-0B7D-8D9E-58941A756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58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BB33E7-8423-D640-D43A-3A060CA62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5DC184-A767-4D24-61CA-31E9702F14A4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EAEC74-A115-97FD-FC29-88FE22475DE1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21640-CE52-46DA-962C-16FE39AEEA7B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B17BA0F-E5DF-9F28-3AC7-6A56E517E8C1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4D71C7F-CF0C-247D-8B23-9A06163DEEE8}"/>
              </a:ext>
            </a:extLst>
          </p:cNvPr>
          <p:cNvSpPr/>
          <p:nvPr/>
        </p:nvSpPr>
        <p:spPr>
          <a:xfrm>
            <a:off x="1204054" y="3028983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7364F26-9931-26A2-2462-A9C9A28C0669}"/>
              </a:ext>
            </a:extLst>
          </p:cNvPr>
          <p:cNvSpPr/>
          <p:nvPr/>
        </p:nvSpPr>
        <p:spPr>
          <a:xfrm>
            <a:off x="7291356" y="3926482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EBC1CF4-A7F3-DC73-52B8-FE6FCA786E00}"/>
              </a:ext>
            </a:extLst>
          </p:cNvPr>
          <p:cNvSpPr/>
          <p:nvPr/>
        </p:nvSpPr>
        <p:spPr>
          <a:xfrm>
            <a:off x="5633629" y="1153025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7B60A0-1540-FD34-D457-387513F795E6}"/>
              </a:ext>
            </a:extLst>
          </p:cNvPr>
          <p:cNvSpPr/>
          <p:nvPr/>
        </p:nvSpPr>
        <p:spPr>
          <a:xfrm>
            <a:off x="9959099" y="2385672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D58040A-5F0B-FD65-D622-6673087EFDDC}"/>
              </a:ext>
            </a:extLst>
          </p:cNvPr>
          <p:cNvSpPr/>
          <p:nvPr/>
        </p:nvSpPr>
        <p:spPr>
          <a:xfrm>
            <a:off x="11236569" y="587070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0EF649D-C807-62CE-2A75-DE3D51D2FDC0}"/>
              </a:ext>
            </a:extLst>
          </p:cNvPr>
          <p:cNvSpPr/>
          <p:nvPr/>
        </p:nvSpPr>
        <p:spPr>
          <a:xfrm>
            <a:off x="4356158" y="444195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BC473A2-8F7F-F2BC-92F9-4AFD91A523A8}"/>
              </a:ext>
            </a:extLst>
          </p:cNvPr>
          <p:cNvSpPr/>
          <p:nvPr/>
        </p:nvSpPr>
        <p:spPr>
          <a:xfrm>
            <a:off x="11280650" y="1153026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6206DED-FAE1-D12B-CB23-4F627720421E}"/>
              </a:ext>
            </a:extLst>
          </p:cNvPr>
          <p:cNvCxnSpPr/>
          <p:nvPr/>
        </p:nvCxnSpPr>
        <p:spPr>
          <a:xfrm>
            <a:off x="6877051" y="16775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BB2D5E0-F78F-7838-B370-C433218B65AF}"/>
              </a:ext>
            </a:extLst>
          </p:cNvPr>
          <p:cNvCxnSpPr>
            <a:cxnSpLocks/>
          </p:cNvCxnSpPr>
          <p:nvPr/>
        </p:nvCxnSpPr>
        <p:spPr>
          <a:xfrm flipV="1">
            <a:off x="5190565" y="2317378"/>
            <a:ext cx="774325" cy="22008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2648D90-AA5F-746E-A73F-ED42457F3337}"/>
              </a:ext>
            </a:extLst>
          </p:cNvPr>
          <p:cNvCxnSpPr>
            <a:cxnSpLocks/>
          </p:cNvCxnSpPr>
          <p:nvPr/>
        </p:nvCxnSpPr>
        <p:spPr>
          <a:xfrm>
            <a:off x="6630520" y="2316254"/>
            <a:ext cx="4970926" cy="36318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8E561B3-6D95-995F-0B86-172E73AB4C49}"/>
              </a:ext>
            </a:extLst>
          </p:cNvPr>
          <p:cNvCxnSpPr>
            <a:cxnSpLocks/>
          </p:cNvCxnSpPr>
          <p:nvPr/>
        </p:nvCxnSpPr>
        <p:spPr>
          <a:xfrm>
            <a:off x="8244168" y="51065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ECD3405-0214-83F2-DC92-1BF23DD29679}"/>
              </a:ext>
            </a:extLst>
          </p:cNvPr>
          <p:cNvCxnSpPr>
            <a:cxnSpLocks/>
          </p:cNvCxnSpPr>
          <p:nvPr/>
        </p:nvCxnSpPr>
        <p:spPr>
          <a:xfrm flipH="1">
            <a:off x="10990727" y="2131360"/>
            <a:ext cx="424705" cy="382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CD85F8-406E-B300-479B-8D66408CC0F7}"/>
              </a:ext>
            </a:extLst>
          </p:cNvPr>
          <p:cNvCxnSpPr>
            <a:cxnSpLocks/>
          </p:cNvCxnSpPr>
          <p:nvPr/>
        </p:nvCxnSpPr>
        <p:spPr>
          <a:xfrm flipV="1">
            <a:off x="2170580" y="2334186"/>
            <a:ext cx="3771897" cy="900952"/>
          </a:xfrm>
          <a:prstGeom prst="straightConnector1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B6419C-563F-2FD4-0629-D991B70430A5}"/>
              </a:ext>
            </a:extLst>
          </p:cNvPr>
          <p:cNvCxnSpPr>
            <a:cxnSpLocks/>
          </p:cNvCxnSpPr>
          <p:nvPr/>
        </p:nvCxnSpPr>
        <p:spPr>
          <a:xfrm>
            <a:off x="2288243" y="3476063"/>
            <a:ext cx="4998939" cy="914401"/>
          </a:xfrm>
          <a:prstGeom prst="straightConnector1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Rounded Rectangle 39">
            <a:extLst>
              <a:ext uri="{FF2B5EF4-FFF2-40B4-BE49-F238E27FC236}">
                <a16:creationId xmlns:a16="http://schemas.microsoft.com/office/drawing/2014/main" id="{4E5D3722-B1AD-0CD1-8878-F3666BAC0A36}"/>
              </a:ext>
            </a:extLst>
          </p:cNvPr>
          <p:cNvSpPr/>
          <p:nvPr/>
        </p:nvSpPr>
        <p:spPr>
          <a:xfrm>
            <a:off x="2145607" y="8466374"/>
            <a:ext cx="3437934" cy="14802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31A310-73EE-B5DA-55A5-80E58C69D692}"/>
              </a:ext>
            </a:extLst>
          </p:cNvPr>
          <p:cNvSpPr txBox="1"/>
          <p:nvPr/>
        </p:nvSpPr>
        <p:spPr>
          <a:xfrm>
            <a:off x="2153431" y="8941208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Peer Exchange</a:t>
            </a:r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FBFB294-17F2-1D7A-19CD-141380F25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316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F5E5D3-FEDA-B2AF-A64E-FB0FCF0BB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A1FD3F-9CA1-5042-288F-1A9A89936043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6DBD5E-F022-AE3F-D928-EE2D7C98AE83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AB36BB-AAB8-B321-A060-EC8B5F0C8A6A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54E8050-677D-872D-DC62-51CFD0C7A297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D28679D-037C-EF4D-C20F-0A9FA1D37A8F}"/>
              </a:ext>
            </a:extLst>
          </p:cNvPr>
          <p:cNvSpPr/>
          <p:nvPr/>
        </p:nvSpPr>
        <p:spPr>
          <a:xfrm>
            <a:off x="5518319" y="3101821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45E44A4-945D-FEE6-3477-C0998AC315E1}"/>
              </a:ext>
            </a:extLst>
          </p:cNvPr>
          <p:cNvSpPr/>
          <p:nvPr/>
        </p:nvSpPr>
        <p:spPr>
          <a:xfrm>
            <a:off x="11605621" y="3999320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7FFDCD7-1C9D-B9FF-EA9F-B727193461C0}"/>
              </a:ext>
            </a:extLst>
          </p:cNvPr>
          <p:cNvSpPr/>
          <p:nvPr/>
        </p:nvSpPr>
        <p:spPr>
          <a:xfrm>
            <a:off x="9947894" y="1225863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3CA18B-B23E-9751-102E-D803FBC37C2E}"/>
              </a:ext>
            </a:extLst>
          </p:cNvPr>
          <p:cNvSpPr/>
          <p:nvPr/>
        </p:nvSpPr>
        <p:spPr>
          <a:xfrm>
            <a:off x="14273364" y="2458510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594BB69-FDC5-23C4-B925-677E9BB5BD93}"/>
              </a:ext>
            </a:extLst>
          </p:cNvPr>
          <p:cNvSpPr/>
          <p:nvPr/>
        </p:nvSpPr>
        <p:spPr>
          <a:xfrm>
            <a:off x="15550834" y="5943539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AD52B49-B5CD-D638-7BDE-FD7343D62C4D}"/>
              </a:ext>
            </a:extLst>
          </p:cNvPr>
          <p:cNvSpPr/>
          <p:nvPr/>
        </p:nvSpPr>
        <p:spPr>
          <a:xfrm>
            <a:off x="8670423" y="4514789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BBBC999-7C3C-8473-C4B7-16D0CEAAA448}"/>
              </a:ext>
            </a:extLst>
          </p:cNvPr>
          <p:cNvSpPr/>
          <p:nvPr/>
        </p:nvSpPr>
        <p:spPr>
          <a:xfrm>
            <a:off x="15594915" y="1225864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A75C074-8E0C-B6AA-561D-A8EFE2245724}"/>
              </a:ext>
            </a:extLst>
          </p:cNvPr>
          <p:cNvCxnSpPr/>
          <p:nvPr/>
        </p:nvCxnSpPr>
        <p:spPr>
          <a:xfrm>
            <a:off x="11191316" y="1750359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D175CD4-21BF-3A3C-AD7C-862D1FD9BDCC}"/>
              </a:ext>
            </a:extLst>
          </p:cNvPr>
          <p:cNvCxnSpPr>
            <a:cxnSpLocks/>
          </p:cNvCxnSpPr>
          <p:nvPr/>
        </p:nvCxnSpPr>
        <p:spPr>
          <a:xfrm flipV="1">
            <a:off x="9504830" y="2390216"/>
            <a:ext cx="774325" cy="22008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5838B4A-0FEB-7605-2117-94291CC9BD7C}"/>
              </a:ext>
            </a:extLst>
          </p:cNvPr>
          <p:cNvCxnSpPr>
            <a:cxnSpLocks/>
          </p:cNvCxnSpPr>
          <p:nvPr/>
        </p:nvCxnSpPr>
        <p:spPr>
          <a:xfrm>
            <a:off x="10944785" y="2389092"/>
            <a:ext cx="4970926" cy="36318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E6A96B-5898-EECD-808B-237B71488D6B}"/>
              </a:ext>
            </a:extLst>
          </p:cNvPr>
          <p:cNvCxnSpPr>
            <a:cxnSpLocks/>
          </p:cNvCxnSpPr>
          <p:nvPr/>
        </p:nvCxnSpPr>
        <p:spPr>
          <a:xfrm>
            <a:off x="12558433" y="5179359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FD9E18C-84BA-D3F6-F31C-CD96030E1612}"/>
              </a:ext>
            </a:extLst>
          </p:cNvPr>
          <p:cNvCxnSpPr>
            <a:cxnSpLocks/>
          </p:cNvCxnSpPr>
          <p:nvPr/>
        </p:nvCxnSpPr>
        <p:spPr>
          <a:xfrm flipH="1">
            <a:off x="15304992" y="2204198"/>
            <a:ext cx="424705" cy="382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4B4EC43-C06A-BDD5-D511-DF7C80C63895}"/>
              </a:ext>
            </a:extLst>
          </p:cNvPr>
          <p:cNvCxnSpPr>
            <a:cxnSpLocks/>
          </p:cNvCxnSpPr>
          <p:nvPr/>
        </p:nvCxnSpPr>
        <p:spPr>
          <a:xfrm flipV="1">
            <a:off x="6484845" y="2407024"/>
            <a:ext cx="3771897" cy="900952"/>
          </a:xfrm>
          <a:prstGeom prst="straightConnector1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9D6300-D852-1D14-94D2-BA16F4669E79}"/>
              </a:ext>
            </a:extLst>
          </p:cNvPr>
          <p:cNvCxnSpPr>
            <a:cxnSpLocks/>
          </p:cNvCxnSpPr>
          <p:nvPr/>
        </p:nvCxnSpPr>
        <p:spPr>
          <a:xfrm>
            <a:off x="6602508" y="3548901"/>
            <a:ext cx="4998939" cy="914401"/>
          </a:xfrm>
          <a:prstGeom prst="straightConnector1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Rounded Rectangle 39">
            <a:extLst>
              <a:ext uri="{FF2B5EF4-FFF2-40B4-BE49-F238E27FC236}">
                <a16:creationId xmlns:a16="http://schemas.microsoft.com/office/drawing/2014/main" id="{CEC3D53B-C32F-4359-FA84-62BF969981A4}"/>
              </a:ext>
            </a:extLst>
          </p:cNvPr>
          <p:cNvSpPr/>
          <p:nvPr/>
        </p:nvSpPr>
        <p:spPr>
          <a:xfrm>
            <a:off x="924166" y="2891447"/>
            <a:ext cx="3437934" cy="14802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C7D1AF-3220-5E74-7C36-F8B8033C4737}"/>
              </a:ext>
            </a:extLst>
          </p:cNvPr>
          <p:cNvSpPr txBox="1"/>
          <p:nvPr/>
        </p:nvSpPr>
        <p:spPr>
          <a:xfrm>
            <a:off x="931990" y="3366281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Peer Exchange</a:t>
            </a:r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E0C1EC-5311-EC4F-FD41-AB81247A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482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Epidemic Gossip Dissemination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3B0C35B-82F8-FDB5-B1DE-9CD5AAD9C471}"/>
              </a:ext>
            </a:extLst>
          </p:cNvPr>
          <p:cNvGrpSpPr/>
          <p:nvPr/>
        </p:nvGrpSpPr>
        <p:grpSpPr>
          <a:xfrm>
            <a:off x="276497" y="1353457"/>
            <a:ext cx="11635014" cy="2906485"/>
            <a:chOff x="548640" y="1371600"/>
            <a:chExt cx="10972800" cy="2743200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371600"/>
              <a:ext cx="10972800" cy="2743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1F5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31520" y="1463040"/>
              <a:ext cx="548640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1E293B"/>
                  </a:solidFill>
                  <a:latin typeface="Segoe UI"/>
                </a:defRPr>
              </a:pPr>
              <a:r>
                <a:t>Message Spreading Like an Epidemic (3 rounds)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97280" y="1828800"/>
              <a:ext cx="22860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64748B"/>
                  </a:solidFill>
                  <a:latin typeface="Segoe UI"/>
                </a:defRPr>
              </a:pPr>
              <a:r>
                <a:t>Round 1: Origin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1920240" y="2596896"/>
              <a:ext cx="658368" cy="329184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1920240" y="2926080"/>
              <a:ext cx="822959" cy="274320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1920240" y="2926080"/>
              <a:ext cx="0" cy="658368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H="1">
              <a:off x="1481328" y="2926080"/>
              <a:ext cx="438912" cy="219456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2578608" y="2596896"/>
              <a:ext cx="164591" cy="603504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 flipH="1" flipV="1">
              <a:off x="1481328" y="3145536"/>
              <a:ext cx="438912" cy="438912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1788567" y="2794407"/>
              <a:ext cx="263346" cy="263346"/>
            </a:xfrm>
            <a:prstGeom prst="ellipse">
              <a:avLst/>
            </a:prstGeom>
            <a:solidFill>
              <a:srgbClr val="3730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A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2446935" y="2465223"/>
              <a:ext cx="263346" cy="263346"/>
            </a:xfrm>
            <a:prstGeom prst="ellipse">
              <a:avLst/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B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2611526" y="3068727"/>
              <a:ext cx="263346" cy="263346"/>
            </a:xfrm>
            <a:prstGeom prst="ellipse">
              <a:avLst/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C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1788567" y="3452775"/>
              <a:ext cx="263346" cy="263346"/>
            </a:xfrm>
            <a:prstGeom prst="ellipse">
              <a:avLst/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D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1349655" y="3013863"/>
              <a:ext cx="263346" cy="263346"/>
            </a:xfrm>
            <a:prstGeom prst="ellipse">
              <a:avLst/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E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297680" y="1828800"/>
              <a:ext cx="22860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64748B"/>
                  </a:solidFill>
                  <a:latin typeface="Segoe UI"/>
                </a:defRPr>
              </a:pPr>
              <a:r>
                <a:t>Round 2: Neighbors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V="1">
              <a:off x="5120640" y="2596896"/>
              <a:ext cx="658368" cy="329184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5120640" y="2926080"/>
              <a:ext cx="822959" cy="274320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5120640" y="2926080"/>
              <a:ext cx="0" cy="658368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H="1">
              <a:off x="4681728" y="2926080"/>
              <a:ext cx="438912" cy="219456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5779008" y="2596896"/>
              <a:ext cx="164591" cy="603504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 flipH="1" flipV="1">
              <a:off x="4681728" y="3145536"/>
              <a:ext cx="438912" cy="438912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/>
            <p:cNvSpPr/>
            <p:nvPr/>
          </p:nvSpPr>
          <p:spPr>
            <a:xfrm>
              <a:off x="4988967" y="2794407"/>
              <a:ext cx="263346" cy="263346"/>
            </a:xfrm>
            <a:prstGeom prst="ellipse">
              <a:avLst/>
            </a:prstGeom>
            <a:solidFill>
              <a:srgbClr val="3730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A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5647335" y="2465223"/>
              <a:ext cx="263346" cy="263346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B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5811926" y="3068727"/>
              <a:ext cx="263346" cy="263346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C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4988967" y="3452775"/>
              <a:ext cx="263346" cy="263346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D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4550055" y="3013863"/>
              <a:ext cx="263346" cy="263346"/>
            </a:xfrm>
            <a:prstGeom prst="ellipse">
              <a:avLst/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E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498080" y="1828800"/>
              <a:ext cx="22860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64748B"/>
                  </a:solidFill>
                  <a:latin typeface="Segoe UI"/>
                </a:defRPr>
              </a:pPr>
              <a:r>
                <a:t>Round 3: Full coverage</a:t>
              </a:r>
            </a:p>
          </p:txBody>
        </p:sp>
        <p:cxnSp>
          <p:nvCxnSpPr>
            <p:cNvPr id="33" name="Connector 32"/>
            <p:cNvCxnSpPr/>
            <p:nvPr/>
          </p:nvCxnSpPr>
          <p:spPr>
            <a:xfrm flipV="1">
              <a:off x="8321040" y="2596896"/>
              <a:ext cx="658368" cy="329184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 33"/>
            <p:cNvCxnSpPr/>
            <p:nvPr/>
          </p:nvCxnSpPr>
          <p:spPr>
            <a:xfrm>
              <a:off x="8321040" y="2926080"/>
              <a:ext cx="822959" cy="274320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>
              <a:off x="8321040" y="2926080"/>
              <a:ext cx="0" cy="658368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35"/>
            <p:cNvCxnSpPr/>
            <p:nvPr/>
          </p:nvCxnSpPr>
          <p:spPr>
            <a:xfrm flipH="1">
              <a:off x="7882128" y="2926080"/>
              <a:ext cx="438912" cy="219456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/>
            <p:nvPr/>
          </p:nvCxnSpPr>
          <p:spPr>
            <a:xfrm>
              <a:off x="8979408" y="2596896"/>
              <a:ext cx="164591" cy="603504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 flipH="1" flipV="1">
              <a:off x="7882128" y="3145536"/>
              <a:ext cx="438912" cy="438912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/>
            <p:cNvSpPr/>
            <p:nvPr/>
          </p:nvSpPr>
          <p:spPr>
            <a:xfrm>
              <a:off x="8189367" y="2794407"/>
              <a:ext cx="263346" cy="263346"/>
            </a:xfrm>
            <a:prstGeom prst="ellipse">
              <a:avLst/>
            </a:prstGeom>
            <a:solidFill>
              <a:srgbClr val="3730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A</a:t>
              </a:r>
            </a:p>
          </p:txBody>
        </p:sp>
        <p:sp>
          <p:nvSpPr>
            <p:cNvPr id="40" name="Oval 39"/>
            <p:cNvSpPr/>
            <p:nvPr/>
          </p:nvSpPr>
          <p:spPr>
            <a:xfrm>
              <a:off x="8847735" y="2465223"/>
              <a:ext cx="263346" cy="263346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B</a:t>
              </a:r>
            </a:p>
          </p:txBody>
        </p:sp>
        <p:sp>
          <p:nvSpPr>
            <p:cNvPr id="41" name="Oval 40"/>
            <p:cNvSpPr/>
            <p:nvPr/>
          </p:nvSpPr>
          <p:spPr>
            <a:xfrm>
              <a:off x="9012326" y="3068727"/>
              <a:ext cx="263346" cy="263346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C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8189367" y="3452775"/>
              <a:ext cx="263346" cy="263346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D</a:t>
              </a:r>
            </a:p>
          </p:txBody>
        </p:sp>
        <p:sp>
          <p:nvSpPr>
            <p:cNvPr id="43" name="Oval 42"/>
            <p:cNvSpPr/>
            <p:nvPr/>
          </p:nvSpPr>
          <p:spPr>
            <a:xfrm>
              <a:off x="7750455" y="3013863"/>
              <a:ext cx="263346" cy="263346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E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474720" y="2743200"/>
              <a:ext cx="54864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2200" b="0">
                  <a:solidFill>
                    <a:srgbClr val="94A3B8"/>
                  </a:solidFill>
                  <a:latin typeface="Segoe UI"/>
                </a:defRPr>
              </a:pPr>
              <a:r>
                <a:t>➡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675120" y="2743200"/>
              <a:ext cx="54864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2200" b="0">
                  <a:solidFill>
                    <a:srgbClr val="94A3B8"/>
                  </a:solidFill>
                  <a:latin typeface="Segoe UI"/>
                </a:defRPr>
              </a:pPr>
              <a:r>
                <a:t>➡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9E5F20B-2A5E-D280-E991-E2AB6056FF7E}"/>
              </a:ext>
            </a:extLst>
          </p:cNvPr>
          <p:cNvGrpSpPr/>
          <p:nvPr/>
        </p:nvGrpSpPr>
        <p:grpSpPr>
          <a:xfrm>
            <a:off x="3478349" y="4516119"/>
            <a:ext cx="5611947" cy="1946728"/>
            <a:chOff x="6217920" y="4389120"/>
            <a:chExt cx="5303520" cy="1828800"/>
          </a:xfrm>
        </p:grpSpPr>
        <p:sp>
          <p:nvSpPr>
            <p:cNvPr id="50" name="Rounded Rectangle 49"/>
            <p:cNvSpPr/>
            <p:nvPr/>
          </p:nvSpPr>
          <p:spPr>
            <a:xfrm>
              <a:off x="6217920" y="4389120"/>
              <a:ext cx="5303520" cy="1828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1F5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217920" y="4389120"/>
              <a:ext cx="63500" cy="182880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446520" y="4480560"/>
              <a:ext cx="498348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1E293B"/>
                  </a:solidFill>
                  <a:latin typeface="Segoe UI"/>
                </a:defRPr>
              </a:pPr>
              <a:r>
                <a:t>Convergence Theorem (Demers et al., 1987)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446520" y="4800600"/>
              <a:ext cx="4983480" cy="1400383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spcAft>
                  <a:spcPts val="780"/>
                </a:spcAft>
                <a:defRPr sz="1300">
                  <a:solidFill>
                    <a:srgbClr val="64748B"/>
                  </a:solidFill>
                  <a:latin typeface="Segoe UI"/>
                </a:defRPr>
              </a:pPr>
              <a:r>
                <a:t>•  P(all infected) = 1 − </a:t>
              </a:r>
              <a:r>
                <a:rPr err="1"/>
                <a:t>n·exp</a:t>
              </a:r>
              <a:r>
                <a:t>(−</a:t>
              </a:r>
              <a:r>
                <a:rPr err="1"/>
                <a:t>f^r</a:t>
              </a:r>
              <a:r>
                <a:t> / n)</a:t>
              </a:r>
            </a:p>
            <a:p>
              <a:pPr>
                <a:spcAft>
                  <a:spcPts val="780"/>
                </a:spcAft>
                <a:defRPr sz="1300">
                  <a:solidFill>
                    <a:srgbClr val="64748B"/>
                  </a:solidFill>
                  <a:latin typeface="Segoe UI"/>
                </a:defRPr>
              </a:pPr>
              <a:r>
                <a:t>•  With </a:t>
              </a:r>
              <a:r>
                <a:rPr lang="en-US"/>
                <a:t>fanout</a:t>
              </a:r>
              <a:r>
                <a:t>=6</a:t>
              </a:r>
              <a:r>
                <a:rPr lang="en-US"/>
                <a:t>,</a:t>
              </a:r>
              <a:r>
                <a:t> </a:t>
              </a:r>
              <a:r>
                <a:rPr lang="en-US"/>
                <a:t>nodes</a:t>
              </a:r>
              <a:r>
                <a:t>=30, </a:t>
              </a:r>
              <a:r>
                <a:rPr lang="en-US"/>
                <a:t>rounds</a:t>
              </a:r>
              <a:r>
                <a:t>=3: P &gt; 99.99%</a:t>
              </a:r>
              <a:r>
                <a:rPr lang="en-US"/>
                <a:t> (P of everyone seeing the message at least once)</a:t>
              </a:r>
              <a:endParaRPr>
                <a:cs typeface="Segoe UI"/>
              </a:endParaRPr>
            </a:p>
            <a:p>
              <a:pPr>
                <a:spcAft>
                  <a:spcPts val="780"/>
                </a:spcAft>
                <a:defRPr sz="1300">
                  <a:solidFill>
                    <a:srgbClr val="64748B"/>
                  </a:solidFill>
                  <a:latin typeface="Segoe UI"/>
                </a:defRPr>
              </a:pPr>
              <a:r>
                <a:t>•  Receipt threshold of 3 bounds overhead to O(</a:t>
              </a:r>
              <a:r>
                <a:rPr err="1"/>
                <a:t>n·f</a:t>
              </a:r>
              <a:r>
                <a:t>)</a:t>
              </a:r>
              <a:endParaRPr>
                <a:cs typeface="Segoe UI"/>
              </a:endParaRPr>
            </a:p>
            <a:p>
              <a:pPr>
                <a:spcAft>
                  <a:spcPts val="780"/>
                </a:spcAft>
                <a:defRPr sz="1300">
                  <a:solidFill>
                    <a:srgbClr val="64748B"/>
                  </a:solidFill>
                  <a:latin typeface="Segoe UI"/>
                </a:defRPr>
              </a:pPr>
              <a:r>
                <a:t>•  Assumption: overlay connected (</a:t>
              </a:r>
              <a:r>
                <a:rPr err="1"/>
                <a:t>fmin</a:t>
              </a:r>
              <a:r>
                <a:t> + seeds)</a:t>
              </a:r>
              <a:endParaRPr>
                <a:cs typeface="Segoe UI"/>
              </a:endParaRPr>
            </a:p>
          </p:txBody>
        </p:sp>
      </p:grp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08B1CDF3-0CB9-D08A-346C-709A4BD29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B6DC2D-08CB-FC38-0D36-1828C6F5F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352C30-CDD3-B32C-077D-9A835BC4D9B4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819DB8-9A27-CF68-51A5-FEBAA3119340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AE0497-113E-19B6-71A5-C2A4DEFB1385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Epidemic Gossip Dissemination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AAB4408-07BC-C480-7539-0A81548CC9CB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pic>
        <p:nvPicPr>
          <p:cNvPr id="11" name="Picture 10" descr="A diagram of a flowchart&#10;&#10;AI-generated content may be incorrect.">
            <a:extLst>
              <a:ext uri="{FF2B5EF4-FFF2-40B4-BE49-F238E27FC236}">
                <a16:creationId xmlns:a16="http://schemas.microsoft.com/office/drawing/2014/main" id="{C320F2B8-D837-D8E7-FF4B-BC7681C8C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072" y="1404731"/>
            <a:ext cx="9040586" cy="504659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8F161-EFFE-B437-5974-63D639037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55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E36389-477F-4C5E-E69D-9453FFBA9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59679B-6CF9-9651-38EB-2CA261AD2D0A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818BFF-85D3-602D-5D00-C02BA6D8B97B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E36E6F-B18B-4847-8183-6367F58A2EC0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Epidemic Gossip Dissemination</a:t>
            </a:r>
            <a:r>
              <a:rPr lang="en-US"/>
              <a:t> (Test)</a:t>
            </a:r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64C2B4-9505-068A-6D94-0938106A55B4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4DCF62-89DA-645C-8DBA-595BB102986D}"/>
              </a:ext>
            </a:extLst>
          </p:cNvPr>
          <p:cNvSpPr txBox="1"/>
          <p:nvPr/>
        </p:nvSpPr>
        <p:spPr>
          <a:xfrm>
            <a:off x="655811" y="1568822"/>
            <a:ext cx="9989776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b="1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Publish path works end-to-end</a:t>
            </a:r>
            <a:r>
              <a:rPr lang="en-US" sz="2000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:</a:t>
            </a:r>
            <a:r>
              <a:rPr lang="en-US" sz="2000">
                <a:ea typeface="+mn-lt"/>
                <a:cs typeface="+mn-lt"/>
              </a:rPr>
              <a:t> local subscriber receives once, and message is forwarded to neighbors.</a:t>
            </a:r>
          </a:p>
          <a:p>
            <a:pPr marL="285750" indent="-285750">
              <a:buFont typeface="Arial"/>
              <a:buChar char="•"/>
            </a:pPr>
            <a:r>
              <a:rPr lang="en-US" sz="2000" b="1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Deduplication works</a:t>
            </a:r>
            <a:r>
              <a:rPr lang="en-US" sz="2000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:</a:t>
            </a:r>
            <a:r>
              <a:rPr lang="en-US" sz="2000">
                <a:ea typeface="+mn-lt"/>
                <a:cs typeface="+mn-lt"/>
              </a:rPr>
              <a:t> if the same message comes back (echo), it is not delivered twice.</a:t>
            </a:r>
          </a:p>
          <a:p>
            <a:pPr marL="285750" indent="-285750">
              <a:buFont typeface="Arial"/>
              <a:buChar char="•"/>
            </a:pPr>
            <a:r>
              <a:rPr lang="en-US" sz="2000" b="1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Receipt threshold prevents over-forwarding</a:t>
            </a:r>
            <a:r>
              <a:rPr lang="en-US" sz="2000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:</a:t>
            </a:r>
            <a:r>
              <a:rPr lang="en-US" sz="2000">
                <a:ea typeface="+mn-lt"/>
                <a:cs typeface="+mn-lt"/>
              </a:rPr>
              <a:t> after threshold is reached, re-forwarding stops.</a:t>
            </a:r>
          </a:p>
          <a:p>
            <a:pPr marL="285750" indent="-285750">
              <a:buFont typeface="Arial"/>
              <a:buChar char="•"/>
            </a:pPr>
            <a:r>
              <a:rPr lang="en-US" sz="2000" b="1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Probability gating is enforced</a:t>
            </a:r>
            <a:r>
              <a:rPr lang="en-US" sz="2000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:</a:t>
            </a:r>
            <a:r>
              <a:rPr lang="en-US" sz="2000">
                <a:ea typeface="+mn-lt"/>
                <a:cs typeface="+mn-lt"/>
              </a:rPr>
              <a:t> edge with p=1.0 forwards, edge with p=0.0 is blocked.</a:t>
            </a:r>
          </a:p>
          <a:p>
            <a:pPr marL="285750" indent="-285750">
              <a:buFont typeface="Arial"/>
              <a:buChar char="•"/>
            </a:pPr>
            <a:r>
              <a:rPr lang="en-US" sz="2000" b="1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EMA reinforcement updates reliability</a:t>
            </a:r>
            <a:r>
              <a:rPr lang="en-US" sz="2000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:</a:t>
            </a:r>
            <a:r>
              <a:rPr lang="en-US" sz="2000">
                <a:ea typeface="+mn-lt"/>
                <a:cs typeface="+mn-lt"/>
              </a:rPr>
              <a:t> successful send increases edge probability (example: 0.3 -&gt; 0.44 with lambda=0.8).</a:t>
            </a:r>
          </a:p>
          <a:p>
            <a:pPr marL="285750" indent="-285750">
              <a:buFont typeface="Arial"/>
              <a:buChar char="•"/>
            </a:pPr>
            <a:r>
              <a:rPr lang="en-US" sz="2000" b="1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Channel filtering is correct</a:t>
            </a:r>
            <a:r>
              <a:rPr lang="en-US" sz="2000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:</a:t>
            </a:r>
            <a:r>
              <a:rPr lang="en-US" sz="2000">
                <a:ea typeface="+mn-lt"/>
                <a:cs typeface="+mn-lt"/>
              </a:rPr>
              <a:t> unsubscribed node does not deliver payload locally.</a:t>
            </a:r>
            <a:br>
              <a:rPr lang="en-US" sz="2000">
                <a:ea typeface="+mn-lt"/>
                <a:cs typeface="+mn-lt"/>
              </a:rPr>
            </a:br>
            <a:endParaRPr lang="en-US" sz="2000">
              <a:ea typeface="Calibri"/>
              <a:cs typeface="Calibri"/>
            </a:endParaRPr>
          </a:p>
          <a:p>
            <a:pPr algn="l"/>
            <a:endParaRPr lang="en-US" sz="2000">
              <a:ea typeface="Calibri"/>
              <a:cs typeface="Calibri"/>
            </a:endParaRPr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09FB7B2-9990-A8DA-0B82-3A32463524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77078" y="4890528"/>
            <a:ext cx="11258550" cy="1133475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399504-E5DD-6E63-851C-7D3B63F51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572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A11FD3-3CB6-E5D3-D77F-B9E86AB54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1FEE3F-CE37-9362-A511-8DDC7027D9A6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72412E-AC79-72A8-5430-8EC32418C5EC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CDF5F-860D-A676-A20C-126D5084D582}"/>
              </a:ext>
            </a:extLst>
          </p:cNvPr>
          <p:cNvSpPr txBox="1"/>
          <p:nvPr/>
        </p:nvSpPr>
        <p:spPr>
          <a:xfrm>
            <a:off x="731520" y="182880"/>
            <a:ext cx="8229600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>
                <a:cs typeface="Segoe UI Semibold"/>
              </a:rPr>
              <a:t>Heartbeat Failure Detection</a:t>
            </a:r>
            <a:endParaRPr lang="en-US">
              <a:solidFill>
                <a:srgbClr val="000000"/>
              </a:solidFill>
              <a:cs typeface="Segoe UI Semibold"/>
            </a:endParaRPr>
          </a:p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endParaRPr lang="en-US">
              <a:cs typeface="Segoe UI Semibold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EB0CB81-E4FA-E8BE-C101-A36E13827503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8B1F726-61B6-4E43-FD35-632C56CEDBCF}"/>
              </a:ext>
            </a:extLst>
          </p:cNvPr>
          <p:cNvSpPr/>
          <p:nvPr/>
        </p:nvSpPr>
        <p:spPr>
          <a:xfrm>
            <a:off x="1384280" y="3254773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D89B58A-E00D-9519-770C-1AD9DC10CBAA}"/>
              </a:ext>
            </a:extLst>
          </p:cNvPr>
          <p:cNvSpPr/>
          <p:nvPr/>
        </p:nvSpPr>
        <p:spPr>
          <a:xfrm>
            <a:off x="5457391" y="3254773"/>
            <a:ext cx="1274064" cy="1274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0931C39-0935-D9C2-9B33-99B2FF5E5F65}"/>
              </a:ext>
            </a:extLst>
          </p:cNvPr>
          <p:cNvSpPr/>
          <p:nvPr/>
        </p:nvSpPr>
        <p:spPr>
          <a:xfrm>
            <a:off x="9381605" y="3254773"/>
            <a:ext cx="1274064" cy="127406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8" name="Connector 21">
            <a:extLst>
              <a:ext uri="{FF2B5EF4-FFF2-40B4-BE49-F238E27FC236}">
                <a16:creationId xmlns:a16="http://schemas.microsoft.com/office/drawing/2014/main" id="{B827EB8B-9BB2-AEB2-E666-7FA90D376565}"/>
              </a:ext>
            </a:extLst>
          </p:cNvPr>
          <p:cNvCxnSpPr/>
          <p:nvPr/>
        </p:nvCxnSpPr>
        <p:spPr>
          <a:xfrm flipV="1">
            <a:off x="2843049" y="3992531"/>
            <a:ext cx="2307020" cy="8758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Connector 22">
            <a:extLst>
              <a:ext uri="{FF2B5EF4-FFF2-40B4-BE49-F238E27FC236}">
                <a16:creationId xmlns:a16="http://schemas.microsoft.com/office/drawing/2014/main" id="{0FE85A1A-2E7F-74AD-7CF1-CF96D4F6FF4E}"/>
              </a:ext>
            </a:extLst>
          </p:cNvPr>
          <p:cNvCxnSpPr/>
          <p:nvPr/>
        </p:nvCxnSpPr>
        <p:spPr>
          <a:xfrm>
            <a:off x="7030020" y="3931220"/>
            <a:ext cx="2175640" cy="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43A0235-099F-D430-9C05-1052BD0BC3BE}"/>
              </a:ext>
            </a:extLst>
          </p:cNvPr>
          <p:cNvSpPr txBox="1"/>
          <p:nvPr/>
        </p:nvSpPr>
        <p:spPr>
          <a:xfrm>
            <a:off x="3343324" y="3363788"/>
            <a:ext cx="11256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Calibri"/>
                <a:cs typeface="Calibri"/>
              </a:rPr>
              <a:t>3 * 𝛅t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0267DF-4D02-3577-A370-9AE1EA6A8037}"/>
              </a:ext>
            </a:extLst>
          </p:cNvPr>
          <p:cNvSpPr txBox="1"/>
          <p:nvPr/>
        </p:nvSpPr>
        <p:spPr>
          <a:xfrm>
            <a:off x="7713874" y="3363787"/>
            <a:ext cx="11256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Calibri"/>
                <a:cs typeface="Calibri"/>
              </a:rPr>
              <a:t>6 * 𝛅t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B9E23C-7013-B1AC-7337-333368471463}"/>
              </a:ext>
            </a:extLst>
          </p:cNvPr>
          <p:cNvSpPr txBox="1"/>
          <p:nvPr/>
        </p:nvSpPr>
        <p:spPr>
          <a:xfrm>
            <a:off x="1460220" y="2137581"/>
            <a:ext cx="11256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Calibri"/>
                <a:cs typeface="Calibri"/>
              </a:rPr>
              <a:t>Alive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C794F5-2A4D-24F2-3D96-8B0DE4AD8FE1}"/>
              </a:ext>
            </a:extLst>
          </p:cNvPr>
          <p:cNvSpPr txBox="1"/>
          <p:nvPr/>
        </p:nvSpPr>
        <p:spPr>
          <a:xfrm>
            <a:off x="5349047" y="2137581"/>
            <a:ext cx="158984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Calibri"/>
                <a:cs typeface="Calibri"/>
              </a:rPr>
              <a:t>Suspect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9ED9A5-1B67-379C-DC52-761E8994990C}"/>
              </a:ext>
            </a:extLst>
          </p:cNvPr>
          <p:cNvSpPr txBox="1"/>
          <p:nvPr/>
        </p:nvSpPr>
        <p:spPr>
          <a:xfrm>
            <a:off x="9456840" y="2137581"/>
            <a:ext cx="11256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Calibri"/>
                <a:cs typeface="Calibri"/>
              </a:rPr>
              <a:t>Dead</a:t>
            </a:r>
            <a:endParaRPr lang="en-US" sz="2400">
              <a:ea typeface="Calibri"/>
              <a:cs typeface="Calibri"/>
            </a:endParaRPr>
          </a:p>
        </p:txBody>
      </p:sp>
      <p:cxnSp>
        <p:nvCxnSpPr>
          <p:cNvPr id="24" name="Connector 21">
            <a:extLst>
              <a:ext uri="{FF2B5EF4-FFF2-40B4-BE49-F238E27FC236}">
                <a16:creationId xmlns:a16="http://schemas.microsoft.com/office/drawing/2014/main" id="{8F9C0E2C-82D3-3722-EE65-EA942414BE4E}"/>
              </a:ext>
            </a:extLst>
          </p:cNvPr>
          <p:cNvCxnSpPr>
            <a:cxnSpLocks/>
          </p:cNvCxnSpPr>
          <p:nvPr/>
        </p:nvCxnSpPr>
        <p:spPr>
          <a:xfrm flipV="1">
            <a:off x="6092496" y="4693220"/>
            <a:ext cx="3503" cy="797033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5" name="Connector 21">
            <a:extLst>
              <a:ext uri="{FF2B5EF4-FFF2-40B4-BE49-F238E27FC236}">
                <a16:creationId xmlns:a16="http://schemas.microsoft.com/office/drawing/2014/main" id="{9827DA52-66B1-DB67-5049-4073431345C4}"/>
              </a:ext>
            </a:extLst>
          </p:cNvPr>
          <p:cNvCxnSpPr>
            <a:cxnSpLocks/>
          </p:cNvCxnSpPr>
          <p:nvPr/>
        </p:nvCxnSpPr>
        <p:spPr>
          <a:xfrm flipV="1">
            <a:off x="2063530" y="4693219"/>
            <a:ext cx="3503" cy="797033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" name="Connector 21">
            <a:extLst>
              <a:ext uri="{FF2B5EF4-FFF2-40B4-BE49-F238E27FC236}">
                <a16:creationId xmlns:a16="http://schemas.microsoft.com/office/drawing/2014/main" id="{ADE372F3-20FF-9769-87CE-7D2155AD09E8}"/>
              </a:ext>
            </a:extLst>
          </p:cNvPr>
          <p:cNvCxnSpPr>
            <a:cxnSpLocks/>
          </p:cNvCxnSpPr>
          <p:nvPr/>
        </p:nvCxnSpPr>
        <p:spPr>
          <a:xfrm flipV="1">
            <a:off x="2107325" y="5516530"/>
            <a:ext cx="3979914" cy="26275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076EF3C-E117-328A-EF3A-8E91C49C9923}"/>
              </a:ext>
            </a:extLst>
          </p:cNvPr>
          <p:cNvSpPr txBox="1"/>
          <p:nvPr/>
        </p:nvSpPr>
        <p:spPr>
          <a:xfrm>
            <a:off x="2344840" y="5702340"/>
            <a:ext cx="39809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Calibri"/>
                <a:cs typeface="Calibri"/>
              </a:rPr>
              <a:t>Recovery via heartbeat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4EF97-9124-EBA9-65A2-E021FA49B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492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A4E39A-290C-5D35-BF94-7487B3BFB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6BCC05-A874-4095-7113-8EF19AF14C5A}"/>
              </a:ext>
            </a:extLst>
          </p:cNvPr>
          <p:cNvSpPr/>
          <p:nvPr/>
        </p:nvSpPr>
        <p:spPr>
          <a:xfrm>
            <a:off x="0" y="0"/>
            <a:ext cx="12191695" cy="1902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C50DCA-8A83-F6AE-1365-8B4738375411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6E6A78-EEC9-23F2-BB8D-819EC428DB3C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Heartbeat Failure Detection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364304-533A-6110-8943-8E0CE96B7411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7CE1D5-7BFB-46CD-508B-F49ED2A32D6F}"/>
              </a:ext>
            </a:extLst>
          </p:cNvPr>
          <p:cNvSpPr/>
          <p:nvPr/>
        </p:nvSpPr>
        <p:spPr>
          <a:xfrm>
            <a:off x="-1" y="6014356"/>
            <a:ext cx="12191695" cy="8425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985A3-4C7F-74BD-838D-E0FB313D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528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16AA9F-7B56-454D-EF65-3918B3AA6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3B8B05-F038-EF28-3ACA-BBE7F39D100C}"/>
              </a:ext>
            </a:extLst>
          </p:cNvPr>
          <p:cNvSpPr/>
          <p:nvPr/>
        </p:nvSpPr>
        <p:spPr>
          <a:xfrm>
            <a:off x="0" y="-633351"/>
            <a:ext cx="12191695" cy="1902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E7BCC6-C2E5-0546-58C7-F9A71A313848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85C8BB-00E9-9668-0763-EF76D704931B}"/>
              </a:ext>
            </a:extLst>
          </p:cNvPr>
          <p:cNvSpPr txBox="1"/>
          <p:nvPr/>
        </p:nvSpPr>
        <p:spPr>
          <a:xfrm>
            <a:off x="731520" y="182880"/>
            <a:ext cx="8229600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 sz="2600">
                <a:latin typeface="Segoe UI"/>
                <a:cs typeface="Segoe UI"/>
              </a:rPr>
              <a:t>Adaptive Edge Reliability (EMA)</a:t>
            </a:r>
            <a:endParaRPr lang="en-US" sz="2600">
              <a:solidFill>
                <a:srgbClr val="000000"/>
              </a:solidFill>
              <a:latin typeface="Segoe UI"/>
              <a:cs typeface="Segoe UI"/>
            </a:endParaRPr>
          </a:p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endParaRPr lang="en-US">
              <a:cs typeface="Segoe UI Semibold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B631260-4414-8BD7-7D94-0649FCA011D8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655277-DAAC-8361-D8F7-7212665B9AC8}"/>
              </a:ext>
            </a:extLst>
          </p:cNvPr>
          <p:cNvSpPr/>
          <p:nvPr/>
        </p:nvSpPr>
        <p:spPr>
          <a:xfrm>
            <a:off x="-1" y="6637811"/>
            <a:ext cx="12191695" cy="8425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CBAE7-60D7-F31F-E0B6-0809183DE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052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A99E8A-BA38-FA2D-C221-6D8B7FAC1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10087B-1F1F-2A7E-260B-1356BE39EBF4}"/>
              </a:ext>
            </a:extLst>
          </p:cNvPr>
          <p:cNvSpPr/>
          <p:nvPr/>
        </p:nvSpPr>
        <p:spPr>
          <a:xfrm>
            <a:off x="0" y="-633351"/>
            <a:ext cx="12191695" cy="1902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4D3138-9160-D014-3224-11D6459D3C9E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52981B-4C29-BC2A-3723-FB22E0226D09}"/>
              </a:ext>
            </a:extLst>
          </p:cNvPr>
          <p:cNvSpPr txBox="1"/>
          <p:nvPr/>
        </p:nvSpPr>
        <p:spPr>
          <a:xfrm>
            <a:off x="731520" y="182880"/>
            <a:ext cx="8229600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 sz="2600">
                <a:latin typeface="Segoe UI"/>
                <a:cs typeface="Segoe UI"/>
              </a:rPr>
              <a:t>Adaptive Edge Reliability (EMA)</a:t>
            </a:r>
            <a:endParaRPr lang="en-US" sz="2600">
              <a:solidFill>
                <a:srgbClr val="000000"/>
              </a:solidFill>
              <a:latin typeface="Segoe UI"/>
              <a:cs typeface="Segoe UI"/>
            </a:endParaRPr>
          </a:p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endParaRPr lang="en-US">
              <a:cs typeface="Segoe UI Semibold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E6B80E2-80E7-C105-D4C4-3FAD51C63549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6749DE-6C5D-D523-139B-5478248D2B58}"/>
              </a:ext>
            </a:extLst>
          </p:cNvPr>
          <p:cNvSpPr/>
          <p:nvPr/>
        </p:nvSpPr>
        <p:spPr>
          <a:xfrm>
            <a:off x="-1" y="6637811"/>
            <a:ext cx="12191695" cy="8425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105555CE-93E3-A2FC-3298-45ADF07A1D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5" r="-573" b="2668"/>
          <a:stretch>
            <a:fillRect/>
          </a:stretch>
        </p:blipFill>
        <p:spPr>
          <a:xfrm>
            <a:off x="920337" y="1251896"/>
            <a:ext cx="10042393" cy="541592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66860-934C-626A-611F-612864F6C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20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C1C47C-DD70-5132-B6EE-728D791F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675352B-D94D-606B-00C9-D476BB7A698E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DF05A-59EA-8A23-7BAF-23C4103CC369}"/>
              </a:ext>
            </a:extLst>
          </p:cNvPr>
          <p:cNvSpPr txBox="1"/>
          <p:nvPr/>
        </p:nvSpPr>
        <p:spPr>
          <a:xfrm>
            <a:off x="731520" y="182880"/>
            <a:ext cx="8229600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 sz="2600">
                <a:latin typeface="Segoe UI"/>
                <a:cs typeface="Segoe UI"/>
              </a:rPr>
              <a:t>Adaptive Edge Reliability (EMA)</a:t>
            </a:r>
            <a:endParaRPr lang="en-US" sz="2600">
              <a:solidFill>
                <a:srgbClr val="000000"/>
              </a:solidFill>
              <a:latin typeface="Segoe UI"/>
              <a:cs typeface="Segoe UI"/>
            </a:endParaRPr>
          </a:p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endParaRPr lang="en-US">
              <a:cs typeface="Segoe UI Semibold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46842DF-E537-660A-79FD-52D9F9C6F475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26264A-26BC-9E63-787E-C0D4BA5D57CB}"/>
              </a:ext>
            </a:extLst>
          </p:cNvPr>
          <p:cNvSpPr/>
          <p:nvPr/>
        </p:nvSpPr>
        <p:spPr>
          <a:xfrm>
            <a:off x="-1" y="6637811"/>
            <a:ext cx="12191695" cy="8425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 diagram of a process&#10;&#10;AI-generated content may be incorrect.">
            <a:extLst>
              <a:ext uri="{FF2B5EF4-FFF2-40B4-BE49-F238E27FC236}">
                <a16:creationId xmlns:a16="http://schemas.microsoft.com/office/drawing/2014/main" id="{EF49D273-E381-E778-E387-C7C7795A2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70" y="1078757"/>
            <a:ext cx="10758717" cy="599770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67DD5D-97A4-3F22-FC9C-E7B59DA40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946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FEA09C-9C29-95EF-2ADD-6966002B1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388347-2A28-0311-4CC1-675ED2F002F3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C947B-2BF5-8E3C-A657-1C94D6C5F188}"/>
              </a:ext>
            </a:extLst>
          </p:cNvPr>
          <p:cNvSpPr txBox="1"/>
          <p:nvPr/>
        </p:nvSpPr>
        <p:spPr>
          <a:xfrm>
            <a:off x="731520" y="182880"/>
            <a:ext cx="8229600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 sz="2600">
                <a:latin typeface="Segoe UI"/>
                <a:cs typeface="Segoe UI"/>
              </a:rPr>
              <a:t>Adaptive Edge Reliability (EMA)</a:t>
            </a:r>
            <a:endParaRPr lang="en-US" sz="2600">
              <a:solidFill>
                <a:srgbClr val="000000"/>
              </a:solidFill>
              <a:latin typeface="Segoe UI"/>
              <a:cs typeface="Segoe UI"/>
            </a:endParaRPr>
          </a:p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endParaRPr lang="en-US">
              <a:cs typeface="Segoe UI Semibold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261DC71-C3ED-A8AF-F6C4-A2A3726A1EAF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082156-BECE-F202-A524-F2B4520693DE}"/>
              </a:ext>
            </a:extLst>
          </p:cNvPr>
          <p:cNvSpPr/>
          <p:nvPr/>
        </p:nvSpPr>
        <p:spPr>
          <a:xfrm>
            <a:off x="-1" y="6637811"/>
            <a:ext cx="12191695" cy="8425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1EF2BF-32C7-4E63-C229-C678C513BB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7" t="20948" r="-139" b="2690"/>
          <a:stretch>
            <a:fillRect/>
          </a:stretch>
        </p:blipFill>
        <p:spPr>
          <a:xfrm>
            <a:off x="574425" y="1714407"/>
            <a:ext cx="10260941" cy="440645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CE457-B4BE-378B-D432-01823ECD5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4417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6366F1"/>
                </a:solidFill>
                <a:latin typeface="Segoe UI Light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Segoe UI Semibold"/>
              </a:defRPr>
            </a:pPr>
            <a:r>
              <a:t>Phase II: Total Order &amp;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"How do we guarantee every node sees messages in the same order?"</a:t>
            </a:r>
          </a:p>
        </p:txBody>
      </p:sp>
      <p:sp>
        <p:nvSpPr>
          <p:cNvPr id="6" name="Oval 5"/>
          <p:cNvSpPr/>
          <p:nvPr/>
        </p:nvSpPr>
        <p:spPr>
          <a:xfrm>
            <a:off x="9985248" y="5870448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351008" y="5870448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16768" y="587044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82528" y="587044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448288" y="587044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814048" y="5870448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3221470-0B0C-8603-ECB8-BB20A9D63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1436D1-3441-0A65-518D-DB1342B93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BF5220-18EA-D6AC-D1C4-1397BD13D947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259843-E02C-18B9-A6DA-8DA283D026C8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CDB193-EE9E-ACE6-3ED9-0DC35B9EAB3C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/>
              <a:t>Lamport Clocks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846AAF7-F51F-3CB1-8F1C-92B94A80CC01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1311CC0-77B3-C0BB-BB60-2C2FEAF4AEA0}"/>
              </a:ext>
            </a:extLst>
          </p:cNvPr>
          <p:cNvSpPr/>
          <p:nvPr/>
        </p:nvSpPr>
        <p:spPr>
          <a:xfrm>
            <a:off x="5459435" y="3821426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BF5B6E80-6C6A-1FA0-0F92-54BA1FCB6488}"/>
              </a:ext>
            </a:extLst>
          </p:cNvPr>
          <p:cNvSpPr/>
          <p:nvPr/>
        </p:nvSpPr>
        <p:spPr>
          <a:xfrm rot="16200000">
            <a:off x="4161594" y="3275970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392170E-593C-E759-B09A-681D690F43C2}"/>
              </a:ext>
            </a:extLst>
          </p:cNvPr>
          <p:cNvSpPr/>
          <p:nvPr/>
        </p:nvSpPr>
        <p:spPr>
          <a:xfrm rot="5400000">
            <a:off x="7506549" y="3275970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23">
            <a:extLst>
              <a:ext uri="{FF2B5EF4-FFF2-40B4-BE49-F238E27FC236}">
                <a16:creationId xmlns:a16="http://schemas.microsoft.com/office/drawing/2014/main" id="{D2043074-C9B0-7B20-2761-CB48B354A1F0}"/>
              </a:ext>
            </a:extLst>
          </p:cNvPr>
          <p:cNvSpPr/>
          <p:nvPr/>
        </p:nvSpPr>
        <p:spPr>
          <a:xfrm>
            <a:off x="1677185" y="3984177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25" name="Rounded Rectangle 23">
            <a:extLst>
              <a:ext uri="{FF2B5EF4-FFF2-40B4-BE49-F238E27FC236}">
                <a16:creationId xmlns:a16="http://schemas.microsoft.com/office/drawing/2014/main" id="{916373F1-19BF-192D-94A3-2D89DEDA98BC}"/>
              </a:ext>
            </a:extLst>
          </p:cNvPr>
          <p:cNvSpPr/>
          <p:nvPr/>
        </p:nvSpPr>
        <p:spPr>
          <a:xfrm>
            <a:off x="9151508" y="3984177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FCA33F-27EF-1458-EF97-88127EF5DCE0}"/>
              </a:ext>
            </a:extLst>
          </p:cNvPr>
          <p:cNvSpPr txBox="1"/>
          <p:nvPr/>
        </p:nvSpPr>
        <p:spPr>
          <a:xfrm>
            <a:off x="608308" y="4108059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30, A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F0375E-5BF4-43EB-5F05-C6A1B4F07374}"/>
              </a:ext>
            </a:extLst>
          </p:cNvPr>
          <p:cNvSpPr txBox="1"/>
          <p:nvPr/>
        </p:nvSpPr>
        <p:spPr>
          <a:xfrm>
            <a:off x="8082632" y="4108059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31, C</a:t>
            </a:r>
            <a:endParaRPr lang="en-US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AA7BBF54-64B4-BA83-4BA2-1DEB9F4C2BB3}"/>
              </a:ext>
            </a:extLst>
          </p:cNvPr>
          <p:cNvSpPr/>
          <p:nvPr/>
        </p:nvSpPr>
        <p:spPr>
          <a:xfrm>
            <a:off x="5882228" y="2840487"/>
            <a:ext cx="260516" cy="984012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23">
            <a:extLst>
              <a:ext uri="{FF2B5EF4-FFF2-40B4-BE49-F238E27FC236}">
                <a16:creationId xmlns:a16="http://schemas.microsoft.com/office/drawing/2014/main" id="{5F0A023A-31A3-0E2B-684B-14853982DBB4}"/>
              </a:ext>
            </a:extLst>
          </p:cNvPr>
          <p:cNvSpPr/>
          <p:nvPr/>
        </p:nvSpPr>
        <p:spPr>
          <a:xfrm>
            <a:off x="5386332" y="1838251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2BE2DBB-56A6-237B-DBE5-8951BCC43EB8}"/>
              </a:ext>
            </a:extLst>
          </p:cNvPr>
          <p:cNvSpPr txBox="1"/>
          <p:nvPr/>
        </p:nvSpPr>
        <p:spPr>
          <a:xfrm>
            <a:off x="4317455" y="1962133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31, B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84371-24D3-5BB6-C186-2EF1B09CA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81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5E3E36-AC69-135F-6DB0-29770B32A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11F097-DEDA-4A51-1E3C-4963642A2BDE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46F5A6-F59D-E38E-2A21-CA61CBA0601D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2421B-888F-B68B-8C2B-EC973A01653F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/>
              <a:t>Lamport Clocks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B97434C-7997-BEFD-2F34-754D7FEC77A0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F4A319D-718C-E13C-B207-1A3606F832A7}"/>
              </a:ext>
            </a:extLst>
          </p:cNvPr>
          <p:cNvSpPr/>
          <p:nvPr/>
        </p:nvSpPr>
        <p:spPr>
          <a:xfrm>
            <a:off x="5459435" y="3821426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B56A78DD-0478-2E65-2E59-7186F0BA8413}"/>
              </a:ext>
            </a:extLst>
          </p:cNvPr>
          <p:cNvSpPr/>
          <p:nvPr/>
        </p:nvSpPr>
        <p:spPr>
          <a:xfrm rot="16200000">
            <a:off x="4161594" y="3275970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27520D08-8E1B-DFAD-0B6C-4C5891526EE3}"/>
              </a:ext>
            </a:extLst>
          </p:cNvPr>
          <p:cNvSpPr/>
          <p:nvPr/>
        </p:nvSpPr>
        <p:spPr>
          <a:xfrm rot="5400000">
            <a:off x="7506549" y="3275970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23">
            <a:extLst>
              <a:ext uri="{FF2B5EF4-FFF2-40B4-BE49-F238E27FC236}">
                <a16:creationId xmlns:a16="http://schemas.microsoft.com/office/drawing/2014/main" id="{C2F34AE4-1E8E-63A4-C38F-670CCBBB4086}"/>
              </a:ext>
            </a:extLst>
          </p:cNvPr>
          <p:cNvSpPr/>
          <p:nvPr/>
        </p:nvSpPr>
        <p:spPr>
          <a:xfrm>
            <a:off x="1677185" y="3984177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25" name="Rounded Rectangle 23">
            <a:extLst>
              <a:ext uri="{FF2B5EF4-FFF2-40B4-BE49-F238E27FC236}">
                <a16:creationId xmlns:a16="http://schemas.microsoft.com/office/drawing/2014/main" id="{CD5D2E31-056C-74C8-CCEE-9A7CF6870EBE}"/>
              </a:ext>
            </a:extLst>
          </p:cNvPr>
          <p:cNvSpPr/>
          <p:nvPr/>
        </p:nvSpPr>
        <p:spPr>
          <a:xfrm>
            <a:off x="9151508" y="3984177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68209F-5E68-28E8-93C7-4599553873D6}"/>
              </a:ext>
            </a:extLst>
          </p:cNvPr>
          <p:cNvSpPr txBox="1"/>
          <p:nvPr/>
        </p:nvSpPr>
        <p:spPr>
          <a:xfrm>
            <a:off x="608308" y="4108059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30, A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655CBFA-EE9A-C1D3-C469-106AE144317A}"/>
              </a:ext>
            </a:extLst>
          </p:cNvPr>
          <p:cNvSpPr txBox="1"/>
          <p:nvPr/>
        </p:nvSpPr>
        <p:spPr>
          <a:xfrm>
            <a:off x="8082632" y="4108059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31, C</a:t>
            </a:r>
            <a:endParaRPr lang="en-US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1F6ACCB0-25EB-6708-709A-30E776E77201}"/>
              </a:ext>
            </a:extLst>
          </p:cNvPr>
          <p:cNvSpPr/>
          <p:nvPr/>
        </p:nvSpPr>
        <p:spPr>
          <a:xfrm>
            <a:off x="5882228" y="2840487"/>
            <a:ext cx="260516" cy="984012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23">
            <a:extLst>
              <a:ext uri="{FF2B5EF4-FFF2-40B4-BE49-F238E27FC236}">
                <a16:creationId xmlns:a16="http://schemas.microsoft.com/office/drawing/2014/main" id="{3D2E9497-DD47-222F-2A0F-62467EC85649}"/>
              </a:ext>
            </a:extLst>
          </p:cNvPr>
          <p:cNvSpPr/>
          <p:nvPr/>
        </p:nvSpPr>
        <p:spPr>
          <a:xfrm>
            <a:off x="5386332" y="1838251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738F3B-3DF4-6409-BA68-165AFE09732C}"/>
              </a:ext>
            </a:extLst>
          </p:cNvPr>
          <p:cNvSpPr txBox="1"/>
          <p:nvPr/>
        </p:nvSpPr>
        <p:spPr>
          <a:xfrm>
            <a:off x="4317455" y="1962133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31, B</a:t>
            </a:r>
            <a:endParaRPr lang="en-US"/>
          </a:p>
        </p:txBody>
      </p:sp>
      <p:pic>
        <p:nvPicPr>
          <p:cNvPr id="6" name="Picture 5" descr="True Icons - Free SVG &amp; PNG True Images - Noun Project">
            <a:extLst>
              <a:ext uri="{FF2B5EF4-FFF2-40B4-BE49-F238E27FC236}">
                <a16:creationId xmlns:a16="http://schemas.microsoft.com/office/drawing/2014/main" id="{EF5393AD-1B15-6DAB-7746-5202902B1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997" y="3651997"/>
            <a:ext cx="624168" cy="66339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EF5E6-96F4-43EE-9446-3F7245ABC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575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087A9-B15E-4DD0-8D27-343D3963E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4D97C8-2D16-0785-6754-AC3F913D49B8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00C2CA-39BD-407C-87BC-29982C063B43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979F8F-947D-E8AF-433D-DA2589A51078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/>
              <a:t>Lamport Clocks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224A9C7-8B08-3023-2BE4-C546731145AE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20EE39F-45FA-DFB4-AC31-0B88B4C24BAB}"/>
              </a:ext>
            </a:extLst>
          </p:cNvPr>
          <p:cNvSpPr/>
          <p:nvPr/>
        </p:nvSpPr>
        <p:spPr>
          <a:xfrm>
            <a:off x="5459435" y="3821426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AC85B720-A7DE-7252-1630-3069CDF738CF}"/>
              </a:ext>
            </a:extLst>
          </p:cNvPr>
          <p:cNvSpPr/>
          <p:nvPr/>
        </p:nvSpPr>
        <p:spPr>
          <a:xfrm rot="16200000">
            <a:off x="4161594" y="3275970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9271BD5-C2FB-7479-49DE-9360C4EAECEE}"/>
              </a:ext>
            </a:extLst>
          </p:cNvPr>
          <p:cNvSpPr/>
          <p:nvPr/>
        </p:nvSpPr>
        <p:spPr>
          <a:xfrm rot="5400000">
            <a:off x="7506549" y="3275970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23">
            <a:extLst>
              <a:ext uri="{FF2B5EF4-FFF2-40B4-BE49-F238E27FC236}">
                <a16:creationId xmlns:a16="http://schemas.microsoft.com/office/drawing/2014/main" id="{9DF95047-0600-0062-09E0-FD6A1251785E}"/>
              </a:ext>
            </a:extLst>
          </p:cNvPr>
          <p:cNvSpPr/>
          <p:nvPr/>
        </p:nvSpPr>
        <p:spPr>
          <a:xfrm>
            <a:off x="1677185" y="3984177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25" name="Rounded Rectangle 23">
            <a:extLst>
              <a:ext uri="{FF2B5EF4-FFF2-40B4-BE49-F238E27FC236}">
                <a16:creationId xmlns:a16="http://schemas.microsoft.com/office/drawing/2014/main" id="{C8965C38-F71F-E553-3461-07471DD1388C}"/>
              </a:ext>
            </a:extLst>
          </p:cNvPr>
          <p:cNvSpPr/>
          <p:nvPr/>
        </p:nvSpPr>
        <p:spPr>
          <a:xfrm>
            <a:off x="9151508" y="3984177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179792-6FAA-327A-FFE4-D95E6432EDAC}"/>
              </a:ext>
            </a:extLst>
          </p:cNvPr>
          <p:cNvSpPr txBox="1"/>
          <p:nvPr/>
        </p:nvSpPr>
        <p:spPr>
          <a:xfrm>
            <a:off x="608308" y="4108059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30, A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BE98B1-26EA-E78A-1145-7BB631BCB1A1}"/>
              </a:ext>
            </a:extLst>
          </p:cNvPr>
          <p:cNvSpPr txBox="1"/>
          <p:nvPr/>
        </p:nvSpPr>
        <p:spPr>
          <a:xfrm>
            <a:off x="8082632" y="4108059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31, C</a:t>
            </a:r>
            <a:endParaRPr lang="en-US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7A9B46E0-8A90-2C29-EA15-3C76C8D630FE}"/>
              </a:ext>
            </a:extLst>
          </p:cNvPr>
          <p:cNvSpPr/>
          <p:nvPr/>
        </p:nvSpPr>
        <p:spPr>
          <a:xfrm>
            <a:off x="5882228" y="2840487"/>
            <a:ext cx="260516" cy="984012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23">
            <a:extLst>
              <a:ext uri="{FF2B5EF4-FFF2-40B4-BE49-F238E27FC236}">
                <a16:creationId xmlns:a16="http://schemas.microsoft.com/office/drawing/2014/main" id="{2A9A20C8-087E-9B09-A08C-F942B7DFF79F}"/>
              </a:ext>
            </a:extLst>
          </p:cNvPr>
          <p:cNvSpPr/>
          <p:nvPr/>
        </p:nvSpPr>
        <p:spPr>
          <a:xfrm>
            <a:off x="5386332" y="1838251"/>
            <a:ext cx="1285911" cy="7791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BF01A7-4CC7-739F-FAA9-EC8A0A227C7D}"/>
              </a:ext>
            </a:extLst>
          </p:cNvPr>
          <p:cNvSpPr txBox="1"/>
          <p:nvPr/>
        </p:nvSpPr>
        <p:spPr>
          <a:xfrm>
            <a:off x="4317455" y="1934118"/>
            <a:ext cx="342637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latin typeface="Segoe UI Semibold"/>
                <a:ea typeface="Calibri"/>
                <a:cs typeface="Segoe UI Semibold"/>
              </a:rPr>
              <a:t>31, B</a:t>
            </a:r>
            <a:endParaRPr lang="en-US" sz="3200">
              <a:ea typeface="Calibri"/>
              <a:cs typeface="Calibri"/>
            </a:endParaRPr>
          </a:p>
        </p:txBody>
      </p:sp>
      <p:pic>
        <p:nvPicPr>
          <p:cNvPr id="7" name="Picture 6" descr="True Icons - Free SVG &amp; PNG True Images - Noun Project">
            <a:extLst>
              <a:ext uri="{FF2B5EF4-FFF2-40B4-BE49-F238E27FC236}">
                <a16:creationId xmlns:a16="http://schemas.microsoft.com/office/drawing/2014/main" id="{59AA7E7D-3CAB-483C-EF2C-E06DEB786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997" y="3651997"/>
            <a:ext cx="624168" cy="66339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37BA6-FF8D-9C92-69DE-8FDF42150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28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235223-4C75-B08B-C15B-0EEF395D0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32DB6D-01B9-7657-AD75-C238A9B458B0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15029E-00CB-30E3-B3D0-3F0340AB1662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AD2EBC-A0AE-2AD9-8FAC-93202ECB0D13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/>
              <a:t>Lamport Clocks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20ACC60-8E9B-E87D-54E5-D3AD0239563A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58B38CD-BC15-633C-4BC1-0914669B086C}"/>
              </a:ext>
            </a:extLst>
          </p:cNvPr>
          <p:cNvSpPr/>
          <p:nvPr/>
        </p:nvSpPr>
        <p:spPr>
          <a:xfrm>
            <a:off x="5459435" y="3821426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66DC4325-2BBC-993A-C670-C8CCC20D6B63}"/>
              </a:ext>
            </a:extLst>
          </p:cNvPr>
          <p:cNvSpPr/>
          <p:nvPr/>
        </p:nvSpPr>
        <p:spPr>
          <a:xfrm rot="16200000">
            <a:off x="4161594" y="3275970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9559B370-751C-71B1-E642-DD9F886ED69F}"/>
              </a:ext>
            </a:extLst>
          </p:cNvPr>
          <p:cNvSpPr/>
          <p:nvPr/>
        </p:nvSpPr>
        <p:spPr>
          <a:xfrm rot="5400000">
            <a:off x="7506549" y="3275970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23">
            <a:extLst>
              <a:ext uri="{FF2B5EF4-FFF2-40B4-BE49-F238E27FC236}">
                <a16:creationId xmlns:a16="http://schemas.microsoft.com/office/drawing/2014/main" id="{483A7EE1-A3CD-352E-CB71-A3C141EF5038}"/>
              </a:ext>
            </a:extLst>
          </p:cNvPr>
          <p:cNvSpPr/>
          <p:nvPr/>
        </p:nvSpPr>
        <p:spPr>
          <a:xfrm>
            <a:off x="1677185" y="3984177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25" name="Rounded Rectangle 23">
            <a:extLst>
              <a:ext uri="{FF2B5EF4-FFF2-40B4-BE49-F238E27FC236}">
                <a16:creationId xmlns:a16="http://schemas.microsoft.com/office/drawing/2014/main" id="{A7D5D1E1-2044-5A5D-71D6-0BBD443CA67A}"/>
              </a:ext>
            </a:extLst>
          </p:cNvPr>
          <p:cNvSpPr/>
          <p:nvPr/>
        </p:nvSpPr>
        <p:spPr>
          <a:xfrm>
            <a:off x="9151508" y="3984177"/>
            <a:ext cx="1285911" cy="7791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45F203-FBF0-F6BF-6F0A-425F7DF57D98}"/>
              </a:ext>
            </a:extLst>
          </p:cNvPr>
          <p:cNvSpPr txBox="1"/>
          <p:nvPr/>
        </p:nvSpPr>
        <p:spPr>
          <a:xfrm>
            <a:off x="608308" y="4108059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30, A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DE13FF-5D0B-6D55-8EB4-808557389215}"/>
              </a:ext>
            </a:extLst>
          </p:cNvPr>
          <p:cNvSpPr txBox="1"/>
          <p:nvPr/>
        </p:nvSpPr>
        <p:spPr>
          <a:xfrm>
            <a:off x="8082632" y="4108059"/>
            <a:ext cx="342637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latin typeface="Segoe UI Semibold"/>
                <a:ea typeface="Calibri"/>
                <a:cs typeface="Segoe UI Semibold"/>
              </a:rPr>
              <a:t>31, C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3E87A80B-A8E9-BBFD-86AE-4C11825E2AEB}"/>
              </a:ext>
            </a:extLst>
          </p:cNvPr>
          <p:cNvSpPr/>
          <p:nvPr/>
        </p:nvSpPr>
        <p:spPr>
          <a:xfrm>
            <a:off x="5882228" y="2840487"/>
            <a:ext cx="260516" cy="984012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23">
            <a:extLst>
              <a:ext uri="{FF2B5EF4-FFF2-40B4-BE49-F238E27FC236}">
                <a16:creationId xmlns:a16="http://schemas.microsoft.com/office/drawing/2014/main" id="{84DE340D-7300-81F7-93C1-7485F9F0D9EE}"/>
              </a:ext>
            </a:extLst>
          </p:cNvPr>
          <p:cNvSpPr/>
          <p:nvPr/>
        </p:nvSpPr>
        <p:spPr>
          <a:xfrm>
            <a:off x="5386332" y="1838251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2DB1BE-5440-E848-11A6-38D046118CCC}"/>
              </a:ext>
            </a:extLst>
          </p:cNvPr>
          <p:cNvSpPr txBox="1"/>
          <p:nvPr/>
        </p:nvSpPr>
        <p:spPr>
          <a:xfrm>
            <a:off x="4317455" y="1934118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31, B</a:t>
            </a:r>
            <a:endParaRPr lang="en-US" sz="2800">
              <a:ea typeface="Calibri"/>
              <a:cs typeface="Calibri"/>
            </a:endParaRPr>
          </a:p>
        </p:txBody>
      </p:sp>
      <p:pic>
        <p:nvPicPr>
          <p:cNvPr id="7" name="Picture 6" descr="True Icons - Free SVG &amp; PNG True Images - Noun Project">
            <a:extLst>
              <a:ext uri="{FF2B5EF4-FFF2-40B4-BE49-F238E27FC236}">
                <a16:creationId xmlns:a16="http://schemas.microsoft.com/office/drawing/2014/main" id="{4B74AB8D-8F46-8BD1-D8E7-B4F9F2CEA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997" y="3651997"/>
            <a:ext cx="624168" cy="66339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038EA-A6A9-A371-0BB4-94217814D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994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7A45D4-B46E-DA29-4A49-02976E86B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20680D-B96A-427B-C3EA-1934020085DC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5E6848-A438-B6A7-D605-6B033F1468F8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AE114B-3785-69B8-EA48-B367B347B834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/>
              <a:t>Lamport Clocks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FAF8C52-C67B-A189-9311-9BC086090ADA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5B9126F-ECC7-4F03-90B1-D2406E99B6F4}"/>
              </a:ext>
            </a:extLst>
          </p:cNvPr>
          <p:cNvSpPr/>
          <p:nvPr/>
        </p:nvSpPr>
        <p:spPr>
          <a:xfrm>
            <a:off x="5459435" y="3821426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9099472D-A8EF-DFE0-FC83-00018701EB6E}"/>
              </a:ext>
            </a:extLst>
          </p:cNvPr>
          <p:cNvSpPr/>
          <p:nvPr/>
        </p:nvSpPr>
        <p:spPr>
          <a:xfrm rot="16200000">
            <a:off x="4161594" y="3275970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59C400A4-0D00-220D-60DA-3E739366DA8D}"/>
              </a:ext>
            </a:extLst>
          </p:cNvPr>
          <p:cNvSpPr/>
          <p:nvPr/>
        </p:nvSpPr>
        <p:spPr>
          <a:xfrm rot="5400000">
            <a:off x="7506549" y="3275970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23">
            <a:extLst>
              <a:ext uri="{FF2B5EF4-FFF2-40B4-BE49-F238E27FC236}">
                <a16:creationId xmlns:a16="http://schemas.microsoft.com/office/drawing/2014/main" id="{F28F214F-A97A-0724-7199-D8E442854792}"/>
              </a:ext>
            </a:extLst>
          </p:cNvPr>
          <p:cNvSpPr/>
          <p:nvPr/>
        </p:nvSpPr>
        <p:spPr>
          <a:xfrm>
            <a:off x="1677185" y="3984177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25" name="Rounded Rectangle 23">
            <a:extLst>
              <a:ext uri="{FF2B5EF4-FFF2-40B4-BE49-F238E27FC236}">
                <a16:creationId xmlns:a16="http://schemas.microsoft.com/office/drawing/2014/main" id="{E12F1657-78D1-23E6-2858-77869B62DF90}"/>
              </a:ext>
            </a:extLst>
          </p:cNvPr>
          <p:cNvSpPr/>
          <p:nvPr/>
        </p:nvSpPr>
        <p:spPr>
          <a:xfrm>
            <a:off x="9151508" y="3984177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18FD50-C8CB-DC87-AA31-919784CCEDC0}"/>
              </a:ext>
            </a:extLst>
          </p:cNvPr>
          <p:cNvSpPr txBox="1"/>
          <p:nvPr/>
        </p:nvSpPr>
        <p:spPr>
          <a:xfrm>
            <a:off x="608308" y="4108059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30, A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DD186F-EF65-758E-FD4A-E54A324D1936}"/>
              </a:ext>
            </a:extLst>
          </p:cNvPr>
          <p:cNvSpPr txBox="1"/>
          <p:nvPr/>
        </p:nvSpPr>
        <p:spPr>
          <a:xfrm>
            <a:off x="8082632" y="4108059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31, C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0FB6A46E-DBEA-01F9-3178-C803F48AEA74}"/>
              </a:ext>
            </a:extLst>
          </p:cNvPr>
          <p:cNvSpPr/>
          <p:nvPr/>
        </p:nvSpPr>
        <p:spPr>
          <a:xfrm>
            <a:off x="5882228" y="2840487"/>
            <a:ext cx="260516" cy="984012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23">
            <a:extLst>
              <a:ext uri="{FF2B5EF4-FFF2-40B4-BE49-F238E27FC236}">
                <a16:creationId xmlns:a16="http://schemas.microsoft.com/office/drawing/2014/main" id="{DC49294F-43FB-AC18-9B3E-A05D49941D64}"/>
              </a:ext>
            </a:extLst>
          </p:cNvPr>
          <p:cNvSpPr/>
          <p:nvPr/>
        </p:nvSpPr>
        <p:spPr>
          <a:xfrm>
            <a:off x="5386332" y="1838251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8F8E0D-558B-706B-F9BA-4FD3C36C4AD9}"/>
              </a:ext>
            </a:extLst>
          </p:cNvPr>
          <p:cNvSpPr txBox="1"/>
          <p:nvPr/>
        </p:nvSpPr>
        <p:spPr>
          <a:xfrm>
            <a:off x="4317455" y="1934118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31, B</a:t>
            </a:r>
            <a:endParaRPr lang="en-US" sz="2800">
              <a:ea typeface="Calibri"/>
              <a:cs typeface="Calibri"/>
            </a:endParaRPr>
          </a:p>
        </p:txBody>
      </p:sp>
      <p:pic>
        <p:nvPicPr>
          <p:cNvPr id="6" name="Picture 5" descr="Clock Icons - Free SVG &amp; PNG Clock Images - Noun Project">
            <a:extLst>
              <a:ext uri="{FF2B5EF4-FFF2-40B4-BE49-F238E27FC236}">
                <a16:creationId xmlns:a16="http://schemas.microsoft.com/office/drawing/2014/main" id="{45A481DE-6B1F-71F5-361F-D188D727A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300" y="4372881"/>
            <a:ext cx="713123" cy="729930"/>
          </a:xfrm>
          <a:prstGeom prst="rect">
            <a:avLst/>
          </a:prstGeom>
        </p:spPr>
      </p:pic>
      <p:pic>
        <p:nvPicPr>
          <p:cNvPr id="8" name="Picture 7" descr="True Icons - Free SVG &amp; PNG True Images - Noun Project">
            <a:extLst>
              <a:ext uri="{FF2B5EF4-FFF2-40B4-BE49-F238E27FC236}">
                <a16:creationId xmlns:a16="http://schemas.microsoft.com/office/drawing/2014/main" id="{98219F79-FCBF-E0BF-1A29-74979C1BB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997" y="3651997"/>
            <a:ext cx="624168" cy="663390"/>
          </a:xfrm>
          <a:prstGeom prst="rect">
            <a:avLst/>
          </a:prstGeom>
        </p:spPr>
      </p:pic>
      <p:sp>
        <p:nvSpPr>
          <p:cNvPr id="10" name="Rounded Rectangle 23">
            <a:extLst>
              <a:ext uri="{FF2B5EF4-FFF2-40B4-BE49-F238E27FC236}">
                <a16:creationId xmlns:a16="http://schemas.microsoft.com/office/drawing/2014/main" id="{C5798147-2D17-5ADE-0363-B31DB03A39D4}"/>
              </a:ext>
            </a:extLst>
          </p:cNvPr>
          <p:cNvSpPr/>
          <p:nvPr/>
        </p:nvSpPr>
        <p:spPr>
          <a:xfrm>
            <a:off x="1629559" y="1964877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251F66-C677-3D9B-F3AB-865D276BF992}"/>
              </a:ext>
            </a:extLst>
          </p:cNvPr>
          <p:cNvSpPr txBox="1"/>
          <p:nvPr/>
        </p:nvSpPr>
        <p:spPr>
          <a:xfrm>
            <a:off x="2731475" y="7411693"/>
            <a:ext cx="659623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>
                <a:latin typeface="Segoe UI Semibold"/>
                <a:ea typeface="Calibri"/>
                <a:cs typeface="Segoe UI Semibold"/>
              </a:rPr>
              <a:t>This will cause a problem!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C679C4-0CF5-FFED-001B-2190C0509CDB}"/>
              </a:ext>
            </a:extLst>
          </p:cNvPr>
          <p:cNvSpPr txBox="1"/>
          <p:nvPr/>
        </p:nvSpPr>
        <p:spPr>
          <a:xfrm>
            <a:off x="560683" y="2088758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30, E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D69774-DC4E-36EC-1327-AF41ECBAD4C1}"/>
              </a:ext>
            </a:extLst>
          </p:cNvPr>
          <p:cNvSpPr txBox="1"/>
          <p:nvPr/>
        </p:nvSpPr>
        <p:spPr>
          <a:xfrm>
            <a:off x="1683716" y="2742509"/>
            <a:ext cx="32688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late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15039-59AB-702C-A313-EAE71EFD5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19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B7F3BA-9844-4354-D0AA-70981DD43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44FD75-E223-9A58-4293-1124E529953C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88C4C5-E7BF-FB74-8149-D047808C1FFB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4BFB20-9C3F-C666-3473-DC55A85A43BC}"/>
              </a:ext>
            </a:extLst>
          </p:cNvPr>
          <p:cNvSpPr txBox="1"/>
          <p:nvPr/>
        </p:nvSpPr>
        <p:spPr>
          <a:xfrm>
            <a:off x="558992" y="326654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/>
              <a:t>Lamport Clocks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B859A73-408E-16E4-75B6-3032A6032070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364B6B2-0F70-0FF7-4FFD-F3099C27DE3B}"/>
              </a:ext>
            </a:extLst>
          </p:cNvPr>
          <p:cNvSpPr/>
          <p:nvPr/>
        </p:nvSpPr>
        <p:spPr>
          <a:xfrm>
            <a:off x="5442626" y="3294750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BD4A5742-B688-E4A2-2266-873D20F7D715}"/>
              </a:ext>
            </a:extLst>
          </p:cNvPr>
          <p:cNvSpPr/>
          <p:nvPr/>
        </p:nvSpPr>
        <p:spPr>
          <a:xfrm rot="16200000">
            <a:off x="4144785" y="2749294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A1246303-DE5B-AFB4-DEDA-8747211A2D05}"/>
              </a:ext>
            </a:extLst>
          </p:cNvPr>
          <p:cNvSpPr/>
          <p:nvPr/>
        </p:nvSpPr>
        <p:spPr>
          <a:xfrm rot="5400000">
            <a:off x="7489740" y="2749294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23">
            <a:extLst>
              <a:ext uri="{FF2B5EF4-FFF2-40B4-BE49-F238E27FC236}">
                <a16:creationId xmlns:a16="http://schemas.microsoft.com/office/drawing/2014/main" id="{B7EB835E-0E1E-CDFB-75BA-578C8918C6A9}"/>
              </a:ext>
            </a:extLst>
          </p:cNvPr>
          <p:cNvSpPr/>
          <p:nvPr/>
        </p:nvSpPr>
        <p:spPr>
          <a:xfrm>
            <a:off x="1660376" y="3457501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25" name="Rounded Rectangle 23">
            <a:extLst>
              <a:ext uri="{FF2B5EF4-FFF2-40B4-BE49-F238E27FC236}">
                <a16:creationId xmlns:a16="http://schemas.microsoft.com/office/drawing/2014/main" id="{6F8583EA-F265-54BA-354C-73DC5B6864BB}"/>
              </a:ext>
            </a:extLst>
          </p:cNvPr>
          <p:cNvSpPr/>
          <p:nvPr/>
        </p:nvSpPr>
        <p:spPr>
          <a:xfrm>
            <a:off x="9134699" y="3457501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1FE48B-76F6-91B2-1052-B3C226B3CBBF}"/>
              </a:ext>
            </a:extLst>
          </p:cNvPr>
          <p:cNvSpPr txBox="1"/>
          <p:nvPr/>
        </p:nvSpPr>
        <p:spPr>
          <a:xfrm>
            <a:off x="591499" y="3581383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30, A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89A704-2772-BF81-A64A-559790E7B1DF}"/>
              </a:ext>
            </a:extLst>
          </p:cNvPr>
          <p:cNvSpPr txBox="1"/>
          <p:nvPr/>
        </p:nvSpPr>
        <p:spPr>
          <a:xfrm>
            <a:off x="8065823" y="3581383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31, C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8B4F6D8E-BEB7-A25A-6FB0-431AE79FCB37}"/>
              </a:ext>
            </a:extLst>
          </p:cNvPr>
          <p:cNvSpPr/>
          <p:nvPr/>
        </p:nvSpPr>
        <p:spPr>
          <a:xfrm>
            <a:off x="5865419" y="2313811"/>
            <a:ext cx="260516" cy="984012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23">
            <a:extLst>
              <a:ext uri="{FF2B5EF4-FFF2-40B4-BE49-F238E27FC236}">
                <a16:creationId xmlns:a16="http://schemas.microsoft.com/office/drawing/2014/main" id="{F6270249-4086-9D1E-BBE1-96A9CA312306}"/>
              </a:ext>
            </a:extLst>
          </p:cNvPr>
          <p:cNvSpPr/>
          <p:nvPr/>
        </p:nvSpPr>
        <p:spPr>
          <a:xfrm>
            <a:off x="5369523" y="1311575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1A1F9D-D68F-AA1E-80D3-07534182B21A}"/>
              </a:ext>
            </a:extLst>
          </p:cNvPr>
          <p:cNvSpPr txBox="1"/>
          <p:nvPr/>
        </p:nvSpPr>
        <p:spPr>
          <a:xfrm>
            <a:off x="4300646" y="1407442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31, B</a:t>
            </a:r>
            <a:endParaRPr lang="en-US" sz="2800">
              <a:ea typeface="Calibri"/>
              <a:cs typeface="Calibri"/>
            </a:endParaRPr>
          </a:p>
        </p:txBody>
      </p:sp>
      <p:pic>
        <p:nvPicPr>
          <p:cNvPr id="6" name="Picture 5" descr="Clock Icons - Free SVG &amp; PNG Clock Images - Noun Project">
            <a:extLst>
              <a:ext uri="{FF2B5EF4-FFF2-40B4-BE49-F238E27FC236}">
                <a16:creationId xmlns:a16="http://schemas.microsoft.com/office/drawing/2014/main" id="{83533A61-BEFE-871D-E51A-B6C454220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41" y="4008130"/>
            <a:ext cx="713123" cy="729930"/>
          </a:xfrm>
          <a:prstGeom prst="rect">
            <a:avLst/>
          </a:prstGeom>
        </p:spPr>
      </p:pic>
      <p:pic>
        <p:nvPicPr>
          <p:cNvPr id="8" name="Picture 7" descr="True Icons - Free SVG &amp; PNG True Images - Noun Project">
            <a:extLst>
              <a:ext uri="{FF2B5EF4-FFF2-40B4-BE49-F238E27FC236}">
                <a16:creationId xmlns:a16="http://schemas.microsoft.com/office/drawing/2014/main" id="{D8EFD06D-CC89-1ABA-818E-95082B238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188" y="3125321"/>
            <a:ext cx="624168" cy="6633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A5FA6-2AC9-72FC-4B5D-5E917CC0A5EC}"/>
              </a:ext>
            </a:extLst>
          </p:cNvPr>
          <p:cNvSpPr txBox="1"/>
          <p:nvPr/>
        </p:nvSpPr>
        <p:spPr>
          <a:xfrm>
            <a:off x="2051647" y="5429613"/>
            <a:ext cx="788525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>
                <a:latin typeface="Segoe UI Semibold"/>
                <a:ea typeface="Calibri"/>
                <a:cs typeface="Segoe UI Semibold"/>
              </a:rPr>
              <a:t>This will cause a problem!</a:t>
            </a:r>
          </a:p>
          <a:p>
            <a:pPr algn="ctr"/>
            <a:endParaRPr lang="en-US" sz="4000">
              <a:latin typeface="Segoe UI Semibold"/>
              <a:ea typeface="Calibri"/>
              <a:cs typeface="Segoe UI Semibold"/>
            </a:endParaRPr>
          </a:p>
        </p:txBody>
      </p:sp>
      <p:sp>
        <p:nvSpPr>
          <p:cNvPr id="10" name="Rounded Rectangle 23">
            <a:extLst>
              <a:ext uri="{FF2B5EF4-FFF2-40B4-BE49-F238E27FC236}">
                <a16:creationId xmlns:a16="http://schemas.microsoft.com/office/drawing/2014/main" id="{1E859F03-E83E-66D8-C4CA-B7985D14D853}"/>
              </a:ext>
            </a:extLst>
          </p:cNvPr>
          <p:cNvSpPr/>
          <p:nvPr/>
        </p:nvSpPr>
        <p:spPr>
          <a:xfrm>
            <a:off x="1629559" y="1964877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DD5C05-B0D8-563D-A294-6C2CEABA937A}"/>
              </a:ext>
            </a:extLst>
          </p:cNvPr>
          <p:cNvSpPr txBox="1"/>
          <p:nvPr/>
        </p:nvSpPr>
        <p:spPr>
          <a:xfrm>
            <a:off x="560683" y="2088758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30, E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162DCF-5166-D114-6716-6A11ADAC81AD}"/>
              </a:ext>
            </a:extLst>
          </p:cNvPr>
          <p:cNvSpPr txBox="1"/>
          <p:nvPr/>
        </p:nvSpPr>
        <p:spPr>
          <a:xfrm>
            <a:off x="1683716" y="2742509"/>
            <a:ext cx="32688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late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0A2436-A191-4FF0-DFF1-53A5C2C54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40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Data 2">
            <a:extLst>
              <a:ext uri="{FF2B5EF4-FFF2-40B4-BE49-F238E27FC236}">
                <a16:creationId xmlns:a16="http://schemas.microsoft.com/office/drawing/2014/main" id="{C38DF09C-0525-9CD4-C337-3232A8EF9EF1}"/>
              </a:ext>
            </a:extLst>
          </p:cNvPr>
          <p:cNvSpPr/>
          <p:nvPr/>
        </p:nvSpPr>
        <p:spPr>
          <a:xfrm>
            <a:off x="5152464" y="4534795"/>
            <a:ext cx="5361295" cy="74912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Data 4">
            <a:extLst>
              <a:ext uri="{FF2B5EF4-FFF2-40B4-BE49-F238E27FC236}">
                <a16:creationId xmlns:a16="http://schemas.microsoft.com/office/drawing/2014/main" id="{C1826345-5CB7-18BB-9351-226D604AC2E3}"/>
              </a:ext>
            </a:extLst>
          </p:cNvPr>
          <p:cNvSpPr/>
          <p:nvPr/>
        </p:nvSpPr>
        <p:spPr>
          <a:xfrm>
            <a:off x="6210165" y="3113152"/>
            <a:ext cx="3814549" cy="521662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6D09DB3-FB1E-79DB-074C-C67039FD141F}"/>
              </a:ext>
            </a:extLst>
          </p:cNvPr>
          <p:cNvCxnSpPr/>
          <p:nvPr/>
        </p:nvCxnSpPr>
        <p:spPr>
          <a:xfrm>
            <a:off x="6686415" y="4746437"/>
            <a:ext cx="641446" cy="95535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D0C2F-8DAD-B3C2-39BF-FDB7BB2074B3}"/>
              </a:ext>
            </a:extLst>
          </p:cNvPr>
          <p:cNvCxnSpPr>
            <a:cxnSpLocks/>
          </p:cNvCxnSpPr>
          <p:nvPr/>
        </p:nvCxnSpPr>
        <p:spPr>
          <a:xfrm flipV="1">
            <a:off x="7334682" y="4705494"/>
            <a:ext cx="1414819" cy="200167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CC22A4-3519-5D57-473F-51B00A45EDCA}"/>
              </a:ext>
            </a:extLst>
          </p:cNvPr>
          <p:cNvCxnSpPr>
            <a:cxnSpLocks/>
          </p:cNvCxnSpPr>
          <p:nvPr/>
        </p:nvCxnSpPr>
        <p:spPr>
          <a:xfrm>
            <a:off x="7334681" y="4928407"/>
            <a:ext cx="777924" cy="15239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5D9F30-DDC1-52F0-514F-7120FF411CD6}"/>
              </a:ext>
            </a:extLst>
          </p:cNvPr>
          <p:cNvCxnSpPr>
            <a:cxnSpLocks/>
          </p:cNvCxnSpPr>
          <p:nvPr/>
        </p:nvCxnSpPr>
        <p:spPr>
          <a:xfrm flipH="1">
            <a:off x="8146724" y="3290675"/>
            <a:ext cx="18194" cy="175601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A827800-E8F5-CBEC-BA5C-1613FCBFFFE3}"/>
              </a:ext>
            </a:extLst>
          </p:cNvPr>
          <p:cNvCxnSpPr>
            <a:cxnSpLocks/>
          </p:cNvCxnSpPr>
          <p:nvPr/>
        </p:nvCxnSpPr>
        <p:spPr>
          <a:xfrm flipH="1">
            <a:off x="6702336" y="3393032"/>
            <a:ext cx="609597" cy="12783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5E3216-B79C-6C8F-4CEE-584A6C9A232E}"/>
              </a:ext>
            </a:extLst>
          </p:cNvPr>
          <p:cNvCxnSpPr>
            <a:cxnSpLocks/>
          </p:cNvCxnSpPr>
          <p:nvPr/>
        </p:nvCxnSpPr>
        <p:spPr>
          <a:xfrm flipH="1">
            <a:off x="7339231" y="3302046"/>
            <a:ext cx="802940" cy="15740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F99C3764-6C5F-DB3D-819E-94D8B5E1822A}"/>
              </a:ext>
            </a:extLst>
          </p:cNvPr>
          <p:cNvSpPr/>
          <p:nvPr/>
        </p:nvSpPr>
        <p:spPr>
          <a:xfrm>
            <a:off x="7164086" y="4700945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6B63425-1481-03A4-2F0A-6C31D07CF806}"/>
              </a:ext>
            </a:extLst>
          </p:cNvPr>
          <p:cNvSpPr/>
          <p:nvPr/>
        </p:nvSpPr>
        <p:spPr>
          <a:xfrm>
            <a:off x="7937459" y="4882913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6EBB17B-DE79-FEB7-BE75-4819352DC904}"/>
              </a:ext>
            </a:extLst>
          </p:cNvPr>
          <p:cNvCxnSpPr>
            <a:cxnSpLocks/>
          </p:cNvCxnSpPr>
          <p:nvPr/>
        </p:nvCxnSpPr>
        <p:spPr>
          <a:xfrm flipV="1">
            <a:off x="7334679" y="3352086"/>
            <a:ext cx="777925" cy="2957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447E2DC-1A61-4F44-995B-81AD5ADD622B}"/>
              </a:ext>
            </a:extLst>
          </p:cNvPr>
          <p:cNvCxnSpPr>
            <a:cxnSpLocks/>
          </p:cNvCxnSpPr>
          <p:nvPr/>
        </p:nvCxnSpPr>
        <p:spPr>
          <a:xfrm>
            <a:off x="8119424" y="3347539"/>
            <a:ext cx="630075" cy="6141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B87EA442-E01D-8169-58C0-DCBC7E61AB71}"/>
              </a:ext>
            </a:extLst>
          </p:cNvPr>
          <p:cNvSpPr/>
          <p:nvPr/>
        </p:nvSpPr>
        <p:spPr>
          <a:xfrm>
            <a:off x="6504445" y="4553094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lowchart: Data 28">
            <a:extLst>
              <a:ext uri="{FF2B5EF4-FFF2-40B4-BE49-F238E27FC236}">
                <a16:creationId xmlns:a16="http://schemas.microsoft.com/office/drawing/2014/main" id="{48DBEB02-BBF6-BA84-F0DA-AFD6031F3605}"/>
              </a:ext>
            </a:extLst>
          </p:cNvPr>
          <p:cNvSpPr/>
          <p:nvPr/>
        </p:nvSpPr>
        <p:spPr>
          <a:xfrm>
            <a:off x="7518075" y="2032703"/>
            <a:ext cx="1539922" cy="20321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2C01B83-6DB7-FCD0-529D-1FC3B5F028C9}"/>
              </a:ext>
            </a:extLst>
          </p:cNvPr>
          <p:cNvCxnSpPr>
            <a:cxnSpLocks/>
          </p:cNvCxnSpPr>
          <p:nvPr/>
        </p:nvCxnSpPr>
        <p:spPr>
          <a:xfrm flipH="1">
            <a:off x="8772244" y="3256551"/>
            <a:ext cx="473119" cy="15239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5B1D9E28-B053-2DBC-EC3F-9E7F12A54CCF}"/>
              </a:ext>
            </a:extLst>
          </p:cNvPr>
          <p:cNvSpPr/>
          <p:nvPr/>
        </p:nvSpPr>
        <p:spPr>
          <a:xfrm>
            <a:off x="7164086" y="3199690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9F5135A-6B13-0AFA-8BFF-65130EEF77D0}"/>
              </a:ext>
            </a:extLst>
          </p:cNvPr>
          <p:cNvSpPr/>
          <p:nvPr/>
        </p:nvSpPr>
        <p:spPr>
          <a:xfrm>
            <a:off x="7937458" y="310870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F968864-9511-B997-CECE-C245A3871910}"/>
              </a:ext>
            </a:extLst>
          </p:cNvPr>
          <p:cNvSpPr/>
          <p:nvPr/>
        </p:nvSpPr>
        <p:spPr>
          <a:xfrm>
            <a:off x="8085308" y="1880405"/>
            <a:ext cx="357117" cy="34574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69841CB-E8FD-38F0-B300-EEB0B5E0DE7F}"/>
              </a:ext>
            </a:extLst>
          </p:cNvPr>
          <p:cNvSpPr/>
          <p:nvPr/>
        </p:nvSpPr>
        <p:spPr>
          <a:xfrm>
            <a:off x="9086144" y="307458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9788FF4-417F-4F05-A1B2-7D1C28404F19}"/>
              </a:ext>
            </a:extLst>
          </p:cNvPr>
          <p:cNvCxnSpPr>
            <a:cxnSpLocks/>
          </p:cNvCxnSpPr>
          <p:nvPr/>
        </p:nvCxnSpPr>
        <p:spPr>
          <a:xfrm>
            <a:off x="8744946" y="3449898"/>
            <a:ext cx="27299" cy="12783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4930F9CF-5426-6E26-CADC-C099D246770E}"/>
              </a:ext>
            </a:extLst>
          </p:cNvPr>
          <p:cNvSpPr/>
          <p:nvPr/>
        </p:nvSpPr>
        <p:spPr>
          <a:xfrm>
            <a:off x="8574355" y="4530347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A639D65-FC55-D08B-711C-3A5E450D2B82}"/>
              </a:ext>
            </a:extLst>
          </p:cNvPr>
          <p:cNvSpPr/>
          <p:nvPr/>
        </p:nvSpPr>
        <p:spPr>
          <a:xfrm>
            <a:off x="8574354" y="3279301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0E79D82-B17D-FF6F-DCCE-2C481165A695}"/>
              </a:ext>
            </a:extLst>
          </p:cNvPr>
          <p:cNvCxnSpPr/>
          <p:nvPr/>
        </p:nvCxnSpPr>
        <p:spPr>
          <a:xfrm flipH="1">
            <a:off x="7415842" y="2195424"/>
            <a:ext cx="810883" cy="101504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0CBEE26-8259-3C04-2072-C2BEC046A9D9}"/>
              </a:ext>
            </a:extLst>
          </p:cNvPr>
          <p:cNvCxnSpPr>
            <a:cxnSpLocks/>
          </p:cNvCxnSpPr>
          <p:nvPr/>
        </p:nvCxnSpPr>
        <p:spPr>
          <a:xfrm flipH="1">
            <a:off x="8134708" y="2252932"/>
            <a:ext cx="149526" cy="85689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2730D5B8-FA07-A9EA-71BF-0E1AB049FEEB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2A69E8C-53C9-CFB0-4311-F7F6EE324B26}"/>
              </a:ext>
            </a:extLst>
          </p:cNvPr>
          <p:cNvSpPr/>
          <p:nvPr/>
        </p:nvSpPr>
        <p:spPr>
          <a:xfrm>
            <a:off x="0" y="761425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AADC694-C891-C8C3-423A-217BD79F6921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/>
              <a:t>Our System</a:t>
            </a:r>
          </a:p>
        </p:txBody>
      </p:sp>
      <p:sp>
        <p:nvSpPr>
          <p:cNvPr id="67" name="Rounded Rectangle 4">
            <a:extLst>
              <a:ext uri="{FF2B5EF4-FFF2-40B4-BE49-F238E27FC236}">
                <a16:creationId xmlns:a16="http://schemas.microsoft.com/office/drawing/2014/main" id="{5B8063D5-44D3-8F3D-4BF1-D5A9CE216320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</a:t>
            </a:r>
            <a:r>
              <a:rPr lang="en-US"/>
              <a:t>II</a:t>
            </a:r>
            <a:endParaRPr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10DF55C-FE9A-9749-395F-72E46C3B194A}"/>
              </a:ext>
            </a:extLst>
          </p:cNvPr>
          <p:cNvSpPr/>
          <p:nvPr/>
        </p:nvSpPr>
        <p:spPr>
          <a:xfrm>
            <a:off x="3050875" y="1778479"/>
            <a:ext cx="1518249" cy="813759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223D3A92-8F28-667F-9BB7-726C0958061C}"/>
              </a:ext>
            </a:extLst>
          </p:cNvPr>
          <p:cNvSpPr/>
          <p:nvPr/>
        </p:nvSpPr>
        <p:spPr>
          <a:xfrm>
            <a:off x="1871931" y="3086818"/>
            <a:ext cx="1518249" cy="81375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3768259D-BCA5-E8C7-9F9F-C64FF1B3F7DC}"/>
              </a:ext>
            </a:extLst>
          </p:cNvPr>
          <p:cNvSpPr/>
          <p:nvPr/>
        </p:nvSpPr>
        <p:spPr>
          <a:xfrm>
            <a:off x="1210572" y="4495800"/>
            <a:ext cx="1518249" cy="81375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26FB8FC-27A6-2861-E0F8-4076BBC69725}"/>
              </a:ext>
            </a:extLst>
          </p:cNvPr>
          <p:cNvSpPr txBox="1"/>
          <p:nvPr/>
        </p:nvSpPr>
        <p:spPr>
          <a:xfrm>
            <a:off x="3169323" y="2014677"/>
            <a:ext cx="19512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Sequencer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8CD537A-803A-311F-F48E-49422F4AB9AF}"/>
              </a:ext>
            </a:extLst>
          </p:cNvPr>
          <p:cNvSpPr txBox="1"/>
          <p:nvPr/>
        </p:nvSpPr>
        <p:spPr>
          <a:xfrm>
            <a:off x="2076642" y="3308638"/>
            <a:ext cx="19512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Cores</a:t>
            </a:r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2A817DA-B605-3B99-713C-C1588017DA2B}"/>
              </a:ext>
            </a:extLst>
          </p:cNvPr>
          <p:cNvSpPr txBox="1"/>
          <p:nvPr/>
        </p:nvSpPr>
        <p:spPr>
          <a:xfrm>
            <a:off x="1357776" y="4703244"/>
            <a:ext cx="19512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Nodes</a:t>
            </a:r>
          </a:p>
        </p:txBody>
      </p:sp>
      <p:cxnSp>
        <p:nvCxnSpPr>
          <p:cNvPr id="77" name="Connector: Curved 76">
            <a:extLst>
              <a:ext uri="{FF2B5EF4-FFF2-40B4-BE49-F238E27FC236}">
                <a16:creationId xmlns:a16="http://schemas.microsoft.com/office/drawing/2014/main" id="{EBE30CE3-ABA2-B8B9-367C-DF14940F54BB}"/>
              </a:ext>
            </a:extLst>
          </p:cNvPr>
          <p:cNvCxnSpPr/>
          <p:nvPr/>
        </p:nvCxnSpPr>
        <p:spPr>
          <a:xfrm flipV="1">
            <a:off x="4571282" y="1179663"/>
            <a:ext cx="698740" cy="83963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B2699E15-5FF0-E8E7-4AA7-4203A9FDC13F}"/>
              </a:ext>
            </a:extLst>
          </p:cNvPr>
          <p:cNvSpPr txBox="1"/>
          <p:nvPr/>
        </p:nvSpPr>
        <p:spPr>
          <a:xfrm>
            <a:off x="5330123" y="880422"/>
            <a:ext cx="20939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Full + Absolute source of truth</a:t>
            </a:r>
            <a:endParaRPr lang="en-US"/>
          </a:p>
        </p:txBody>
      </p:sp>
      <p:cxnSp>
        <p:nvCxnSpPr>
          <p:cNvPr id="79" name="Connector: Curved 78">
            <a:extLst>
              <a:ext uri="{FF2B5EF4-FFF2-40B4-BE49-F238E27FC236}">
                <a16:creationId xmlns:a16="http://schemas.microsoft.com/office/drawing/2014/main" id="{DB1987CE-1ACD-39C1-84CC-716C5CBE7C38}"/>
              </a:ext>
            </a:extLst>
          </p:cNvPr>
          <p:cNvCxnSpPr>
            <a:cxnSpLocks/>
          </p:cNvCxnSpPr>
          <p:nvPr/>
        </p:nvCxnSpPr>
        <p:spPr>
          <a:xfrm flipV="1">
            <a:off x="3392338" y="2976831"/>
            <a:ext cx="684363" cy="35080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4" name="Picture 3" descr="Database Icons - Free SVG &amp; PNG Database Images - Noun Project">
            <a:extLst>
              <a:ext uri="{FF2B5EF4-FFF2-40B4-BE49-F238E27FC236}">
                <a16:creationId xmlns:a16="http://schemas.microsoft.com/office/drawing/2014/main" id="{D430ED34-4CE3-0D5D-8088-6DE78F61E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822" y="2225446"/>
            <a:ext cx="646824" cy="644942"/>
          </a:xfrm>
          <a:prstGeom prst="rect">
            <a:avLst/>
          </a:prstGeom>
        </p:spPr>
      </p:pic>
      <p:pic>
        <p:nvPicPr>
          <p:cNvPr id="6" name="Picture 5" descr="Database Icons - Free SVG &amp; PNG Database Images - Noun Project">
            <a:extLst>
              <a:ext uri="{FF2B5EF4-FFF2-40B4-BE49-F238E27FC236}">
                <a16:creationId xmlns:a16="http://schemas.microsoft.com/office/drawing/2014/main" id="{45EBD754-00A3-E51C-71F9-FD4074E91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228" y="3549958"/>
            <a:ext cx="661202" cy="6305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53823A-D06B-9785-CEAE-C8FFBDB695E3}"/>
              </a:ext>
            </a:extLst>
          </p:cNvPr>
          <p:cNvSpPr txBox="1"/>
          <p:nvPr/>
        </p:nvSpPr>
        <p:spPr>
          <a:xfrm>
            <a:off x="4025198" y="2824241"/>
            <a:ext cx="248450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Are up to date with the new messages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273CDB-A32D-50DA-6B0A-7179B145BA8D}"/>
              </a:ext>
            </a:extLst>
          </p:cNvPr>
          <p:cNvSpPr txBox="1"/>
          <p:nvPr/>
        </p:nvSpPr>
        <p:spPr>
          <a:xfrm>
            <a:off x="3241991" y="4268806"/>
            <a:ext cx="26464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Need to catch up</a:t>
            </a:r>
          </a:p>
        </p:txBody>
      </p:sp>
      <p:pic>
        <p:nvPicPr>
          <p:cNvPr id="80" name="Picture 79" descr="Database Icons - Free SVG &amp; PNG Database Images - Noun Project">
            <a:extLst>
              <a:ext uri="{FF2B5EF4-FFF2-40B4-BE49-F238E27FC236}">
                <a16:creationId xmlns:a16="http://schemas.microsoft.com/office/drawing/2014/main" id="{7C596C09-2BF9-36E5-48AF-42869555D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020" y="5045203"/>
            <a:ext cx="661202" cy="630565"/>
          </a:xfrm>
          <a:prstGeom prst="rect">
            <a:avLst/>
          </a:prstGeom>
        </p:spPr>
      </p:pic>
      <p:cxnSp>
        <p:nvCxnSpPr>
          <p:cNvPr id="81" name="Connector: Curved 80">
            <a:extLst>
              <a:ext uri="{FF2B5EF4-FFF2-40B4-BE49-F238E27FC236}">
                <a16:creationId xmlns:a16="http://schemas.microsoft.com/office/drawing/2014/main" id="{8D53BE99-5343-93F1-3FF1-934D0BBA4230}"/>
              </a:ext>
            </a:extLst>
          </p:cNvPr>
          <p:cNvCxnSpPr>
            <a:cxnSpLocks/>
          </p:cNvCxnSpPr>
          <p:nvPr/>
        </p:nvCxnSpPr>
        <p:spPr>
          <a:xfrm flipV="1">
            <a:off x="2702224" y="4644604"/>
            <a:ext cx="684363" cy="35080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1B51B1-D586-691C-F829-1D923E4B2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028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740F8-935C-153D-386E-CFFD06BFF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65A43805-954F-32F7-8241-73BED6224B63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EE6156E-65AF-EF9D-CDE9-EAAE630FC4E1}"/>
              </a:ext>
            </a:extLst>
          </p:cNvPr>
          <p:cNvSpPr/>
          <p:nvPr/>
        </p:nvSpPr>
        <p:spPr>
          <a:xfrm>
            <a:off x="0" y="761425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55E1A1-6881-9528-0DFD-9F6045617194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>
                <a:cs typeface="Segoe UI Semibold"/>
              </a:rPr>
              <a:t>How it works</a:t>
            </a:r>
          </a:p>
        </p:txBody>
      </p:sp>
      <p:sp>
        <p:nvSpPr>
          <p:cNvPr id="67" name="Rounded Rectangle 4">
            <a:extLst>
              <a:ext uri="{FF2B5EF4-FFF2-40B4-BE49-F238E27FC236}">
                <a16:creationId xmlns:a16="http://schemas.microsoft.com/office/drawing/2014/main" id="{6EA9B3E0-D5D4-93A2-6FA1-6C82E3B595C1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</a:t>
            </a:r>
            <a:r>
              <a:rPr lang="en-US"/>
              <a:t>II</a:t>
            </a:r>
            <a:endParaRPr/>
          </a:p>
        </p:txBody>
      </p:sp>
      <p:pic>
        <p:nvPicPr>
          <p:cNvPr id="16" name="gossip (online-video-cutter.com) (3)">
            <a:hlinkClick r:id="" action="ppaction://media"/>
            <a:extLst>
              <a:ext uri="{FF2B5EF4-FFF2-40B4-BE49-F238E27FC236}">
                <a16:creationId xmlns:a16="http://schemas.microsoft.com/office/drawing/2014/main" id="{28D62CDC-BC83-7762-FDD5-D3C6F9F6D82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25676" y="1239762"/>
            <a:ext cx="9753600" cy="5080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582026-2A2B-B75F-7B38-B068EFA7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1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D546B943-776D-37EC-E920-8F021F3A067E}"/>
              </a:ext>
            </a:extLst>
          </p:cNvPr>
          <p:cNvSpPr/>
          <p:nvPr/>
        </p:nvSpPr>
        <p:spPr>
          <a:xfrm>
            <a:off x="4862646" y="2701581"/>
            <a:ext cx="1308265" cy="1251495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4F05B6-1291-970E-BE18-85A4086A2120}"/>
              </a:ext>
            </a:extLst>
          </p:cNvPr>
          <p:cNvSpPr/>
          <p:nvPr/>
        </p:nvSpPr>
        <p:spPr>
          <a:xfrm>
            <a:off x="7765751" y="2527290"/>
            <a:ext cx="1308265" cy="1251495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 sz="800">
              <a:cs typeface="Segoe UI"/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C9FD5B64-071A-C2AA-8335-1F8E9129F882}"/>
              </a:ext>
            </a:extLst>
          </p:cNvPr>
          <p:cNvSpPr/>
          <p:nvPr/>
        </p:nvSpPr>
        <p:spPr>
          <a:xfrm>
            <a:off x="5035384" y="776714"/>
            <a:ext cx="2541817" cy="1535740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6C9910-4734-B71B-D464-CD9232771B5D}"/>
              </a:ext>
            </a:extLst>
          </p:cNvPr>
          <p:cNvSpPr txBox="1"/>
          <p:nvPr/>
        </p:nvSpPr>
        <p:spPr>
          <a:xfrm>
            <a:off x="5179275" y="1067794"/>
            <a:ext cx="2350423" cy="11790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Hello dear sequencer, can I become a core node , I am confident I have what </a:t>
            </a:r>
            <a:r>
              <a:rPr lang="en-US" err="1">
                <a:ea typeface="Calibri"/>
                <a:cs typeface="Calibri"/>
              </a:rPr>
              <a:t>i</a:t>
            </a:r>
            <a:r>
              <a:rPr lang="en-US">
                <a:ea typeface="Calibri"/>
                <a:cs typeface="Calibri"/>
              </a:rPr>
              <a:t>s needed. </a:t>
            </a:r>
            <a:endParaRPr lang="en-US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5DA7CC1F-16F4-9642-795E-6E6F6426C2C8}"/>
              </a:ext>
            </a:extLst>
          </p:cNvPr>
          <p:cNvSpPr/>
          <p:nvPr/>
        </p:nvSpPr>
        <p:spPr>
          <a:xfrm>
            <a:off x="8426209" y="879122"/>
            <a:ext cx="2284956" cy="1546553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65FD3C-37E4-D373-B6E7-495E619E6022}"/>
              </a:ext>
            </a:extLst>
          </p:cNvPr>
          <p:cNvSpPr txBox="1"/>
          <p:nvPr/>
        </p:nvSpPr>
        <p:spPr>
          <a:xfrm>
            <a:off x="8582965" y="1064475"/>
            <a:ext cx="2067082" cy="11790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Hello node , no your sequence number is too low to be a core node. 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99C6D4-7EFD-C2D0-221A-6E1B07711DD6}"/>
              </a:ext>
            </a:extLst>
          </p:cNvPr>
          <p:cNvSpPr txBox="1"/>
          <p:nvPr/>
        </p:nvSpPr>
        <p:spPr>
          <a:xfrm>
            <a:off x="3421393" y="3113140"/>
            <a:ext cx="1634980" cy="3627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seq:32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D36CC1-3CF4-949B-1D16-204B29E2D14E}"/>
              </a:ext>
            </a:extLst>
          </p:cNvPr>
          <p:cNvSpPr txBox="1"/>
          <p:nvPr/>
        </p:nvSpPr>
        <p:spPr>
          <a:xfrm>
            <a:off x="9290621" y="2904147"/>
            <a:ext cx="1634980" cy="3627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 44</a:t>
            </a:r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CF9DC73-63BD-BB7F-ECB9-F1AA3B1225B0}"/>
              </a:ext>
            </a:extLst>
          </p:cNvPr>
          <p:cNvSpPr/>
          <p:nvPr/>
        </p:nvSpPr>
        <p:spPr>
          <a:xfrm>
            <a:off x="4884188" y="8219088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20F8CE6-F616-7985-6A45-8BACD35AA1FD}"/>
              </a:ext>
            </a:extLst>
          </p:cNvPr>
          <p:cNvSpPr/>
          <p:nvPr/>
        </p:nvSpPr>
        <p:spPr>
          <a:xfrm>
            <a:off x="7946463" y="8124675"/>
            <a:ext cx="1274064" cy="1274064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36CA0FEA-3CFF-9CC6-B1A5-30C7B728CC27}"/>
              </a:ext>
            </a:extLst>
          </p:cNvPr>
          <p:cNvSpPr/>
          <p:nvPr/>
        </p:nvSpPr>
        <p:spPr>
          <a:xfrm>
            <a:off x="4858144" y="7253599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C96BFC-BC61-0FB5-5183-51AF84CF804E}"/>
              </a:ext>
            </a:extLst>
          </p:cNvPr>
          <p:cNvSpPr txBox="1"/>
          <p:nvPr/>
        </p:nvSpPr>
        <p:spPr>
          <a:xfrm>
            <a:off x="4983897" y="7435766"/>
            <a:ext cx="22889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What about now :)))</a:t>
            </a:r>
            <a:endParaRPr lang="en-US"/>
          </a:p>
        </p:txBody>
      </p:sp>
      <p:sp>
        <p:nvSpPr>
          <p:cNvPr id="26" name="Speech Bubble: Rectangle with Corners Rounded 25">
            <a:extLst>
              <a:ext uri="{FF2B5EF4-FFF2-40B4-BE49-F238E27FC236}">
                <a16:creationId xmlns:a16="http://schemas.microsoft.com/office/drawing/2014/main" id="{C35045C7-069E-F334-F759-FB4DEE85F32D}"/>
              </a:ext>
            </a:extLst>
          </p:cNvPr>
          <p:cNvSpPr/>
          <p:nvPr/>
        </p:nvSpPr>
        <p:spPr>
          <a:xfrm>
            <a:off x="7840590" y="7478501"/>
            <a:ext cx="2547255" cy="549147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DB69B1-D735-B300-3E73-97FC2BA5D3B8}"/>
              </a:ext>
            </a:extLst>
          </p:cNvPr>
          <p:cNvSpPr txBox="1"/>
          <p:nvPr/>
        </p:nvSpPr>
        <p:spPr>
          <a:xfrm>
            <a:off x="8105258" y="7637922"/>
            <a:ext cx="20130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Good job !</a:t>
            </a:r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ABDEFD-0E6D-42D6-1499-28847F05BD42}"/>
              </a:ext>
            </a:extLst>
          </p:cNvPr>
          <p:cNvSpPr txBox="1"/>
          <p:nvPr/>
        </p:nvSpPr>
        <p:spPr>
          <a:xfrm>
            <a:off x="3671113" y="8374997"/>
            <a:ext cx="15922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seq:54</a:t>
            </a:r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9CA1F5-066D-8D83-C8BE-03E1009E2EA2}"/>
              </a:ext>
            </a:extLst>
          </p:cNvPr>
          <p:cNvSpPr txBox="1"/>
          <p:nvPr/>
        </p:nvSpPr>
        <p:spPr>
          <a:xfrm>
            <a:off x="9474771" y="8581754"/>
            <a:ext cx="15922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 54</a:t>
            </a:r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0440ED1-19FF-6331-5970-4029A6B46436}"/>
              </a:ext>
            </a:extLst>
          </p:cNvPr>
          <p:cNvSpPr/>
          <p:nvPr/>
        </p:nvSpPr>
        <p:spPr>
          <a:xfrm>
            <a:off x="1052792" y="8305692"/>
            <a:ext cx="1274064" cy="1274064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D7F73BC7-9302-2CB0-306A-69072DA06375}"/>
              </a:ext>
            </a:extLst>
          </p:cNvPr>
          <p:cNvSpPr/>
          <p:nvPr/>
        </p:nvSpPr>
        <p:spPr>
          <a:xfrm>
            <a:off x="945105" y="7294848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05BEE6-9CCC-25A2-F165-7BF858717283}"/>
              </a:ext>
            </a:extLst>
          </p:cNvPr>
          <p:cNvSpPr txBox="1"/>
          <p:nvPr/>
        </p:nvSpPr>
        <p:spPr>
          <a:xfrm>
            <a:off x="1188787" y="7404443"/>
            <a:ext cx="22889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ea typeface="Calibri"/>
                <a:cs typeface="Calibri"/>
              </a:rPr>
              <a:t>YaY</a:t>
            </a:r>
            <a:r>
              <a:rPr lang="en-US">
                <a:ea typeface="Calibri"/>
                <a:cs typeface="Calibri"/>
              </a:rPr>
              <a:t> I am a core node now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1CE06D-401E-1B56-A6DA-10E969926952}"/>
              </a:ext>
            </a:extLst>
          </p:cNvPr>
          <p:cNvSpPr txBox="1"/>
          <p:nvPr/>
        </p:nvSpPr>
        <p:spPr>
          <a:xfrm>
            <a:off x="5036209" y="3149248"/>
            <a:ext cx="1076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1E5F8C6-E166-A09E-CA8A-778A6ABD50D4}"/>
              </a:ext>
            </a:extLst>
          </p:cNvPr>
          <p:cNvSpPr txBox="1"/>
          <p:nvPr/>
        </p:nvSpPr>
        <p:spPr>
          <a:xfrm>
            <a:off x="1052311" y="8760013"/>
            <a:ext cx="1047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FAD069-DCA9-21BD-2009-FFA4F37DF57A}"/>
              </a:ext>
            </a:extLst>
          </p:cNvPr>
          <p:cNvSpPr txBox="1"/>
          <p:nvPr/>
        </p:nvSpPr>
        <p:spPr>
          <a:xfrm>
            <a:off x="5074206" y="8673406"/>
            <a:ext cx="1047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125F116-73C1-B9D4-98C5-1BD9B6BB0999}"/>
              </a:ext>
            </a:extLst>
          </p:cNvPr>
          <p:cNvSpPr/>
          <p:nvPr/>
        </p:nvSpPr>
        <p:spPr>
          <a:xfrm>
            <a:off x="-2707058" y="2626295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E8041C-36E3-B69B-4854-BC8FFF2407A9}"/>
              </a:ext>
            </a:extLst>
          </p:cNvPr>
          <p:cNvSpPr txBox="1"/>
          <p:nvPr/>
        </p:nvSpPr>
        <p:spPr>
          <a:xfrm>
            <a:off x="-2488284" y="3051857"/>
            <a:ext cx="1047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41" name="Speech Bubble: Rectangle with Corners Rounded 40">
            <a:extLst>
              <a:ext uri="{FF2B5EF4-FFF2-40B4-BE49-F238E27FC236}">
                <a16:creationId xmlns:a16="http://schemas.microsoft.com/office/drawing/2014/main" id="{D186C5EA-81CD-BECE-9D20-22CBA56E5BB2}"/>
              </a:ext>
            </a:extLst>
          </p:cNvPr>
          <p:cNvSpPr/>
          <p:nvPr/>
        </p:nvSpPr>
        <p:spPr>
          <a:xfrm>
            <a:off x="-3008669" y="1428885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5F5B7E-96BB-0D61-3C45-A65AA3400BD0}"/>
              </a:ext>
            </a:extLst>
          </p:cNvPr>
          <p:cNvSpPr txBox="1"/>
          <p:nvPr/>
        </p:nvSpPr>
        <p:spPr>
          <a:xfrm>
            <a:off x="-2764987" y="1538479"/>
            <a:ext cx="22889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I will try next time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EEEE5D-1017-BDE5-9A68-274117DA74FA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92E187-668C-2545-FDC1-3C78D07C98EC}"/>
              </a:ext>
            </a:extLst>
          </p:cNvPr>
          <p:cNvSpPr/>
          <p:nvPr/>
        </p:nvSpPr>
        <p:spPr>
          <a:xfrm>
            <a:off x="0" y="761425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1D38E0-D70E-C419-41AB-F8B1C787A1CA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/>
              <a:t>Core Joining and Leaving</a:t>
            </a:r>
          </a:p>
        </p:txBody>
      </p:sp>
      <p:sp>
        <p:nvSpPr>
          <p:cNvPr id="17" name="Rounded Rectangle 4">
            <a:extLst>
              <a:ext uri="{FF2B5EF4-FFF2-40B4-BE49-F238E27FC236}">
                <a16:creationId xmlns:a16="http://schemas.microsoft.com/office/drawing/2014/main" id="{F20630C4-D0EB-5331-92FB-6946E9BF3AD7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1994CC-86E9-F455-EFB3-DACD14F0C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38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66E1F-90F2-AA2C-7EE9-8A6DA12C8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D48A6E2E-E22C-9525-4DD1-C75D520E230B}"/>
              </a:ext>
            </a:extLst>
          </p:cNvPr>
          <p:cNvSpPr/>
          <p:nvPr/>
        </p:nvSpPr>
        <p:spPr>
          <a:xfrm>
            <a:off x="1383325" y="2342147"/>
            <a:ext cx="1308265" cy="1251495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9ADAE29-4B29-459D-05DC-24F09E32F715}"/>
              </a:ext>
            </a:extLst>
          </p:cNvPr>
          <p:cNvSpPr/>
          <p:nvPr/>
        </p:nvSpPr>
        <p:spPr>
          <a:xfrm>
            <a:off x="7765751" y="2613554"/>
            <a:ext cx="1308265" cy="1251495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 sz="800">
              <a:cs typeface="Segoe UI"/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9FC3AF8C-11CE-BED6-724B-D80283A7AA83}"/>
              </a:ext>
            </a:extLst>
          </p:cNvPr>
          <p:cNvSpPr/>
          <p:nvPr/>
        </p:nvSpPr>
        <p:spPr>
          <a:xfrm>
            <a:off x="4618441" y="-2055626"/>
            <a:ext cx="2541817" cy="1535740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B9FC8A-5A12-574F-D79E-1D45A03364CC}"/>
              </a:ext>
            </a:extLst>
          </p:cNvPr>
          <p:cNvSpPr txBox="1"/>
          <p:nvPr/>
        </p:nvSpPr>
        <p:spPr>
          <a:xfrm>
            <a:off x="4819841" y="-1893942"/>
            <a:ext cx="2350423" cy="11790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Hello dear sequencer, can I become a core node , I am confident I have what </a:t>
            </a:r>
            <a:r>
              <a:rPr lang="en-US" err="1">
                <a:ea typeface="Calibri"/>
                <a:cs typeface="Calibri"/>
              </a:rPr>
              <a:t>i</a:t>
            </a:r>
            <a:r>
              <a:rPr lang="en-US">
                <a:ea typeface="Calibri"/>
                <a:cs typeface="Calibri"/>
              </a:rPr>
              <a:t>s needed. </a:t>
            </a:r>
            <a:endParaRPr lang="en-US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8F744BD2-851B-A3F2-6CCD-1CE44D6751E9}"/>
              </a:ext>
            </a:extLst>
          </p:cNvPr>
          <p:cNvSpPr/>
          <p:nvPr/>
        </p:nvSpPr>
        <p:spPr>
          <a:xfrm>
            <a:off x="8311191" y="792858"/>
            <a:ext cx="2615634" cy="1733457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5CE153-8780-A14D-1648-7A5D17104A55}"/>
              </a:ext>
            </a:extLst>
          </p:cNvPr>
          <p:cNvSpPr txBox="1"/>
          <p:nvPr/>
        </p:nvSpPr>
        <p:spPr>
          <a:xfrm>
            <a:off x="8582965" y="949456"/>
            <a:ext cx="2067082" cy="11790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Hello node , no your sequence number is too low to be a core node. 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941277-F1DF-C827-5832-4E24980078B0}"/>
              </a:ext>
            </a:extLst>
          </p:cNvPr>
          <p:cNvSpPr txBox="1"/>
          <p:nvPr/>
        </p:nvSpPr>
        <p:spPr>
          <a:xfrm>
            <a:off x="-57928" y="2753706"/>
            <a:ext cx="1634980" cy="3627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seq:32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13BC8B-F7D5-9558-6C9A-ED61E60F061C}"/>
              </a:ext>
            </a:extLst>
          </p:cNvPr>
          <p:cNvSpPr txBox="1"/>
          <p:nvPr/>
        </p:nvSpPr>
        <p:spPr>
          <a:xfrm>
            <a:off x="9290621" y="2990411"/>
            <a:ext cx="1634980" cy="3627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 44</a:t>
            </a:r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A026FBA-579B-AF82-521D-672FDD9F3594}"/>
              </a:ext>
            </a:extLst>
          </p:cNvPr>
          <p:cNvSpPr/>
          <p:nvPr/>
        </p:nvSpPr>
        <p:spPr>
          <a:xfrm>
            <a:off x="4884188" y="8219088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FE766A6-51EF-1376-164A-C7587724CA76}"/>
              </a:ext>
            </a:extLst>
          </p:cNvPr>
          <p:cNvSpPr/>
          <p:nvPr/>
        </p:nvSpPr>
        <p:spPr>
          <a:xfrm>
            <a:off x="7946463" y="8124675"/>
            <a:ext cx="1274064" cy="1274064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97072346-AC64-20E0-60BC-668A1F3BFB7A}"/>
              </a:ext>
            </a:extLst>
          </p:cNvPr>
          <p:cNvSpPr/>
          <p:nvPr/>
        </p:nvSpPr>
        <p:spPr>
          <a:xfrm>
            <a:off x="4858144" y="7253599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A3B4A3-26B1-9DE6-9812-7725807281A7}"/>
              </a:ext>
            </a:extLst>
          </p:cNvPr>
          <p:cNvSpPr txBox="1"/>
          <p:nvPr/>
        </p:nvSpPr>
        <p:spPr>
          <a:xfrm>
            <a:off x="4983897" y="7435766"/>
            <a:ext cx="22889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What about now :)))</a:t>
            </a:r>
            <a:endParaRPr lang="en-US"/>
          </a:p>
        </p:txBody>
      </p:sp>
      <p:sp>
        <p:nvSpPr>
          <p:cNvPr id="26" name="Speech Bubble: Rectangle with Corners Rounded 25">
            <a:extLst>
              <a:ext uri="{FF2B5EF4-FFF2-40B4-BE49-F238E27FC236}">
                <a16:creationId xmlns:a16="http://schemas.microsoft.com/office/drawing/2014/main" id="{43CF4BB7-8BF7-BA58-364D-8DE397FDFA36}"/>
              </a:ext>
            </a:extLst>
          </p:cNvPr>
          <p:cNvSpPr/>
          <p:nvPr/>
        </p:nvSpPr>
        <p:spPr>
          <a:xfrm>
            <a:off x="7840590" y="7478501"/>
            <a:ext cx="2547255" cy="549147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5A99D3-E31C-A5E0-5989-CF8E0893C900}"/>
              </a:ext>
            </a:extLst>
          </p:cNvPr>
          <p:cNvSpPr txBox="1"/>
          <p:nvPr/>
        </p:nvSpPr>
        <p:spPr>
          <a:xfrm>
            <a:off x="8105258" y="7637922"/>
            <a:ext cx="20130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Good job !</a:t>
            </a:r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C6A907-0C63-DAB2-F114-6B301D4BF2F4}"/>
              </a:ext>
            </a:extLst>
          </p:cNvPr>
          <p:cNvSpPr txBox="1"/>
          <p:nvPr/>
        </p:nvSpPr>
        <p:spPr>
          <a:xfrm>
            <a:off x="3671113" y="8374997"/>
            <a:ext cx="15922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seq:54</a:t>
            </a:r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739089-4DED-D89E-C9E8-11022F040484}"/>
              </a:ext>
            </a:extLst>
          </p:cNvPr>
          <p:cNvSpPr txBox="1"/>
          <p:nvPr/>
        </p:nvSpPr>
        <p:spPr>
          <a:xfrm>
            <a:off x="9474771" y="8581754"/>
            <a:ext cx="15922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 54</a:t>
            </a:r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45D37AC-AFDA-BAAD-DD08-F7B65FB516FC}"/>
              </a:ext>
            </a:extLst>
          </p:cNvPr>
          <p:cNvSpPr/>
          <p:nvPr/>
        </p:nvSpPr>
        <p:spPr>
          <a:xfrm>
            <a:off x="1052792" y="8305692"/>
            <a:ext cx="1274064" cy="1274064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FDF45A2A-A893-1A93-B625-A27674D8A421}"/>
              </a:ext>
            </a:extLst>
          </p:cNvPr>
          <p:cNvSpPr/>
          <p:nvPr/>
        </p:nvSpPr>
        <p:spPr>
          <a:xfrm>
            <a:off x="945105" y="7294848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F27680-F3B7-63C4-7EEE-50F152BA6C02}"/>
              </a:ext>
            </a:extLst>
          </p:cNvPr>
          <p:cNvSpPr txBox="1"/>
          <p:nvPr/>
        </p:nvSpPr>
        <p:spPr>
          <a:xfrm>
            <a:off x="1188787" y="7404443"/>
            <a:ext cx="22889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ea typeface="Calibri"/>
                <a:cs typeface="Calibri"/>
              </a:rPr>
              <a:t>YaY</a:t>
            </a:r>
            <a:r>
              <a:rPr lang="en-US">
                <a:ea typeface="Calibri"/>
                <a:cs typeface="Calibri"/>
              </a:rPr>
              <a:t> I am a core node now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227BB1-D110-FD39-A1C8-39CA4577D86F}"/>
              </a:ext>
            </a:extLst>
          </p:cNvPr>
          <p:cNvSpPr txBox="1"/>
          <p:nvPr/>
        </p:nvSpPr>
        <p:spPr>
          <a:xfrm>
            <a:off x="1556888" y="2789814"/>
            <a:ext cx="1076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2499CB-50B7-4EED-586D-82E0ED9D1D9B}"/>
              </a:ext>
            </a:extLst>
          </p:cNvPr>
          <p:cNvSpPr txBox="1"/>
          <p:nvPr/>
        </p:nvSpPr>
        <p:spPr>
          <a:xfrm>
            <a:off x="1052311" y="8760013"/>
            <a:ext cx="1047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EAC060-F82D-68F0-7FC1-63D01B6A5B88}"/>
              </a:ext>
            </a:extLst>
          </p:cNvPr>
          <p:cNvSpPr txBox="1"/>
          <p:nvPr/>
        </p:nvSpPr>
        <p:spPr>
          <a:xfrm>
            <a:off x="5074206" y="8673406"/>
            <a:ext cx="1047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41" name="Speech Bubble: Rectangle with Corners Rounded 40">
            <a:extLst>
              <a:ext uri="{FF2B5EF4-FFF2-40B4-BE49-F238E27FC236}">
                <a16:creationId xmlns:a16="http://schemas.microsoft.com/office/drawing/2014/main" id="{6F183766-7FFE-C50E-8B41-69617C158D08}"/>
              </a:ext>
            </a:extLst>
          </p:cNvPr>
          <p:cNvSpPr/>
          <p:nvPr/>
        </p:nvSpPr>
        <p:spPr>
          <a:xfrm>
            <a:off x="729444" y="1241979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880926-3A80-0BFF-449F-48996FD9ACE3}"/>
              </a:ext>
            </a:extLst>
          </p:cNvPr>
          <p:cNvSpPr txBox="1"/>
          <p:nvPr/>
        </p:nvSpPr>
        <p:spPr>
          <a:xfrm>
            <a:off x="973126" y="1351573"/>
            <a:ext cx="22889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I will try next time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0D4481-B455-1C4A-892A-1A0D1408FE2A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7180A2-3C28-5B66-BDF8-805928AFAE89}"/>
              </a:ext>
            </a:extLst>
          </p:cNvPr>
          <p:cNvSpPr/>
          <p:nvPr/>
        </p:nvSpPr>
        <p:spPr>
          <a:xfrm>
            <a:off x="0" y="761425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DC8DA1-6D1D-5D8A-3EBA-48A787F75DAF}"/>
              </a:ext>
            </a:extLst>
          </p:cNvPr>
          <p:cNvSpPr txBox="1"/>
          <p:nvPr/>
        </p:nvSpPr>
        <p:spPr>
          <a:xfrm>
            <a:off x="731520" y="182880"/>
            <a:ext cx="8229600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>
                <a:cs typeface="Segoe UI Semibold"/>
              </a:rPr>
              <a:t>Core Joining and Leaving</a:t>
            </a:r>
            <a:endParaRPr lang="en-US">
              <a:solidFill>
                <a:srgbClr val="000000"/>
              </a:solidFill>
              <a:cs typeface="Segoe UI Semibold"/>
            </a:endParaRPr>
          </a:p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endParaRPr lang="en-US">
              <a:cs typeface="Segoe UI Semibold"/>
            </a:endParaRPr>
          </a:p>
        </p:txBody>
      </p:sp>
      <p:sp>
        <p:nvSpPr>
          <p:cNvPr id="19" name="Rounded Rectangle 4">
            <a:extLst>
              <a:ext uri="{FF2B5EF4-FFF2-40B4-BE49-F238E27FC236}">
                <a16:creationId xmlns:a16="http://schemas.microsoft.com/office/drawing/2014/main" id="{8E0BFD18-24A6-FE66-FE4A-4626FD787DB3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</a:t>
            </a:r>
            <a:r>
              <a:rPr lang="en-US"/>
              <a:t>II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C90BA0-76E4-B76F-3DB3-13843D581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157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9E189-677E-EB18-5B4A-99F827735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6CCDC9DC-C8DF-5932-0579-75DB0207E441}"/>
              </a:ext>
            </a:extLst>
          </p:cNvPr>
          <p:cNvSpPr/>
          <p:nvPr/>
        </p:nvSpPr>
        <p:spPr>
          <a:xfrm>
            <a:off x="12682808" y="2282875"/>
            <a:ext cx="1308265" cy="1251495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 sz="800">
              <a:cs typeface="Segoe UI"/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A5DB7728-7FC9-4FB4-2C3D-BFA730D6836F}"/>
              </a:ext>
            </a:extLst>
          </p:cNvPr>
          <p:cNvSpPr/>
          <p:nvPr/>
        </p:nvSpPr>
        <p:spPr>
          <a:xfrm>
            <a:off x="4618441" y="-2055626"/>
            <a:ext cx="2541817" cy="1535740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ABFCED-05D4-ACAB-5D80-7E48E955A361}"/>
              </a:ext>
            </a:extLst>
          </p:cNvPr>
          <p:cNvSpPr txBox="1"/>
          <p:nvPr/>
        </p:nvSpPr>
        <p:spPr>
          <a:xfrm>
            <a:off x="4819841" y="-1893942"/>
            <a:ext cx="2350423" cy="11790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Hello dear sequencer, can I become a core node , I am confident I have what </a:t>
            </a:r>
            <a:r>
              <a:rPr lang="en-US" err="1">
                <a:ea typeface="Calibri"/>
                <a:cs typeface="Calibri"/>
              </a:rPr>
              <a:t>i</a:t>
            </a:r>
            <a:r>
              <a:rPr lang="en-US">
                <a:ea typeface="Calibri"/>
                <a:cs typeface="Calibri"/>
              </a:rPr>
              <a:t>s needed. </a:t>
            </a:r>
            <a:endParaRPr lang="en-US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B62B091D-E561-F89E-4054-702A0F8FA037}"/>
              </a:ext>
            </a:extLst>
          </p:cNvPr>
          <p:cNvSpPr/>
          <p:nvPr/>
        </p:nvSpPr>
        <p:spPr>
          <a:xfrm>
            <a:off x="13228248" y="462179"/>
            <a:ext cx="2615634" cy="1733457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9473D8-0D5E-2FDF-E822-B1126A84D5A2}"/>
              </a:ext>
            </a:extLst>
          </p:cNvPr>
          <p:cNvSpPr txBox="1"/>
          <p:nvPr/>
        </p:nvSpPr>
        <p:spPr>
          <a:xfrm>
            <a:off x="13500022" y="618777"/>
            <a:ext cx="2067082" cy="11790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Hello node , no your sequence number is too low to be a core node. 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C162B9-0926-989B-8317-33B9CCD712D2}"/>
              </a:ext>
            </a:extLst>
          </p:cNvPr>
          <p:cNvSpPr txBox="1"/>
          <p:nvPr/>
        </p:nvSpPr>
        <p:spPr>
          <a:xfrm>
            <a:off x="14207678" y="2659732"/>
            <a:ext cx="1634980" cy="3627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 44</a:t>
            </a:r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0525045-70AB-FEAC-111D-00F9E5824DEF}"/>
              </a:ext>
            </a:extLst>
          </p:cNvPr>
          <p:cNvSpPr/>
          <p:nvPr/>
        </p:nvSpPr>
        <p:spPr>
          <a:xfrm>
            <a:off x="2756339" y="2511277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02BDCF6-81E8-E772-8460-E938E5F3398B}"/>
              </a:ext>
            </a:extLst>
          </p:cNvPr>
          <p:cNvSpPr/>
          <p:nvPr/>
        </p:nvSpPr>
        <p:spPr>
          <a:xfrm>
            <a:off x="7975218" y="2589392"/>
            <a:ext cx="1274064" cy="1274064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6CD789DA-1771-65E9-7517-E1ADDA88539B}"/>
              </a:ext>
            </a:extLst>
          </p:cNvPr>
          <p:cNvSpPr/>
          <p:nvPr/>
        </p:nvSpPr>
        <p:spPr>
          <a:xfrm>
            <a:off x="2730295" y="1545788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C2204A-C339-98CA-2ECB-6CB41039F754}"/>
              </a:ext>
            </a:extLst>
          </p:cNvPr>
          <p:cNvSpPr txBox="1"/>
          <p:nvPr/>
        </p:nvSpPr>
        <p:spPr>
          <a:xfrm>
            <a:off x="2856048" y="1727955"/>
            <a:ext cx="22889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What about now :)))</a:t>
            </a:r>
            <a:endParaRPr lang="en-US"/>
          </a:p>
        </p:txBody>
      </p:sp>
      <p:sp>
        <p:nvSpPr>
          <p:cNvPr id="26" name="Speech Bubble: Rectangle with Corners Rounded 25">
            <a:extLst>
              <a:ext uri="{FF2B5EF4-FFF2-40B4-BE49-F238E27FC236}">
                <a16:creationId xmlns:a16="http://schemas.microsoft.com/office/drawing/2014/main" id="{FB2C04E7-8A88-C71D-BD47-B31515284CFC}"/>
              </a:ext>
            </a:extLst>
          </p:cNvPr>
          <p:cNvSpPr/>
          <p:nvPr/>
        </p:nvSpPr>
        <p:spPr>
          <a:xfrm>
            <a:off x="7969986" y="1023068"/>
            <a:ext cx="2633519" cy="1325523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9C7961-34DB-9646-C2B6-9B204F959B2C}"/>
              </a:ext>
            </a:extLst>
          </p:cNvPr>
          <p:cNvSpPr txBox="1"/>
          <p:nvPr/>
        </p:nvSpPr>
        <p:spPr>
          <a:xfrm>
            <a:off x="8234655" y="1283129"/>
            <a:ext cx="201304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Good job! Yes you can join the core group now</a:t>
            </a:r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AEC52C-6DFE-76B1-C77E-C1DBCB4D288A}"/>
              </a:ext>
            </a:extLst>
          </p:cNvPr>
          <p:cNvSpPr txBox="1"/>
          <p:nvPr/>
        </p:nvSpPr>
        <p:spPr>
          <a:xfrm>
            <a:off x="1543264" y="2667186"/>
            <a:ext cx="15922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seq:54</a:t>
            </a:r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B92810-A2A9-2F3C-CCDC-7E38E70C883F}"/>
              </a:ext>
            </a:extLst>
          </p:cNvPr>
          <p:cNvSpPr txBox="1"/>
          <p:nvPr/>
        </p:nvSpPr>
        <p:spPr>
          <a:xfrm>
            <a:off x="9345375" y="3003339"/>
            <a:ext cx="15922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 54</a:t>
            </a:r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A63122E-9BF2-6A6F-9145-DDD4FF319B82}"/>
              </a:ext>
            </a:extLst>
          </p:cNvPr>
          <p:cNvSpPr/>
          <p:nvPr/>
        </p:nvSpPr>
        <p:spPr>
          <a:xfrm>
            <a:off x="-2397774" y="4380673"/>
            <a:ext cx="1274064" cy="1274064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3743A389-7B40-34D1-A00D-75BD3FF29624}"/>
              </a:ext>
            </a:extLst>
          </p:cNvPr>
          <p:cNvSpPr/>
          <p:nvPr/>
        </p:nvSpPr>
        <p:spPr>
          <a:xfrm>
            <a:off x="-2749876" y="3111037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F46499-2996-B2E4-0839-0EE63F5D9036}"/>
              </a:ext>
            </a:extLst>
          </p:cNvPr>
          <p:cNvSpPr txBox="1"/>
          <p:nvPr/>
        </p:nvSpPr>
        <p:spPr>
          <a:xfrm>
            <a:off x="-2621213" y="3220632"/>
            <a:ext cx="22889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ea typeface="Calibri"/>
                <a:cs typeface="Calibri"/>
              </a:rPr>
              <a:t>YaY</a:t>
            </a:r>
            <a:r>
              <a:rPr lang="en-US">
                <a:ea typeface="Calibri"/>
                <a:cs typeface="Calibri"/>
              </a:rPr>
              <a:t> I am a core node now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7AFEA3-7299-3C27-ADF4-8367872BDDDD}"/>
              </a:ext>
            </a:extLst>
          </p:cNvPr>
          <p:cNvSpPr txBox="1"/>
          <p:nvPr/>
        </p:nvSpPr>
        <p:spPr>
          <a:xfrm>
            <a:off x="-2168217" y="4820617"/>
            <a:ext cx="1047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73C43D-5E3B-806C-4EDC-CBF75FCE4158}"/>
              </a:ext>
            </a:extLst>
          </p:cNvPr>
          <p:cNvSpPr txBox="1"/>
          <p:nvPr/>
        </p:nvSpPr>
        <p:spPr>
          <a:xfrm>
            <a:off x="2975112" y="2951217"/>
            <a:ext cx="1047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07EEB8-2E1F-CFE4-CA9A-6E2E56698047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13AF79-A9D9-EB49-2137-A98D4C89E563}"/>
              </a:ext>
            </a:extLst>
          </p:cNvPr>
          <p:cNvSpPr/>
          <p:nvPr/>
        </p:nvSpPr>
        <p:spPr>
          <a:xfrm>
            <a:off x="0" y="761425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0E1957-1FEF-5EB7-CB50-9D41315B6E3D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/>
              <a:t>Core Joining and Leaving</a:t>
            </a:r>
          </a:p>
        </p:txBody>
      </p:sp>
      <p:sp>
        <p:nvSpPr>
          <p:cNvPr id="19" name="Rounded Rectangle 4">
            <a:extLst>
              <a:ext uri="{FF2B5EF4-FFF2-40B4-BE49-F238E27FC236}">
                <a16:creationId xmlns:a16="http://schemas.microsoft.com/office/drawing/2014/main" id="{B27CF597-28A0-F38B-4BA5-A17E2B26C9AF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05E27-183E-4F24-5719-7B83CC136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013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F24E4-82EE-076D-6874-973AA435B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0BA753B9-9A04-2562-D393-84DB13FE405F}"/>
              </a:ext>
            </a:extLst>
          </p:cNvPr>
          <p:cNvSpPr/>
          <p:nvPr/>
        </p:nvSpPr>
        <p:spPr>
          <a:xfrm>
            <a:off x="-2139128" y="2299015"/>
            <a:ext cx="1308265" cy="1251495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C8CAAB0-B8F4-C93B-5177-C985EDEE2E81}"/>
              </a:ext>
            </a:extLst>
          </p:cNvPr>
          <p:cNvSpPr/>
          <p:nvPr/>
        </p:nvSpPr>
        <p:spPr>
          <a:xfrm>
            <a:off x="12682808" y="2282875"/>
            <a:ext cx="1308265" cy="1251495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 sz="800">
              <a:cs typeface="Segoe UI"/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47B841C6-2E16-8F9A-F2D7-ED90A6992D75}"/>
              </a:ext>
            </a:extLst>
          </p:cNvPr>
          <p:cNvSpPr/>
          <p:nvPr/>
        </p:nvSpPr>
        <p:spPr>
          <a:xfrm>
            <a:off x="4618441" y="-2055626"/>
            <a:ext cx="2541817" cy="1535740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D74481-8F55-BB22-C4B6-1DC7D56C77FC}"/>
              </a:ext>
            </a:extLst>
          </p:cNvPr>
          <p:cNvSpPr txBox="1"/>
          <p:nvPr/>
        </p:nvSpPr>
        <p:spPr>
          <a:xfrm>
            <a:off x="4819841" y="-1893942"/>
            <a:ext cx="2350423" cy="11790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Hello dear sequencer, can I become a core node , I am confident I have what </a:t>
            </a:r>
            <a:r>
              <a:rPr lang="en-US" err="1">
                <a:ea typeface="Calibri"/>
                <a:cs typeface="Calibri"/>
              </a:rPr>
              <a:t>i</a:t>
            </a:r>
            <a:r>
              <a:rPr lang="en-US">
                <a:ea typeface="Calibri"/>
                <a:cs typeface="Calibri"/>
              </a:rPr>
              <a:t>s needed. </a:t>
            </a:r>
            <a:endParaRPr lang="en-US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B9B3AD24-415D-2195-85C1-CFE1D46B2748}"/>
              </a:ext>
            </a:extLst>
          </p:cNvPr>
          <p:cNvSpPr/>
          <p:nvPr/>
        </p:nvSpPr>
        <p:spPr>
          <a:xfrm>
            <a:off x="13228248" y="462179"/>
            <a:ext cx="2615634" cy="1733457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40B70E-FC16-1FCC-52C8-4536F1FF305C}"/>
              </a:ext>
            </a:extLst>
          </p:cNvPr>
          <p:cNvSpPr txBox="1"/>
          <p:nvPr/>
        </p:nvSpPr>
        <p:spPr>
          <a:xfrm>
            <a:off x="13500022" y="618777"/>
            <a:ext cx="2067082" cy="11790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Hello node , no your sequence number is too low to be a core node. 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8CFE38-F8BE-98E3-B0F2-52383F04E84E}"/>
              </a:ext>
            </a:extLst>
          </p:cNvPr>
          <p:cNvSpPr txBox="1"/>
          <p:nvPr/>
        </p:nvSpPr>
        <p:spPr>
          <a:xfrm>
            <a:off x="-3580381" y="2710574"/>
            <a:ext cx="1634980" cy="3627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seq:32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F8C6BC-5C43-7EEC-8127-97F53A7D953A}"/>
              </a:ext>
            </a:extLst>
          </p:cNvPr>
          <p:cNvSpPr txBox="1"/>
          <p:nvPr/>
        </p:nvSpPr>
        <p:spPr>
          <a:xfrm>
            <a:off x="14207678" y="2659732"/>
            <a:ext cx="1634980" cy="3627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 44</a:t>
            </a:r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D12DA21-860C-4035-F558-566726DCE595}"/>
              </a:ext>
            </a:extLst>
          </p:cNvPr>
          <p:cNvSpPr/>
          <p:nvPr/>
        </p:nvSpPr>
        <p:spPr>
          <a:xfrm>
            <a:off x="-2850831" y="156237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FC041449-9C7A-DECF-7712-415425CEBC06}"/>
              </a:ext>
            </a:extLst>
          </p:cNvPr>
          <p:cNvSpPr/>
          <p:nvPr/>
        </p:nvSpPr>
        <p:spPr>
          <a:xfrm>
            <a:off x="-2876875" y="596882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3165E2-D46D-02CB-DB3B-CC7728AA0D83}"/>
              </a:ext>
            </a:extLst>
          </p:cNvPr>
          <p:cNvSpPr txBox="1"/>
          <p:nvPr/>
        </p:nvSpPr>
        <p:spPr>
          <a:xfrm>
            <a:off x="-2751122" y="779049"/>
            <a:ext cx="22889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What about now :)))</a:t>
            </a:r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7220B8-9CFF-649A-8E30-EED083EFBB7D}"/>
              </a:ext>
            </a:extLst>
          </p:cNvPr>
          <p:cNvSpPr txBox="1"/>
          <p:nvPr/>
        </p:nvSpPr>
        <p:spPr>
          <a:xfrm>
            <a:off x="-4063906" y="1718280"/>
            <a:ext cx="15922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seq:54</a:t>
            </a:r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BEEBFDF-75F6-7CEF-5E52-0C0318230B88}"/>
              </a:ext>
            </a:extLst>
          </p:cNvPr>
          <p:cNvSpPr/>
          <p:nvPr/>
        </p:nvSpPr>
        <p:spPr>
          <a:xfrm>
            <a:off x="1757283" y="4625088"/>
            <a:ext cx="1274064" cy="1274064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BD0EBC91-E8FF-A4C8-DBF5-09D5A19D2FD9}"/>
              </a:ext>
            </a:extLst>
          </p:cNvPr>
          <p:cNvSpPr/>
          <p:nvPr/>
        </p:nvSpPr>
        <p:spPr>
          <a:xfrm>
            <a:off x="1649596" y="3614244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33D008-1D0D-D6FB-635A-E5C13E20C5F7}"/>
              </a:ext>
            </a:extLst>
          </p:cNvPr>
          <p:cNvSpPr txBox="1"/>
          <p:nvPr/>
        </p:nvSpPr>
        <p:spPr>
          <a:xfrm>
            <a:off x="1893278" y="3723839"/>
            <a:ext cx="22889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ea typeface="Calibri"/>
                <a:cs typeface="Calibri"/>
              </a:rPr>
              <a:t>YaY</a:t>
            </a:r>
            <a:r>
              <a:rPr lang="en-US">
                <a:ea typeface="Calibri"/>
                <a:cs typeface="Calibri"/>
              </a:rPr>
              <a:t> I am a core node now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E444BF-C620-86A9-D58B-64444AEFB711}"/>
              </a:ext>
            </a:extLst>
          </p:cNvPr>
          <p:cNvSpPr txBox="1"/>
          <p:nvPr/>
        </p:nvSpPr>
        <p:spPr>
          <a:xfrm>
            <a:off x="-1965565" y="2746682"/>
            <a:ext cx="1076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F716F7-8533-4556-B9C1-36801DBA8F07}"/>
              </a:ext>
            </a:extLst>
          </p:cNvPr>
          <p:cNvSpPr txBox="1"/>
          <p:nvPr/>
        </p:nvSpPr>
        <p:spPr>
          <a:xfrm>
            <a:off x="1756801" y="5079409"/>
            <a:ext cx="1047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82CF40-1F32-0B3C-F320-94885AD508B0}"/>
              </a:ext>
            </a:extLst>
          </p:cNvPr>
          <p:cNvSpPr txBox="1"/>
          <p:nvPr/>
        </p:nvSpPr>
        <p:spPr>
          <a:xfrm>
            <a:off x="-2632058" y="2002311"/>
            <a:ext cx="1047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41" name="Speech Bubble: Rectangle with Corners Rounded 40">
            <a:extLst>
              <a:ext uri="{FF2B5EF4-FFF2-40B4-BE49-F238E27FC236}">
                <a16:creationId xmlns:a16="http://schemas.microsoft.com/office/drawing/2014/main" id="{371BF666-B6D6-0467-6541-47F28FA882B0}"/>
              </a:ext>
            </a:extLst>
          </p:cNvPr>
          <p:cNvSpPr/>
          <p:nvPr/>
        </p:nvSpPr>
        <p:spPr>
          <a:xfrm>
            <a:off x="-2793009" y="1198847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04D77D-A27B-57F3-6052-DA7C030BFEF0}"/>
              </a:ext>
            </a:extLst>
          </p:cNvPr>
          <p:cNvSpPr txBox="1"/>
          <p:nvPr/>
        </p:nvSpPr>
        <p:spPr>
          <a:xfrm>
            <a:off x="-2549327" y="1308441"/>
            <a:ext cx="22889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I will try next time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5DA2ED-D338-0B1B-F204-5C7BB8F93C62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9FC25-264C-F8B4-16FA-8D90F955428D}"/>
              </a:ext>
            </a:extLst>
          </p:cNvPr>
          <p:cNvSpPr/>
          <p:nvPr/>
        </p:nvSpPr>
        <p:spPr>
          <a:xfrm>
            <a:off x="0" y="761425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91DDB7-B60C-DBB4-F965-31E0AF5B3EBB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/>
              <a:t>Core Joining and Leaving</a:t>
            </a:r>
          </a:p>
        </p:txBody>
      </p:sp>
      <p:sp>
        <p:nvSpPr>
          <p:cNvPr id="17" name="Rounded Rectangle 4">
            <a:extLst>
              <a:ext uri="{FF2B5EF4-FFF2-40B4-BE49-F238E27FC236}">
                <a16:creationId xmlns:a16="http://schemas.microsoft.com/office/drawing/2014/main" id="{9D0D3FE5-D585-2E5B-044E-783A6C9711E6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ED9F8D-1DF2-AE40-359F-DC6D4BC6D65F}"/>
              </a:ext>
            </a:extLst>
          </p:cNvPr>
          <p:cNvSpPr/>
          <p:nvPr/>
        </p:nvSpPr>
        <p:spPr>
          <a:xfrm>
            <a:off x="7975218" y="2589392"/>
            <a:ext cx="1274064" cy="1274064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04FB1A27-546F-F552-0DE9-8DFE96DB2A6E}"/>
              </a:ext>
            </a:extLst>
          </p:cNvPr>
          <p:cNvSpPr/>
          <p:nvPr/>
        </p:nvSpPr>
        <p:spPr>
          <a:xfrm>
            <a:off x="7969986" y="1023068"/>
            <a:ext cx="2633519" cy="1325523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86438A-3468-01CF-3B0F-267280B9FB77}"/>
              </a:ext>
            </a:extLst>
          </p:cNvPr>
          <p:cNvSpPr txBox="1"/>
          <p:nvPr/>
        </p:nvSpPr>
        <p:spPr>
          <a:xfrm>
            <a:off x="8234655" y="1283129"/>
            <a:ext cx="201304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Good job! Yes you can join the core group now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E0024E-4527-A0AF-652E-861A51BF9EBC}"/>
              </a:ext>
            </a:extLst>
          </p:cNvPr>
          <p:cNvSpPr txBox="1"/>
          <p:nvPr/>
        </p:nvSpPr>
        <p:spPr>
          <a:xfrm>
            <a:off x="9345375" y="3003339"/>
            <a:ext cx="15922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 54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03AB97-80E8-F2A8-BC91-44EAEEBA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267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285BEDF6-BC9C-978E-46F8-CAEE35CCE844}"/>
              </a:ext>
            </a:extLst>
          </p:cNvPr>
          <p:cNvSpPr/>
          <p:nvPr/>
        </p:nvSpPr>
        <p:spPr>
          <a:xfrm>
            <a:off x="3137510" y="2727277"/>
            <a:ext cx="1274064" cy="1274064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5A724F9F-45BF-C8C2-F50E-354AD42478DA}"/>
              </a:ext>
            </a:extLst>
          </p:cNvPr>
          <p:cNvSpPr/>
          <p:nvPr/>
        </p:nvSpPr>
        <p:spPr>
          <a:xfrm>
            <a:off x="3029823" y="1716433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856B48-A30F-0EC4-C116-F2346D8EFC03}"/>
              </a:ext>
            </a:extLst>
          </p:cNvPr>
          <p:cNvSpPr txBox="1"/>
          <p:nvPr/>
        </p:nvSpPr>
        <p:spPr>
          <a:xfrm>
            <a:off x="3273505" y="1826028"/>
            <a:ext cx="22889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Oh! I am leaving.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25882B-8486-C338-99D8-EAC1E5F7A6CA}"/>
              </a:ext>
            </a:extLst>
          </p:cNvPr>
          <p:cNvSpPr txBox="1"/>
          <p:nvPr/>
        </p:nvSpPr>
        <p:spPr>
          <a:xfrm>
            <a:off x="3367066" y="3167221"/>
            <a:ext cx="1047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163638-C26C-79B1-0DC8-22005DF0B7FF}"/>
              </a:ext>
            </a:extLst>
          </p:cNvPr>
          <p:cNvSpPr txBox="1"/>
          <p:nvPr/>
        </p:nvSpPr>
        <p:spPr>
          <a:xfrm>
            <a:off x="4308674" y="3163122"/>
            <a:ext cx="17713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Curr seq 56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22E86C-7C6D-10C7-597C-727367D4BDC5}"/>
              </a:ext>
            </a:extLst>
          </p:cNvPr>
          <p:cNvSpPr txBox="1"/>
          <p:nvPr/>
        </p:nvSpPr>
        <p:spPr>
          <a:xfrm>
            <a:off x="225505" y="2731802"/>
            <a:ext cx="171388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Message with seq 70</a:t>
            </a:r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CDEE5F5-4203-C457-C995-E759EDF70F8E}"/>
              </a:ext>
            </a:extLst>
          </p:cNvPr>
          <p:cNvCxnSpPr/>
          <p:nvPr/>
        </p:nvCxnSpPr>
        <p:spPr>
          <a:xfrm>
            <a:off x="1958197" y="3086818"/>
            <a:ext cx="1086927" cy="181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EF83F2A-DD64-B30E-D1DF-9D7E96FF9D98}"/>
              </a:ext>
            </a:extLst>
          </p:cNvPr>
          <p:cNvSpPr/>
          <p:nvPr/>
        </p:nvSpPr>
        <p:spPr>
          <a:xfrm>
            <a:off x="6267256" y="3185786"/>
            <a:ext cx="978408" cy="4846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5A8954B-DD8C-3567-6AE8-12547AD24BBE}"/>
              </a:ext>
            </a:extLst>
          </p:cNvPr>
          <p:cNvSpPr/>
          <p:nvPr/>
        </p:nvSpPr>
        <p:spPr>
          <a:xfrm>
            <a:off x="7767019" y="2784786"/>
            <a:ext cx="1274064" cy="1274064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70A4BF58-161E-1705-FE0D-83DB1CACE340}"/>
              </a:ext>
            </a:extLst>
          </p:cNvPr>
          <p:cNvSpPr/>
          <p:nvPr/>
        </p:nvSpPr>
        <p:spPr>
          <a:xfrm>
            <a:off x="7731218" y="1385754"/>
            <a:ext cx="2777293" cy="1202631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D90148-DBA8-E37A-C743-F52566B008B0}"/>
              </a:ext>
            </a:extLst>
          </p:cNvPr>
          <p:cNvSpPr txBox="1"/>
          <p:nvPr/>
        </p:nvSpPr>
        <p:spPr>
          <a:xfrm>
            <a:off x="7903014" y="1552858"/>
            <a:ext cx="228897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Let's wait and see if I get the messages that I missed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74B6CC-97C9-2E70-1918-A5001D02FB0C}"/>
              </a:ext>
            </a:extLst>
          </p:cNvPr>
          <p:cNvSpPr txBox="1"/>
          <p:nvPr/>
        </p:nvSpPr>
        <p:spPr>
          <a:xfrm>
            <a:off x="7996575" y="3224730"/>
            <a:ext cx="1047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17D3EC-B9E5-AC84-4C66-744D27A9F0D0}"/>
              </a:ext>
            </a:extLst>
          </p:cNvPr>
          <p:cNvSpPr txBox="1"/>
          <p:nvPr/>
        </p:nvSpPr>
        <p:spPr>
          <a:xfrm>
            <a:off x="8938183" y="3220631"/>
            <a:ext cx="17713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Curr seq 56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D7A395-3439-363B-F19B-A6C5A10256B7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8BE3F4-77BF-9C29-EBDF-CE12424119FB}"/>
              </a:ext>
            </a:extLst>
          </p:cNvPr>
          <p:cNvSpPr/>
          <p:nvPr/>
        </p:nvSpPr>
        <p:spPr>
          <a:xfrm>
            <a:off x="0" y="761425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D38AC8-37D5-ED30-EC26-5BE2A9768D9B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/>
              <a:t>Core Joining and Leaving</a:t>
            </a:r>
          </a:p>
        </p:txBody>
      </p:sp>
      <p:sp>
        <p:nvSpPr>
          <p:cNvPr id="22" name="Rounded Rectangle 4">
            <a:extLst>
              <a:ext uri="{FF2B5EF4-FFF2-40B4-BE49-F238E27FC236}">
                <a16:creationId xmlns:a16="http://schemas.microsoft.com/office/drawing/2014/main" id="{678287C1-4CB0-58B4-585B-941F7656FBBA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76A000-0984-8F59-1F31-CFBE7B329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90732"/>
      </p:ext>
    </p:extLst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Ordered Delivery Buffer &amp; Gap Recovery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016000" cy="33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256" y="1376776"/>
            <a:ext cx="54864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rPr sz="1600"/>
              <a:t>Buffer State: Gap Detection &amp; Recovery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1872" y="1930593"/>
            <a:ext cx="1341694" cy="841363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6891" y="2091331"/>
            <a:ext cx="109728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lang="en-US" sz="1400"/>
              <a:t>seq=1</a:t>
            </a:r>
            <a:endParaRPr lang="en-US" sz="1400">
              <a:cs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8136" y="2408783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delivered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103120"/>
            <a:ext cx="109728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0" y="2148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seq=2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4231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delivered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30483" y="1916214"/>
            <a:ext cx="1097280" cy="6400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30483" y="196193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seq=4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483" y="223625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GAP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87064" y="1916214"/>
            <a:ext cx="1097280" cy="6400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87064" y="196193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seq=5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7064" y="223625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GAP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1930592"/>
            <a:ext cx="1312940" cy="76947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84853" y="2019444"/>
            <a:ext cx="187365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sz="1400"/>
              <a:t>seq=6</a:t>
            </a:r>
            <a:endParaRPr lang="en-US" sz="1400">
              <a:cs typeface="Segoe U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0" y="2336896"/>
            <a:ext cx="13129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buffered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25964" y="2789803"/>
            <a:ext cx="4333333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Segoe UI"/>
              </a:defRPr>
            </a:pPr>
            <a:r>
              <a:rPr sz="1600"/>
              <a:t>↑ </a:t>
            </a:r>
            <a:r>
              <a:rPr sz="1600" err="1"/>
              <a:t>next_expected</a:t>
            </a:r>
            <a:r>
              <a:rPr sz="1600"/>
              <a:t>=4</a:t>
            </a:r>
            <a:endParaRPr lang="en-US" sz="1600">
              <a:cs typeface="Segoe U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384559" y="3627983"/>
            <a:ext cx="66031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Segoe UI"/>
              </a:defRPr>
            </a:pPr>
            <a:r>
              <a:rPr sz="2000"/>
              <a:t>↓ After 5s timeout: HISTORY_REQUEST(4, 5)</a:t>
            </a:r>
            <a:endParaRPr lang="en-US" sz="2000">
              <a:cs typeface="Segoe U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4011" y="4777884"/>
            <a:ext cx="27432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Segoe UI"/>
              </a:defRPr>
            </a:pPr>
            <a:r>
              <a:rPr sz="1600"/>
              <a:t>After recovery:</a:t>
            </a:r>
            <a:endParaRPr lang="en-US" sz="1600">
              <a:cs typeface="Segoe U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000665" y="5282242"/>
            <a:ext cx="1226676" cy="4925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0665" y="5411638"/>
            <a:ext cx="12266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seq=1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72265" y="5282242"/>
            <a:ext cx="1226676" cy="4925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343510" y="5411638"/>
            <a:ext cx="12266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seq=2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43865" y="5282242"/>
            <a:ext cx="1226676" cy="4925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743865" y="5397261"/>
            <a:ext cx="12266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seq=3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15465" y="5282242"/>
            <a:ext cx="1226676" cy="49256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15465" y="5397261"/>
            <a:ext cx="12266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seq=4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87065" y="5282242"/>
            <a:ext cx="1226676" cy="49256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87065" y="5397261"/>
            <a:ext cx="12266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seq=5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58665" y="5282242"/>
            <a:ext cx="1226676" cy="4925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858665" y="5397261"/>
            <a:ext cx="12266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seq=6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30265" y="5282242"/>
            <a:ext cx="1226676" cy="4925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01510" y="5397261"/>
            <a:ext cx="12266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seq=7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55920" y="4800025"/>
            <a:ext cx="182880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900" b="1">
                <a:solidFill>
                  <a:srgbClr val="14B8A6"/>
                </a:solidFill>
                <a:latin typeface="Segoe UI"/>
              </a:defRPr>
            </a:pPr>
            <a:r>
              <a:rPr sz="1400"/>
              <a:t>← filled by history</a:t>
            </a:r>
            <a:endParaRPr lang="en-US" sz="1400">
              <a:cs typeface="Segoe UI"/>
            </a:endParaRPr>
          </a:p>
        </p:txBody>
      </p:sp>
      <p:sp>
        <p:nvSpPr>
          <p:cNvPr id="55" name="Rounded Rectangle 7">
            <a:extLst>
              <a:ext uri="{FF2B5EF4-FFF2-40B4-BE49-F238E27FC236}">
                <a16:creationId xmlns:a16="http://schemas.microsoft.com/office/drawing/2014/main" id="{831BC891-D647-1160-13BE-E70FB208648B}"/>
              </a:ext>
            </a:extLst>
          </p:cNvPr>
          <p:cNvSpPr/>
          <p:nvPr/>
        </p:nvSpPr>
        <p:spPr>
          <a:xfrm>
            <a:off x="2251494" y="1944970"/>
            <a:ext cx="1341694" cy="841363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9084DDF-EBF6-03DA-8C9F-742E93A5EF1C}"/>
              </a:ext>
            </a:extLst>
          </p:cNvPr>
          <p:cNvSpPr txBox="1"/>
          <p:nvPr/>
        </p:nvSpPr>
        <p:spPr>
          <a:xfrm>
            <a:off x="2366513" y="2105708"/>
            <a:ext cx="109728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lang="en-US" sz="1400"/>
              <a:t>seq=2</a:t>
            </a:r>
            <a:endParaRPr lang="en-US" sz="1400">
              <a:cs typeface="Segoe UI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93F2271-81CB-9E91-7947-DCE35E6920C5}"/>
              </a:ext>
            </a:extLst>
          </p:cNvPr>
          <p:cNvSpPr txBox="1"/>
          <p:nvPr/>
        </p:nvSpPr>
        <p:spPr>
          <a:xfrm>
            <a:off x="2337758" y="24231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delivered</a:t>
            </a:r>
          </a:p>
        </p:txBody>
      </p:sp>
      <p:sp>
        <p:nvSpPr>
          <p:cNvPr id="61" name="Rounded Rectangle 7">
            <a:extLst>
              <a:ext uri="{FF2B5EF4-FFF2-40B4-BE49-F238E27FC236}">
                <a16:creationId xmlns:a16="http://schemas.microsoft.com/office/drawing/2014/main" id="{0E1E30A3-482B-8658-AC2C-FE52BA3349B5}"/>
              </a:ext>
            </a:extLst>
          </p:cNvPr>
          <p:cNvSpPr/>
          <p:nvPr/>
        </p:nvSpPr>
        <p:spPr>
          <a:xfrm>
            <a:off x="3761117" y="1901838"/>
            <a:ext cx="1341694" cy="841363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0CE9C4-DA16-51E1-B527-E1274BC78561}"/>
              </a:ext>
            </a:extLst>
          </p:cNvPr>
          <p:cNvSpPr txBox="1"/>
          <p:nvPr/>
        </p:nvSpPr>
        <p:spPr>
          <a:xfrm>
            <a:off x="3876136" y="2062576"/>
            <a:ext cx="109728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lang="en-US" sz="1400"/>
              <a:t>seq=3</a:t>
            </a:r>
            <a:endParaRPr lang="en-US" sz="1400">
              <a:cs typeface="Segoe UI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81C02A5-7902-8966-83B5-FFF436347282}"/>
              </a:ext>
            </a:extLst>
          </p:cNvPr>
          <p:cNvSpPr txBox="1"/>
          <p:nvPr/>
        </p:nvSpPr>
        <p:spPr>
          <a:xfrm>
            <a:off x="3847381" y="2380027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delivered</a:t>
            </a:r>
          </a:p>
        </p:txBody>
      </p:sp>
      <p:sp>
        <p:nvSpPr>
          <p:cNvPr id="64" name="Rounded Rectangle 22">
            <a:extLst>
              <a:ext uri="{FF2B5EF4-FFF2-40B4-BE49-F238E27FC236}">
                <a16:creationId xmlns:a16="http://schemas.microsoft.com/office/drawing/2014/main" id="{98FB0BAD-D6D1-C849-8F90-2547AF5C9350}"/>
              </a:ext>
            </a:extLst>
          </p:cNvPr>
          <p:cNvSpPr/>
          <p:nvPr/>
        </p:nvSpPr>
        <p:spPr>
          <a:xfrm>
            <a:off x="9411418" y="1959346"/>
            <a:ext cx="1312940" cy="76947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11A1278-90B1-25A7-7A0D-7F5CD1B1BC48}"/>
              </a:ext>
            </a:extLst>
          </p:cNvPr>
          <p:cNvSpPr txBox="1"/>
          <p:nvPr/>
        </p:nvSpPr>
        <p:spPr>
          <a:xfrm>
            <a:off x="9123871" y="2048198"/>
            <a:ext cx="187365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sz="1400"/>
              <a:t>seq=</a:t>
            </a:r>
            <a:r>
              <a:rPr lang="en-US" sz="1400"/>
              <a:t>7</a:t>
            </a:r>
            <a:endParaRPr lang="en-US" sz="1400">
              <a:cs typeface="Segoe UI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FF67817-FC5C-EA11-8B0A-A8B5022C7DC9}"/>
              </a:ext>
            </a:extLst>
          </p:cNvPr>
          <p:cNvSpPr txBox="1"/>
          <p:nvPr/>
        </p:nvSpPr>
        <p:spPr>
          <a:xfrm>
            <a:off x="9411418" y="2365650"/>
            <a:ext cx="13129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buffered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D7152-1908-C2A1-22FF-907093717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Crash Recovery &amp; Persistence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016000" cy="33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2759" y="2565779"/>
            <a:ext cx="10972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5639" y="265721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Recovery Flow: Node Restarts After Crash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8519" y="3205859"/>
            <a:ext cx="1645920" cy="10972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9959" y="334301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✖ Crash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9959" y="375449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  <a:latin typeface="Segoe UI"/>
              </a:defRPr>
            </a:pPr>
            <a:r>
              <a:t>Node halts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7319" y="34801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0199" y="3205859"/>
            <a:ext cx="1645920" cy="10972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51639" y="334301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1639" y="375449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  <a:latin typeface="Segoe UI"/>
              </a:defRPr>
            </a:pPr>
            <a:r>
              <a:t>Process starts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8999" y="34801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71879" y="3205859"/>
            <a:ext cx="1645920" cy="109728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63319" y="334301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Load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3319" y="375449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  <a:latin typeface="Segoe UI"/>
              </a:defRPr>
            </a:pPr>
            <a:r>
              <a:t>SQLite read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0679" y="34801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83559" y="3205859"/>
            <a:ext cx="1645920" cy="109728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74999" y="334301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Rejoin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4999" y="375449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  <a:latin typeface="Segoe UI"/>
              </a:defRPr>
            </a:pPr>
            <a:r>
              <a:t>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2359" y="34801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5239" y="3205859"/>
            <a:ext cx="1645920" cy="10972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86679" y="334301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6679" y="3754499"/>
            <a:ext cx="146304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  <a:latin typeface="Segoe UI"/>
              </a:defRPr>
            </a:pPr>
            <a:r>
              <a:t>HISTORY_</a:t>
            </a:r>
            <a:r>
              <a:rPr lang="en-US"/>
              <a:t>REQUEST</a:t>
            </a:r>
            <a:endParaRPr/>
          </a:p>
        </p:txBody>
      </p:sp>
      <p:pic>
        <p:nvPicPr>
          <p:cNvPr id="40" name="Picture 39" descr="Database Icons - Free SVG &amp; PNG Database Images - Noun Project">
            <a:extLst>
              <a:ext uri="{FF2B5EF4-FFF2-40B4-BE49-F238E27FC236}">
                <a16:creationId xmlns:a16="http://schemas.microsoft.com/office/drawing/2014/main" id="{35CC8611-EB40-DCE3-3997-6CB1BF84D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697" y="3942838"/>
            <a:ext cx="680072" cy="768767"/>
          </a:xfrm>
          <a:prstGeom prst="rect">
            <a:avLst/>
          </a:prstGeom>
        </p:spPr>
      </p:pic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7373BED1-4D7A-F1A6-F376-06381237F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09AAE-FFEF-9FE9-53EC-484FC9E26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lowchart: Data 53">
            <a:extLst>
              <a:ext uri="{FF2B5EF4-FFF2-40B4-BE49-F238E27FC236}">
                <a16:creationId xmlns:a16="http://schemas.microsoft.com/office/drawing/2014/main" id="{FD6C3684-5116-222F-2D5B-06F40BEB66D1}"/>
              </a:ext>
            </a:extLst>
          </p:cNvPr>
          <p:cNvSpPr/>
          <p:nvPr/>
        </p:nvSpPr>
        <p:spPr>
          <a:xfrm>
            <a:off x="3513445" y="4750455"/>
            <a:ext cx="5361295" cy="74912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BB6A73-0A97-6AF2-D89E-B700627FD33F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5820C5-582A-62B2-EA90-57D19BB3A5EF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FD9FAD-CE84-D1B7-C9B1-EEF537B3F772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Sequencer Election Protocol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890FB21-B157-CD29-08A1-D0213BD50EE0}"/>
              </a:ext>
            </a:extLst>
          </p:cNvPr>
          <p:cNvSpPr/>
          <p:nvPr/>
        </p:nvSpPr>
        <p:spPr>
          <a:xfrm>
            <a:off x="10058400" y="320040"/>
            <a:ext cx="1016000" cy="33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II</a:t>
            </a:r>
          </a:p>
        </p:txBody>
      </p:sp>
      <p:sp>
        <p:nvSpPr>
          <p:cNvPr id="56" name="Flowchart: Data 55">
            <a:extLst>
              <a:ext uri="{FF2B5EF4-FFF2-40B4-BE49-F238E27FC236}">
                <a16:creationId xmlns:a16="http://schemas.microsoft.com/office/drawing/2014/main" id="{1D53C254-C0CD-CDA0-B397-B20455D9F05F}"/>
              </a:ext>
            </a:extLst>
          </p:cNvPr>
          <p:cNvSpPr/>
          <p:nvPr/>
        </p:nvSpPr>
        <p:spPr>
          <a:xfrm>
            <a:off x="4571146" y="3328812"/>
            <a:ext cx="3814549" cy="521662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B617149-0818-3D40-2B72-BD27685649BB}"/>
              </a:ext>
            </a:extLst>
          </p:cNvPr>
          <p:cNvCxnSpPr/>
          <p:nvPr/>
        </p:nvCxnSpPr>
        <p:spPr>
          <a:xfrm>
            <a:off x="5047396" y="4962097"/>
            <a:ext cx="641446" cy="95535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F2B4B8F-5F01-5083-454D-5F699E5655A3}"/>
              </a:ext>
            </a:extLst>
          </p:cNvPr>
          <p:cNvCxnSpPr>
            <a:cxnSpLocks/>
          </p:cNvCxnSpPr>
          <p:nvPr/>
        </p:nvCxnSpPr>
        <p:spPr>
          <a:xfrm flipV="1">
            <a:off x="5695663" y="4921154"/>
            <a:ext cx="1414819" cy="200167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1B10046-D10C-6CB0-6612-2A78140CC763}"/>
              </a:ext>
            </a:extLst>
          </p:cNvPr>
          <p:cNvCxnSpPr>
            <a:cxnSpLocks/>
          </p:cNvCxnSpPr>
          <p:nvPr/>
        </p:nvCxnSpPr>
        <p:spPr>
          <a:xfrm>
            <a:off x="5695662" y="5144067"/>
            <a:ext cx="777924" cy="15239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38EF355-72EE-A43A-A484-F8C5D5959F92}"/>
              </a:ext>
            </a:extLst>
          </p:cNvPr>
          <p:cNvCxnSpPr>
            <a:cxnSpLocks/>
          </p:cNvCxnSpPr>
          <p:nvPr/>
        </p:nvCxnSpPr>
        <p:spPr>
          <a:xfrm flipH="1">
            <a:off x="6507705" y="3506335"/>
            <a:ext cx="18194" cy="175601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BABF6D7-F0B7-A271-4CA0-C8253AF9DBF1}"/>
              </a:ext>
            </a:extLst>
          </p:cNvPr>
          <p:cNvCxnSpPr>
            <a:cxnSpLocks/>
          </p:cNvCxnSpPr>
          <p:nvPr/>
        </p:nvCxnSpPr>
        <p:spPr>
          <a:xfrm flipH="1">
            <a:off x="5063317" y="3608692"/>
            <a:ext cx="609597" cy="12783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84FE918-0FD7-9C5E-2F1B-FFD9707E9293}"/>
              </a:ext>
            </a:extLst>
          </p:cNvPr>
          <p:cNvCxnSpPr>
            <a:cxnSpLocks/>
          </p:cNvCxnSpPr>
          <p:nvPr/>
        </p:nvCxnSpPr>
        <p:spPr>
          <a:xfrm flipH="1">
            <a:off x="5700212" y="3517706"/>
            <a:ext cx="802940" cy="15740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BFE2F803-3031-9E64-EFF1-888489FDD1AE}"/>
              </a:ext>
            </a:extLst>
          </p:cNvPr>
          <p:cNvSpPr/>
          <p:nvPr/>
        </p:nvSpPr>
        <p:spPr>
          <a:xfrm>
            <a:off x="5525067" y="4916605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6459C67-0A2F-B6AC-58CD-6618D1AF5229}"/>
              </a:ext>
            </a:extLst>
          </p:cNvPr>
          <p:cNvSpPr/>
          <p:nvPr/>
        </p:nvSpPr>
        <p:spPr>
          <a:xfrm>
            <a:off x="6298440" y="5098573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4075226-AA2F-0843-C590-E7B2F10C5533}"/>
              </a:ext>
            </a:extLst>
          </p:cNvPr>
          <p:cNvCxnSpPr>
            <a:cxnSpLocks/>
          </p:cNvCxnSpPr>
          <p:nvPr/>
        </p:nvCxnSpPr>
        <p:spPr>
          <a:xfrm flipV="1">
            <a:off x="5695660" y="3567746"/>
            <a:ext cx="777925" cy="2957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C150131-AEB2-8DC8-AD5A-84233BB3E13B}"/>
              </a:ext>
            </a:extLst>
          </p:cNvPr>
          <p:cNvCxnSpPr>
            <a:cxnSpLocks/>
          </p:cNvCxnSpPr>
          <p:nvPr/>
        </p:nvCxnSpPr>
        <p:spPr>
          <a:xfrm>
            <a:off x="6480405" y="3563199"/>
            <a:ext cx="630075" cy="6141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8578CAE7-4BB8-ABD3-7D98-750D32DF6441}"/>
              </a:ext>
            </a:extLst>
          </p:cNvPr>
          <p:cNvSpPr/>
          <p:nvPr/>
        </p:nvSpPr>
        <p:spPr>
          <a:xfrm>
            <a:off x="4865426" y="4768754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Data 67">
            <a:extLst>
              <a:ext uri="{FF2B5EF4-FFF2-40B4-BE49-F238E27FC236}">
                <a16:creationId xmlns:a16="http://schemas.microsoft.com/office/drawing/2014/main" id="{D2271891-C79F-EC76-6EE5-F23B10AF4833}"/>
              </a:ext>
            </a:extLst>
          </p:cNvPr>
          <p:cNvSpPr/>
          <p:nvPr/>
        </p:nvSpPr>
        <p:spPr>
          <a:xfrm>
            <a:off x="5879056" y="2248363"/>
            <a:ext cx="1539922" cy="20321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3264F9C-7B44-FBC9-755C-EC546EA1F49D}"/>
              </a:ext>
            </a:extLst>
          </p:cNvPr>
          <p:cNvCxnSpPr>
            <a:cxnSpLocks/>
          </p:cNvCxnSpPr>
          <p:nvPr/>
        </p:nvCxnSpPr>
        <p:spPr>
          <a:xfrm flipH="1">
            <a:off x="5745704" y="2266661"/>
            <a:ext cx="905298" cy="12783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2E14024-73BC-D4B5-B686-C2A1328C4EEA}"/>
              </a:ext>
            </a:extLst>
          </p:cNvPr>
          <p:cNvCxnSpPr>
            <a:cxnSpLocks/>
          </p:cNvCxnSpPr>
          <p:nvPr/>
        </p:nvCxnSpPr>
        <p:spPr>
          <a:xfrm flipH="1">
            <a:off x="6462211" y="2357645"/>
            <a:ext cx="131925" cy="113048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476D58A-8795-A391-6751-8F1D1A091126}"/>
              </a:ext>
            </a:extLst>
          </p:cNvPr>
          <p:cNvCxnSpPr>
            <a:cxnSpLocks/>
          </p:cNvCxnSpPr>
          <p:nvPr/>
        </p:nvCxnSpPr>
        <p:spPr>
          <a:xfrm flipH="1">
            <a:off x="7133225" y="3472211"/>
            <a:ext cx="473119" cy="15239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951F55A1-34CF-E9CB-60E0-7758FA302DE2}"/>
              </a:ext>
            </a:extLst>
          </p:cNvPr>
          <p:cNvSpPr/>
          <p:nvPr/>
        </p:nvSpPr>
        <p:spPr>
          <a:xfrm>
            <a:off x="5525067" y="3415350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35FFAD3-02AE-501D-0C14-374908D5ED06}"/>
              </a:ext>
            </a:extLst>
          </p:cNvPr>
          <p:cNvSpPr/>
          <p:nvPr/>
        </p:nvSpPr>
        <p:spPr>
          <a:xfrm>
            <a:off x="6298439" y="332436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4634CB45-FEBD-8EA2-F059-522C22FD92BF}"/>
              </a:ext>
            </a:extLst>
          </p:cNvPr>
          <p:cNvSpPr/>
          <p:nvPr/>
        </p:nvSpPr>
        <p:spPr>
          <a:xfrm>
            <a:off x="6446289" y="2096065"/>
            <a:ext cx="357117" cy="34574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D204C0E-ACFE-6FDC-86EA-E46FD5254405}"/>
              </a:ext>
            </a:extLst>
          </p:cNvPr>
          <p:cNvSpPr txBox="1"/>
          <p:nvPr/>
        </p:nvSpPr>
        <p:spPr>
          <a:xfrm>
            <a:off x="905837" y="2075262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Sequencer node</a:t>
            </a:r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B2D8D70-BEF4-DFCF-FDAA-9BAF70D2BDD5}"/>
              </a:ext>
            </a:extLst>
          </p:cNvPr>
          <p:cNvSpPr txBox="1"/>
          <p:nvPr/>
        </p:nvSpPr>
        <p:spPr>
          <a:xfrm>
            <a:off x="905836" y="34172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Core nodes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F794100-9095-A06B-3343-399109349344}"/>
              </a:ext>
            </a:extLst>
          </p:cNvPr>
          <p:cNvSpPr txBox="1"/>
          <p:nvPr/>
        </p:nvSpPr>
        <p:spPr>
          <a:xfrm>
            <a:off x="905837" y="5134634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Regular nodes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B4294902-C03B-C657-481B-5232843A25CF}"/>
              </a:ext>
            </a:extLst>
          </p:cNvPr>
          <p:cNvSpPr/>
          <p:nvPr/>
        </p:nvSpPr>
        <p:spPr>
          <a:xfrm>
            <a:off x="7447125" y="329024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A39E500-C799-48A0-6F99-54568037351B}"/>
              </a:ext>
            </a:extLst>
          </p:cNvPr>
          <p:cNvCxnSpPr>
            <a:cxnSpLocks/>
          </p:cNvCxnSpPr>
          <p:nvPr/>
        </p:nvCxnSpPr>
        <p:spPr>
          <a:xfrm>
            <a:off x="7105927" y="3665558"/>
            <a:ext cx="27299" cy="12783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2D8BFCED-F80E-A9BD-A752-8DC66B871192}"/>
              </a:ext>
            </a:extLst>
          </p:cNvPr>
          <p:cNvSpPr/>
          <p:nvPr/>
        </p:nvSpPr>
        <p:spPr>
          <a:xfrm>
            <a:off x="6935336" y="4746007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C172270-6798-D635-9E47-42230766EE7D}"/>
              </a:ext>
            </a:extLst>
          </p:cNvPr>
          <p:cNvSpPr/>
          <p:nvPr/>
        </p:nvSpPr>
        <p:spPr>
          <a:xfrm>
            <a:off x="6935335" y="3494961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4097AA5-637A-11AE-81F6-4F5959363557}"/>
              </a:ext>
            </a:extLst>
          </p:cNvPr>
          <p:cNvCxnSpPr>
            <a:cxnSpLocks/>
          </p:cNvCxnSpPr>
          <p:nvPr/>
        </p:nvCxnSpPr>
        <p:spPr>
          <a:xfrm flipH="1">
            <a:off x="5609226" y="2255288"/>
            <a:ext cx="905298" cy="1278338"/>
          </a:xfrm>
          <a:prstGeom prst="straightConnector1">
            <a:avLst/>
          </a:prstGeom>
          <a:ln w="57150">
            <a:solidFill>
              <a:srgbClr val="7F5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5220B61-ECC6-8197-998A-B23DCA804CC7}"/>
              </a:ext>
            </a:extLst>
          </p:cNvPr>
          <p:cNvCxnSpPr>
            <a:cxnSpLocks/>
          </p:cNvCxnSpPr>
          <p:nvPr/>
        </p:nvCxnSpPr>
        <p:spPr>
          <a:xfrm flipH="1">
            <a:off x="6564568" y="2334898"/>
            <a:ext cx="143299" cy="1221473"/>
          </a:xfrm>
          <a:prstGeom prst="straightConnector1">
            <a:avLst/>
          </a:prstGeom>
          <a:ln w="57150">
            <a:solidFill>
              <a:srgbClr val="7F5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7592BBC-722D-E791-2ED0-BD59723F3312}"/>
              </a:ext>
            </a:extLst>
          </p:cNvPr>
          <p:cNvCxnSpPr>
            <a:cxnSpLocks/>
          </p:cNvCxnSpPr>
          <p:nvPr/>
        </p:nvCxnSpPr>
        <p:spPr>
          <a:xfrm>
            <a:off x="6753359" y="2323526"/>
            <a:ext cx="925776" cy="1210100"/>
          </a:xfrm>
          <a:prstGeom prst="straightConnector1">
            <a:avLst/>
          </a:prstGeom>
          <a:ln w="57150">
            <a:solidFill>
              <a:srgbClr val="7F5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001E823C-B6DE-B0C1-C2D9-9B7A6B880B2B}"/>
              </a:ext>
            </a:extLst>
          </p:cNvPr>
          <p:cNvCxnSpPr>
            <a:cxnSpLocks/>
          </p:cNvCxnSpPr>
          <p:nvPr/>
        </p:nvCxnSpPr>
        <p:spPr>
          <a:xfrm>
            <a:off x="6616882" y="2312154"/>
            <a:ext cx="550463" cy="1187353"/>
          </a:xfrm>
          <a:prstGeom prst="straightConnector1">
            <a:avLst/>
          </a:prstGeom>
          <a:ln w="57150">
            <a:solidFill>
              <a:srgbClr val="7F5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630F8109-7AD3-9A89-11D5-24CE03E52225}"/>
              </a:ext>
            </a:extLst>
          </p:cNvPr>
          <p:cNvSpPr txBox="1"/>
          <p:nvPr/>
        </p:nvSpPr>
        <p:spPr>
          <a:xfrm>
            <a:off x="9162732" y="2245858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8C5FF6"/>
                </a:solidFill>
                <a:ea typeface="Calibri"/>
                <a:cs typeface="Calibri"/>
              </a:rPr>
              <a:t>SEQ_HEARTBEAT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91417-80CE-1632-1EA0-AC9A58846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37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2C47AA-00B7-B2AA-6774-8B48506DD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lowchart: Data 53">
            <a:extLst>
              <a:ext uri="{FF2B5EF4-FFF2-40B4-BE49-F238E27FC236}">
                <a16:creationId xmlns:a16="http://schemas.microsoft.com/office/drawing/2014/main" id="{05E1371E-B0DF-479B-C0A9-6E039368EAC6}"/>
              </a:ext>
            </a:extLst>
          </p:cNvPr>
          <p:cNvSpPr/>
          <p:nvPr/>
        </p:nvSpPr>
        <p:spPr>
          <a:xfrm>
            <a:off x="3513445" y="4750455"/>
            <a:ext cx="5361295" cy="74912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B8E263-2FA5-D6D1-B502-C41F112E7137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36829D-DFCE-ED47-365A-7A785C829137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279466-239E-C472-E10A-5D8E291011E1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Sequencer Election Protocol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1BC3F2E-4E65-9423-5E7F-91FEE3B379BF}"/>
              </a:ext>
            </a:extLst>
          </p:cNvPr>
          <p:cNvSpPr/>
          <p:nvPr/>
        </p:nvSpPr>
        <p:spPr>
          <a:xfrm>
            <a:off x="10058400" y="320040"/>
            <a:ext cx="1016000" cy="33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II</a:t>
            </a:r>
          </a:p>
        </p:txBody>
      </p:sp>
      <p:sp>
        <p:nvSpPr>
          <p:cNvPr id="56" name="Flowchart: Data 55">
            <a:extLst>
              <a:ext uri="{FF2B5EF4-FFF2-40B4-BE49-F238E27FC236}">
                <a16:creationId xmlns:a16="http://schemas.microsoft.com/office/drawing/2014/main" id="{80E536CC-870B-F64E-A361-A0647BC9FBC3}"/>
              </a:ext>
            </a:extLst>
          </p:cNvPr>
          <p:cNvSpPr/>
          <p:nvPr/>
        </p:nvSpPr>
        <p:spPr>
          <a:xfrm>
            <a:off x="4571146" y="3328812"/>
            <a:ext cx="3814549" cy="521662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E02FAE2-8FC0-48CE-018F-9B2207F7B14A}"/>
              </a:ext>
            </a:extLst>
          </p:cNvPr>
          <p:cNvCxnSpPr/>
          <p:nvPr/>
        </p:nvCxnSpPr>
        <p:spPr>
          <a:xfrm>
            <a:off x="5047396" y="4962097"/>
            <a:ext cx="641446" cy="95535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EF32936-A971-1C0D-B355-2DAD6F56FDD7}"/>
              </a:ext>
            </a:extLst>
          </p:cNvPr>
          <p:cNvCxnSpPr>
            <a:cxnSpLocks/>
          </p:cNvCxnSpPr>
          <p:nvPr/>
        </p:nvCxnSpPr>
        <p:spPr>
          <a:xfrm flipV="1">
            <a:off x="5695663" y="4921154"/>
            <a:ext cx="1414819" cy="200167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8747138-4E72-F68F-B2F2-5273662DD487}"/>
              </a:ext>
            </a:extLst>
          </p:cNvPr>
          <p:cNvCxnSpPr>
            <a:cxnSpLocks/>
          </p:cNvCxnSpPr>
          <p:nvPr/>
        </p:nvCxnSpPr>
        <p:spPr>
          <a:xfrm>
            <a:off x="5695662" y="5144067"/>
            <a:ext cx="777924" cy="15239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65AE036-54E2-663C-CF86-A0E1ADFF80EE}"/>
              </a:ext>
            </a:extLst>
          </p:cNvPr>
          <p:cNvCxnSpPr>
            <a:cxnSpLocks/>
          </p:cNvCxnSpPr>
          <p:nvPr/>
        </p:nvCxnSpPr>
        <p:spPr>
          <a:xfrm flipH="1">
            <a:off x="6507705" y="3506335"/>
            <a:ext cx="18194" cy="175601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6886BDF-BAD9-4EB8-4A03-4AF6241CAE85}"/>
              </a:ext>
            </a:extLst>
          </p:cNvPr>
          <p:cNvCxnSpPr>
            <a:cxnSpLocks/>
          </p:cNvCxnSpPr>
          <p:nvPr/>
        </p:nvCxnSpPr>
        <p:spPr>
          <a:xfrm flipH="1">
            <a:off x="5063317" y="3608692"/>
            <a:ext cx="609597" cy="12783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874A17B-8441-9C9A-3ABB-8DB698DA1190}"/>
              </a:ext>
            </a:extLst>
          </p:cNvPr>
          <p:cNvCxnSpPr>
            <a:cxnSpLocks/>
          </p:cNvCxnSpPr>
          <p:nvPr/>
        </p:nvCxnSpPr>
        <p:spPr>
          <a:xfrm flipH="1">
            <a:off x="5700212" y="3517706"/>
            <a:ext cx="802940" cy="15740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2D110A96-068D-793F-C190-A42C6C3B7934}"/>
              </a:ext>
            </a:extLst>
          </p:cNvPr>
          <p:cNvSpPr/>
          <p:nvPr/>
        </p:nvSpPr>
        <p:spPr>
          <a:xfrm>
            <a:off x="5525067" y="4916605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238415C-5616-8A5D-2382-750A8AF5453B}"/>
              </a:ext>
            </a:extLst>
          </p:cNvPr>
          <p:cNvSpPr/>
          <p:nvPr/>
        </p:nvSpPr>
        <p:spPr>
          <a:xfrm>
            <a:off x="6298440" y="5098573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EC16EAB-2C7B-89B7-C493-A66A87BC1AB8}"/>
              </a:ext>
            </a:extLst>
          </p:cNvPr>
          <p:cNvCxnSpPr>
            <a:cxnSpLocks/>
          </p:cNvCxnSpPr>
          <p:nvPr/>
        </p:nvCxnSpPr>
        <p:spPr>
          <a:xfrm flipV="1">
            <a:off x="5695660" y="3567746"/>
            <a:ext cx="777925" cy="2957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9F7F2F4-8C31-E9C3-577D-CC49229272D6}"/>
              </a:ext>
            </a:extLst>
          </p:cNvPr>
          <p:cNvCxnSpPr>
            <a:cxnSpLocks/>
          </p:cNvCxnSpPr>
          <p:nvPr/>
        </p:nvCxnSpPr>
        <p:spPr>
          <a:xfrm>
            <a:off x="6480405" y="3563199"/>
            <a:ext cx="630075" cy="6141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16D2CD8A-8E0D-43BC-F9EA-02E4FE54BAB2}"/>
              </a:ext>
            </a:extLst>
          </p:cNvPr>
          <p:cNvSpPr/>
          <p:nvPr/>
        </p:nvSpPr>
        <p:spPr>
          <a:xfrm>
            <a:off x="4865426" y="4768754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Data 67">
            <a:extLst>
              <a:ext uri="{FF2B5EF4-FFF2-40B4-BE49-F238E27FC236}">
                <a16:creationId xmlns:a16="http://schemas.microsoft.com/office/drawing/2014/main" id="{AB0F9275-B08B-5153-3A65-C4A24768F754}"/>
              </a:ext>
            </a:extLst>
          </p:cNvPr>
          <p:cNvSpPr/>
          <p:nvPr/>
        </p:nvSpPr>
        <p:spPr>
          <a:xfrm>
            <a:off x="5879056" y="2248363"/>
            <a:ext cx="1539922" cy="20321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3BD4955-8842-D8E1-FD22-4D43A03B8379}"/>
              </a:ext>
            </a:extLst>
          </p:cNvPr>
          <p:cNvCxnSpPr>
            <a:cxnSpLocks/>
          </p:cNvCxnSpPr>
          <p:nvPr/>
        </p:nvCxnSpPr>
        <p:spPr>
          <a:xfrm flipH="1">
            <a:off x="5745704" y="2266661"/>
            <a:ext cx="905298" cy="12783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C9FA72B-3ABE-1B02-7D7E-DDAD6872B176}"/>
              </a:ext>
            </a:extLst>
          </p:cNvPr>
          <p:cNvCxnSpPr>
            <a:cxnSpLocks/>
          </p:cNvCxnSpPr>
          <p:nvPr/>
        </p:nvCxnSpPr>
        <p:spPr>
          <a:xfrm flipH="1">
            <a:off x="6462211" y="2357645"/>
            <a:ext cx="131925" cy="113048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EAC472B-1572-A998-23A5-B47E994CAFFD}"/>
              </a:ext>
            </a:extLst>
          </p:cNvPr>
          <p:cNvCxnSpPr>
            <a:cxnSpLocks/>
          </p:cNvCxnSpPr>
          <p:nvPr/>
        </p:nvCxnSpPr>
        <p:spPr>
          <a:xfrm flipH="1">
            <a:off x="7133225" y="3472211"/>
            <a:ext cx="473119" cy="15239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A9A46B9A-154E-9359-8C31-67B4CF6580DA}"/>
              </a:ext>
            </a:extLst>
          </p:cNvPr>
          <p:cNvSpPr/>
          <p:nvPr/>
        </p:nvSpPr>
        <p:spPr>
          <a:xfrm>
            <a:off x="5525067" y="3415350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0265B23-2676-B098-CAD4-E9E17D5DA75D}"/>
              </a:ext>
            </a:extLst>
          </p:cNvPr>
          <p:cNvSpPr/>
          <p:nvPr/>
        </p:nvSpPr>
        <p:spPr>
          <a:xfrm>
            <a:off x="6298439" y="332436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5104B99-7ADF-E5E7-30DD-E7E1D827F117}"/>
              </a:ext>
            </a:extLst>
          </p:cNvPr>
          <p:cNvSpPr/>
          <p:nvPr/>
        </p:nvSpPr>
        <p:spPr>
          <a:xfrm>
            <a:off x="6446289" y="2096065"/>
            <a:ext cx="357117" cy="345744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CB2C716-692B-8C8C-74F5-6551B0701894}"/>
              </a:ext>
            </a:extLst>
          </p:cNvPr>
          <p:cNvSpPr txBox="1"/>
          <p:nvPr/>
        </p:nvSpPr>
        <p:spPr>
          <a:xfrm>
            <a:off x="5430212" y="1532337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Sequencer node offline</a:t>
            </a:r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D1DD09D-8C8D-A081-0CFD-98B3D54233B1}"/>
              </a:ext>
            </a:extLst>
          </p:cNvPr>
          <p:cNvSpPr txBox="1"/>
          <p:nvPr/>
        </p:nvSpPr>
        <p:spPr>
          <a:xfrm>
            <a:off x="905836" y="34172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Core nodes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02E2E5E-C42A-149A-0EAA-8188E82EEEE0}"/>
              </a:ext>
            </a:extLst>
          </p:cNvPr>
          <p:cNvSpPr txBox="1"/>
          <p:nvPr/>
        </p:nvSpPr>
        <p:spPr>
          <a:xfrm>
            <a:off x="905837" y="5134634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Regular nodes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64A39229-B08E-8305-4CFB-EAF5FE3E40DB}"/>
              </a:ext>
            </a:extLst>
          </p:cNvPr>
          <p:cNvSpPr/>
          <p:nvPr/>
        </p:nvSpPr>
        <p:spPr>
          <a:xfrm>
            <a:off x="7447125" y="329024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0351D3D-FBB3-1144-CBB1-D23978CF6BD8}"/>
              </a:ext>
            </a:extLst>
          </p:cNvPr>
          <p:cNvCxnSpPr>
            <a:cxnSpLocks/>
          </p:cNvCxnSpPr>
          <p:nvPr/>
        </p:nvCxnSpPr>
        <p:spPr>
          <a:xfrm>
            <a:off x="7105927" y="3665558"/>
            <a:ext cx="27299" cy="12783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2FBB06E9-91F2-F246-C859-945E143F9215}"/>
              </a:ext>
            </a:extLst>
          </p:cNvPr>
          <p:cNvSpPr/>
          <p:nvPr/>
        </p:nvSpPr>
        <p:spPr>
          <a:xfrm>
            <a:off x="6935336" y="4746007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2756B28-E08E-EE08-A94A-972E8CB4BC99}"/>
              </a:ext>
            </a:extLst>
          </p:cNvPr>
          <p:cNvSpPr/>
          <p:nvPr/>
        </p:nvSpPr>
        <p:spPr>
          <a:xfrm>
            <a:off x="6935335" y="3494961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2C8429E-665E-D41D-E981-2021115C7B33}"/>
              </a:ext>
            </a:extLst>
          </p:cNvPr>
          <p:cNvCxnSpPr>
            <a:cxnSpLocks/>
          </p:cNvCxnSpPr>
          <p:nvPr/>
        </p:nvCxnSpPr>
        <p:spPr>
          <a:xfrm flipH="1">
            <a:off x="5609226" y="2255288"/>
            <a:ext cx="905298" cy="1278338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8D5B4A8A-4A59-BFAC-3D82-ADDE96B6D8AA}"/>
              </a:ext>
            </a:extLst>
          </p:cNvPr>
          <p:cNvCxnSpPr>
            <a:cxnSpLocks/>
          </p:cNvCxnSpPr>
          <p:nvPr/>
        </p:nvCxnSpPr>
        <p:spPr>
          <a:xfrm flipH="1">
            <a:off x="6564568" y="2334898"/>
            <a:ext cx="143299" cy="1221473"/>
          </a:xfrm>
          <a:prstGeom prst="straightConnector1">
            <a:avLst/>
          </a:prstGeom>
          <a:ln w="57150">
            <a:solidFill>
              <a:srgbClr val="7F5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22D5562-70B7-E853-E4CF-7E79F3570406}"/>
              </a:ext>
            </a:extLst>
          </p:cNvPr>
          <p:cNvCxnSpPr>
            <a:cxnSpLocks/>
          </p:cNvCxnSpPr>
          <p:nvPr/>
        </p:nvCxnSpPr>
        <p:spPr>
          <a:xfrm>
            <a:off x="6753359" y="2323526"/>
            <a:ext cx="925776" cy="1210100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383CF70-8E83-59C2-3EA5-713EFC45762E}"/>
              </a:ext>
            </a:extLst>
          </p:cNvPr>
          <p:cNvCxnSpPr>
            <a:cxnSpLocks/>
          </p:cNvCxnSpPr>
          <p:nvPr/>
        </p:nvCxnSpPr>
        <p:spPr>
          <a:xfrm>
            <a:off x="6616882" y="2312154"/>
            <a:ext cx="550463" cy="1187353"/>
          </a:xfrm>
          <a:prstGeom prst="straightConnector1">
            <a:avLst/>
          </a:prstGeom>
          <a:ln w="57150">
            <a:solidFill>
              <a:srgbClr val="7F5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9C4DFD4A-8AC5-FA63-3E0A-034585F805D3}"/>
              </a:ext>
            </a:extLst>
          </p:cNvPr>
          <p:cNvSpPr txBox="1"/>
          <p:nvPr/>
        </p:nvSpPr>
        <p:spPr>
          <a:xfrm>
            <a:off x="6686232" y="3855583"/>
            <a:ext cx="245408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FF0000"/>
                </a:solidFill>
                <a:ea typeface="Calibri"/>
                <a:cs typeface="Calibri"/>
              </a:rPr>
              <a:t>ELECTION_REQ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D06396-5152-9147-6B03-7194666E6AB4}"/>
              </a:ext>
            </a:extLst>
          </p:cNvPr>
          <p:cNvSpPr txBox="1"/>
          <p:nvPr/>
        </p:nvSpPr>
        <p:spPr>
          <a:xfrm>
            <a:off x="4162107" y="2703058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0000"/>
                </a:solidFill>
                <a:ea typeface="Calibri"/>
                <a:cs typeface="Calibri"/>
              </a:rPr>
              <a:t>ELECTION_REQ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7DB6AB-E195-B512-BE1B-F84E740C8F8A}"/>
              </a:ext>
            </a:extLst>
          </p:cNvPr>
          <p:cNvSpPr txBox="1"/>
          <p:nvPr/>
        </p:nvSpPr>
        <p:spPr>
          <a:xfrm>
            <a:off x="7448232" y="3017383"/>
            <a:ext cx="245408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FF0000"/>
                </a:solidFill>
                <a:ea typeface="Calibri"/>
                <a:cs typeface="Calibri"/>
              </a:rPr>
              <a:t>ELECTION_REQ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2D6217-0F8F-7DC5-4761-217515CF5998}"/>
              </a:ext>
            </a:extLst>
          </p:cNvPr>
          <p:cNvSpPr txBox="1"/>
          <p:nvPr/>
        </p:nvSpPr>
        <p:spPr>
          <a:xfrm>
            <a:off x="5457507" y="3674608"/>
            <a:ext cx="245408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FF0000"/>
                </a:solidFill>
                <a:ea typeface="Calibri"/>
                <a:cs typeface="Calibri"/>
              </a:rPr>
              <a:t>ELECTION_REQ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251674-CCB3-4D4E-C87B-1665F29744F8}"/>
              </a:ext>
            </a:extLst>
          </p:cNvPr>
          <p:cNvSpPr txBox="1"/>
          <p:nvPr/>
        </p:nvSpPr>
        <p:spPr>
          <a:xfrm>
            <a:off x="4162107" y="2950708"/>
            <a:ext cx="245408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>
                <a:ea typeface="Calibri"/>
                <a:cs typeface="Calibri"/>
              </a:rPr>
              <a:t>View number: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A400C0-66F3-3E42-58D3-45F72D9347FB}"/>
              </a:ext>
            </a:extLst>
          </p:cNvPr>
          <p:cNvSpPr txBox="1"/>
          <p:nvPr/>
        </p:nvSpPr>
        <p:spPr>
          <a:xfrm>
            <a:off x="7448232" y="3160258"/>
            <a:ext cx="245408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>
                <a:ea typeface="Calibri"/>
                <a:cs typeface="Calibri"/>
              </a:rPr>
              <a:t>View number: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D39D52-AE0E-0510-6115-8A67CE015A40}"/>
              </a:ext>
            </a:extLst>
          </p:cNvPr>
          <p:cNvSpPr txBox="1"/>
          <p:nvPr/>
        </p:nvSpPr>
        <p:spPr>
          <a:xfrm>
            <a:off x="6752907" y="4007983"/>
            <a:ext cx="245408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>
                <a:ea typeface="Calibri"/>
                <a:cs typeface="Calibri"/>
              </a:rPr>
              <a:t>View number: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A5EF29-05D5-C57D-B0AB-5B413CC10CD3}"/>
              </a:ext>
            </a:extLst>
          </p:cNvPr>
          <p:cNvSpPr txBox="1"/>
          <p:nvPr/>
        </p:nvSpPr>
        <p:spPr>
          <a:xfrm>
            <a:off x="7914957" y="3950833"/>
            <a:ext cx="245408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>
                <a:ea typeface="Calibri"/>
                <a:cs typeface="Calibri"/>
              </a:rPr>
              <a:t>Old request still being forwarded  with gossip !!!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87A8C-9F65-2C98-E818-A927545F4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039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7" grpId="0"/>
      <p:bldP spid="9" grpId="0"/>
      <p:bldP spid="11" grpId="0"/>
      <p:bldP spid="13" grpId="0"/>
      <p:bldP spid="15" grpId="0"/>
      <p:bldP spid="17" grpId="0"/>
      <p:bldP spid="1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C57ED9-7EBA-7A79-8155-792E87176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lowchart: Data 53">
            <a:extLst>
              <a:ext uri="{FF2B5EF4-FFF2-40B4-BE49-F238E27FC236}">
                <a16:creationId xmlns:a16="http://schemas.microsoft.com/office/drawing/2014/main" id="{19175682-CE93-A6BF-748E-FF5CFC54D11B}"/>
              </a:ext>
            </a:extLst>
          </p:cNvPr>
          <p:cNvSpPr/>
          <p:nvPr/>
        </p:nvSpPr>
        <p:spPr>
          <a:xfrm>
            <a:off x="3513445" y="4750455"/>
            <a:ext cx="5361295" cy="74912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3897CD-9229-B92B-995E-F9A05C4D1803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878B9A-CCC6-0823-A475-01F429D0DAA4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E75C13-F22F-3184-5223-C6360A448E6B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Sequencer Election Protocol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FE09DBB-6B67-6C14-75A9-5FF186B4C8C6}"/>
              </a:ext>
            </a:extLst>
          </p:cNvPr>
          <p:cNvSpPr/>
          <p:nvPr/>
        </p:nvSpPr>
        <p:spPr>
          <a:xfrm>
            <a:off x="10058400" y="320040"/>
            <a:ext cx="1016000" cy="33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II</a:t>
            </a:r>
          </a:p>
        </p:txBody>
      </p:sp>
      <p:sp>
        <p:nvSpPr>
          <p:cNvPr id="56" name="Flowchart: Data 55">
            <a:extLst>
              <a:ext uri="{FF2B5EF4-FFF2-40B4-BE49-F238E27FC236}">
                <a16:creationId xmlns:a16="http://schemas.microsoft.com/office/drawing/2014/main" id="{04948294-36BA-10C1-F1AF-4B8339140E27}"/>
              </a:ext>
            </a:extLst>
          </p:cNvPr>
          <p:cNvSpPr/>
          <p:nvPr/>
        </p:nvSpPr>
        <p:spPr>
          <a:xfrm>
            <a:off x="4571146" y="3328812"/>
            <a:ext cx="3814549" cy="521662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8AD4A4E-ADF3-DDBA-1806-C113A7C938A8}"/>
              </a:ext>
            </a:extLst>
          </p:cNvPr>
          <p:cNvCxnSpPr/>
          <p:nvPr/>
        </p:nvCxnSpPr>
        <p:spPr>
          <a:xfrm>
            <a:off x="5047396" y="4962097"/>
            <a:ext cx="641446" cy="95535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FCBE7CF-A623-BC71-1E19-A0FA8468C611}"/>
              </a:ext>
            </a:extLst>
          </p:cNvPr>
          <p:cNvCxnSpPr>
            <a:cxnSpLocks/>
          </p:cNvCxnSpPr>
          <p:nvPr/>
        </p:nvCxnSpPr>
        <p:spPr>
          <a:xfrm flipV="1">
            <a:off x="5695663" y="4921154"/>
            <a:ext cx="1414819" cy="200167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8613579-D886-7623-9D4B-846705B6DD6F}"/>
              </a:ext>
            </a:extLst>
          </p:cNvPr>
          <p:cNvCxnSpPr>
            <a:cxnSpLocks/>
          </p:cNvCxnSpPr>
          <p:nvPr/>
        </p:nvCxnSpPr>
        <p:spPr>
          <a:xfrm>
            <a:off x="5695662" y="5144067"/>
            <a:ext cx="777924" cy="15239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C7B4668-D78C-9483-00F8-DDAD86AEEA85}"/>
              </a:ext>
            </a:extLst>
          </p:cNvPr>
          <p:cNvCxnSpPr>
            <a:cxnSpLocks/>
          </p:cNvCxnSpPr>
          <p:nvPr/>
        </p:nvCxnSpPr>
        <p:spPr>
          <a:xfrm flipH="1">
            <a:off x="6507705" y="3506335"/>
            <a:ext cx="18194" cy="175601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4652843-AC20-32F4-7776-EDAABB7BE8BF}"/>
              </a:ext>
            </a:extLst>
          </p:cNvPr>
          <p:cNvCxnSpPr>
            <a:cxnSpLocks/>
          </p:cNvCxnSpPr>
          <p:nvPr/>
        </p:nvCxnSpPr>
        <p:spPr>
          <a:xfrm flipH="1">
            <a:off x="5063317" y="3608692"/>
            <a:ext cx="609597" cy="12783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6BC5469-CCBD-9A99-3E31-167484FD6E7A}"/>
              </a:ext>
            </a:extLst>
          </p:cNvPr>
          <p:cNvCxnSpPr>
            <a:cxnSpLocks/>
          </p:cNvCxnSpPr>
          <p:nvPr/>
        </p:nvCxnSpPr>
        <p:spPr>
          <a:xfrm flipH="1">
            <a:off x="5700212" y="3517706"/>
            <a:ext cx="802940" cy="15740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03A79D06-F959-8804-22C1-81B7A5233536}"/>
              </a:ext>
            </a:extLst>
          </p:cNvPr>
          <p:cNvSpPr/>
          <p:nvPr/>
        </p:nvSpPr>
        <p:spPr>
          <a:xfrm>
            <a:off x="5525067" y="4916605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3B8BB07-5B3D-5D29-9F84-4B954893E198}"/>
              </a:ext>
            </a:extLst>
          </p:cNvPr>
          <p:cNvSpPr/>
          <p:nvPr/>
        </p:nvSpPr>
        <p:spPr>
          <a:xfrm>
            <a:off x="6298440" y="5098573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C713E4D-482D-14EB-9EA0-1925EC79BC0C}"/>
              </a:ext>
            </a:extLst>
          </p:cNvPr>
          <p:cNvCxnSpPr>
            <a:cxnSpLocks/>
          </p:cNvCxnSpPr>
          <p:nvPr/>
        </p:nvCxnSpPr>
        <p:spPr>
          <a:xfrm flipV="1">
            <a:off x="5695660" y="3567746"/>
            <a:ext cx="777925" cy="2957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32C239E-AFE2-8AE1-FE79-F26BCA415B73}"/>
              </a:ext>
            </a:extLst>
          </p:cNvPr>
          <p:cNvCxnSpPr>
            <a:cxnSpLocks/>
          </p:cNvCxnSpPr>
          <p:nvPr/>
        </p:nvCxnSpPr>
        <p:spPr>
          <a:xfrm>
            <a:off x="6480405" y="3563199"/>
            <a:ext cx="630075" cy="6141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6C417871-BF50-5E97-8028-B6601D6E39E3}"/>
              </a:ext>
            </a:extLst>
          </p:cNvPr>
          <p:cNvSpPr/>
          <p:nvPr/>
        </p:nvSpPr>
        <p:spPr>
          <a:xfrm>
            <a:off x="4865426" y="4768754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Data 67">
            <a:extLst>
              <a:ext uri="{FF2B5EF4-FFF2-40B4-BE49-F238E27FC236}">
                <a16:creationId xmlns:a16="http://schemas.microsoft.com/office/drawing/2014/main" id="{1B05AF89-12B4-9C2D-D1F8-C6411A6DD87F}"/>
              </a:ext>
            </a:extLst>
          </p:cNvPr>
          <p:cNvSpPr/>
          <p:nvPr/>
        </p:nvSpPr>
        <p:spPr>
          <a:xfrm>
            <a:off x="5879056" y="2248363"/>
            <a:ext cx="1539922" cy="20321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BE9CF86-60DD-4A31-2E85-61D42CAB6B9E}"/>
              </a:ext>
            </a:extLst>
          </p:cNvPr>
          <p:cNvCxnSpPr>
            <a:cxnSpLocks/>
          </p:cNvCxnSpPr>
          <p:nvPr/>
        </p:nvCxnSpPr>
        <p:spPr>
          <a:xfrm flipH="1">
            <a:off x="5745704" y="2266661"/>
            <a:ext cx="905298" cy="12783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773BA4B-1F9E-8AE7-6445-CA0CA6A04D26}"/>
              </a:ext>
            </a:extLst>
          </p:cNvPr>
          <p:cNvCxnSpPr>
            <a:cxnSpLocks/>
          </p:cNvCxnSpPr>
          <p:nvPr/>
        </p:nvCxnSpPr>
        <p:spPr>
          <a:xfrm flipH="1">
            <a:off x="6462211" y="2357645"/>
            <a:ext cx="131925" cy="113048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430A632-9521-2DE3-8BD1-947D3EE0263A}"/>
              </a:ext>
            </a:extLst>
          </p:cNvPr>
          <p:cNvCxnSpPr>
            <a:cxnSpLocks/>
          </p:cNvCxnSpPr>
          <p:nvPr/>
        </p:nvCxnSpPr>
        <p:spPr>
          <a:xfrm flipH="1">
            <a:off x="7133225" y="3472211"/>
            <a:ext cx="473119" cy="15239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B75935F1-3856-12D1-247E-204378DDEEB8}"/>
              </a:ext>
            </a:extLst>
          </p:cNvPr>
          <p:cNvSpPr/>
          <p:nvPr/>
        </p:nvSpPr>
        <p:spPr>
          <a:xfrm>
            <a:off x="5525067" y="3415350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16BB2D5-F5A2-51FF-9DDD-9E55C88AE748}"/>
              </a:ext>
            </a:extLst>
          </p:cNvPr>
          <p:cNvSpPr/>
          <p:nvPr/>
        </p:nvSpPr>
        <p:spPr>
          <a:xfrm>
            <a:off x="6298439" y="332436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178AAFE-05DF-F1C5-0A44-0CBBF4036C3C}"/>
              </a:ext>
            </a:extLst>
          </p:cNvPr>
          <p:cNvSpPr/>
          <p:nvPr/>
        </p:nvSpPr>
        <p:spPr>
          <a:xfrm>
            <a:off x="6446289" y="2096065"/>
            <a:ext cx="357117" cy="345744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07C1C16-ADA8-FB7C-F1CD-0F98F84F7F17}"/>
              </a:ext>
            </a:extLst>
          </p:cNvPr>
          <p:cNvSpPr txBox="1"/>
          <p:nvPr/>
        </p:nvSpPr>
        <p:spPr>
          <a:xfrm>
            <a:off x="8878262" y="2903937"/>
            <a:ext cx="28446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Quorum reached:  N//2 + 1</a:t>
            </a:r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2FABAC2-D685-2E5D-21AB-E74284520648}"/>
              </a:ext>
            </a:extLst>
          </p:cNvPr>
          <p:cNvSpPr txBox="1"/>
          <p:nvPr/>
        </p:nvSpPr>
        <p:spPr>
          <a:xfrm>
            <a:off x="905836" y="34172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Core nodes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F310071-4AAD-0258-B014-83472981C808}"/>
              </a:ext>
            </a:extLst>
          </p:cNvPr>
          <p:cNvSpPr txBox="1"/>
          <p:nvPr/>
        </p:nvSpPr>
        <p:spPr>
          <a:xfrm>
            <a:off x="905837" y="5134634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Regular nodes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5A5B554-52F9-CE36-D6C2-A8374F2D2959}"/>
              </a:ext>
            </a:extLst>
          </p:cNvPr>
          <p:cNvSpPr/>
          <p:nvPr/>
        </p:nvSpPr>
        <p:spPr>
          <a:xfrm>
            <a:off x="7447125" y="329024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F13847A-4681-3724-12B4-9B0B3513BD21}"/>
              </a:ext>
            </a:extLst>
          </p:cNvPr>
          <p:cNvCxnSpPr>
            <a:cxnSpLocks/>
          </p:cNvCxnSpPr>
          <p:nvPr/>
        </p:nvCxnSpPr>
        <p:spPr>
          <a:xfrm>
            <a:off x="7105927" y="3665558"/>
            <a:ext cx="27299" cy="12783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3D981FFB-38D2-EC3C-8B0A-0686A9DFA4E8}"/>
              </a:ext>
            </a:extLst>
          </p:cNvPr>
          <p:cNvSpPr/>
          <p:nvPr/>
        </p:nvSpPr>
        <p:spPr>
          <a:xfrm>
            <a:off x="6935336" y="4746007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BCFFD08-9183-0E36-9A69-1DA93A1E93DE}"/>
              </a:ext>
            </a:extLst>
          </p:cNvPr>
          <p:cNvSpPr/>
          <p:nvPr/>
        </p:nvSpPr>
        <p:spPr>
          <a:xfrm>
            <a:off x="6935335" y="3494961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1886B89-556E-2339-58EC-7FEA4214F717}"/>
              </a:ext>
            </a:extLst>
          </p:cNvPr>
          <p:cNvCxnSpPr>
            <a:cxnSpLocks/>
          </p:cNvCxnSpPr>
          <p:nvPr/>
        </p:nvCxnSpPr>
        <p:spPr>
          <a:xfrm flipH="1">
            <a:off x="5609226" y="2255288"/>
            <a:ext cx="905298" cy="1278338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498F044-9D6D-AAFA-C477-355B0E599717}"/>
              </a:ext>
            </a:extLst>
          </p:cNvPr>
          <p:cNvCxnSpPr>
            <a:cxnSpLocks/>
          </p:cNvCxnSpPr>
          <p:nvPr/>
        </p:nvCxnSpPr>
        <p:spPr>
          <a:xfrm flipH="1">
            <a:off x="6564568" y="2334898"/>
            <a:ext cx="143299" cy="1221473"/>
          </a:xfrm>
          <a:prstGeom prst="straightConnector1">
            <a:avLst/>
          </a:prstGeom>
          <a:ln w="57150">
            <a:solidFill>
              <a:srgbClr val="7F5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CAD554E-E0D8-CD44-4558-E83CA5116507}"/>
              </a:ext>
            </a:extLst>
          </p:cNvPr>
          <p:cNvCxnSpPr>
            <a:cxnSpLocks/>
          </p:cNvCxnSpPr>
          <p:nvPr/>
        </p:nvCxnSpPr>
        <p:spPr>
          <a:xfrm>
            <a:off x="6753359" y="2323526"/>
            <a:ext cx="925776" cy="1210100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7116DEC3-5DD3-7240-F032-EEEA6EAC3B25}"/>
              </a:ext>
            </a:extLst>
          </p:cNvPr>
          <p:cNvCxnSpPr>
            <a:cxnSpLocks/>
          </p:cNvCxnSpPr>
          <p:nvPr/>
        </p:nvCxnSpPr>
        <p:spPr>
          <a:xfrm>
            <a:off x="6616882" y="2312154"/>
            <a:ext cx="550463" cy="1187353"/>
          </a:xfrm>
          <a:prstGeom prst="straightConnector1">
            <a:avLst/>
          </a:prstGeom>
          <a:ln w="57150">
            <a:solidFill>
              <a:srgbClr val="7F5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BF914039-02F2-113C-0F5F-B9DF2A0668C6}"/>
              </a:ext>
            </a:extLst>
          </p:cNvPr>
          <p:cNvSpPr txBox="1"/>
          <p:nvPr/>
        </p:nvSpPr>
        <p:spPr>
          <a:xfrm>
            <a:off x="6686232" y="3855583"/>
            <a:ext cx="245408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FF0000"/>
                </a:solidFill>
                <a:ea typeface="Calibri"/>
                <a:cs typeface="Calibri"/>
              </a:rPr>
              <a:t>ELECTION_REQ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59A6E0-3DBB-C9BC-4324-508452C3EAA7}"/>
              </a:ext>
            </a:extLst>
          </p:cNvPr>
          <p:cNvSpPr txBox="1"/>
          <p:nvPr/>
        </p:nvSpPr>
        <p:spPr>
          <a:xfrm>
            <a:off x="4162107" y="2703058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0000"/>
                </a:solidFill>
                <a:ea typeface="Calibri"/>
                <a:cs typeface="Calibri"/>
              </a:rPr>
              <a:t>ELECTION_REQ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DC9DDC-B044-344B-BAEF-DC3EBD467B40}"/>
              </a:ext>
            </a:extLst>
          </p:cNvPr>
          <p:cNvSpPr txBox="1"/>
          <p:nvPr/>
        </p:nvSpPr>
        <p:spPr>
          <a:xfrm>
            <a:off x="7448232" y="3017383"/>
            <a:ext cx="245408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FF0000"/>
                </a:solidFill>
                <a:ea typeface="Calibri"/>
                <a:cs typeface="Calibri"/>
              </a:rPr>
              <a:t>ELECTION_REQ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0166A9-F6FF-A937-479A-E8BDA4BAD44D}"/>
              </a:ext>
            </a:extLst>
          </p:cNvPr>
          <p:cNvSpPr txBox="1"/>
          <p:nvPr/>
        </p:nvSpPr>
        <p:spPr>
          <a:xfrm>
            <a:off x="5457507" y="3674608"/>
            <a:ext cx="245408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FF0000"/>
                </a:solidFill>
                <a:ea typeface="Calibri"/>
                <a:cs typeface="Calibri"/>
              </a:rPr>
              <a:t>ELECTION_REQ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60C3E-59FC-6384-4B57-A77167493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300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14D6EB-B939-9801-38AE-DF1E88A78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lowchart: Data 53">
            <a:extLst>
              <a:ext uri="{FF2B5EF4-FFF2-40B4-BE49-F238E27FC236}">
                <a16:creationId xmlns:a16="http://schemas.microsoft.com/office/drawing/2014/main" id="{78B81E36-E03B-A11D-9B69-1E0821DBC5DE}"/>
              </a:ext>
            </a:extLst>
          </p:cNvPr>
          <p:cNvSpPr/>
          <p:nvPr/>
        </p:nvSpPr>
        <p:spPr>
          <a:xfrm>
            <a:off x="3513445" y="4750455"/>
            <a:ext cx="5361295" cy="74912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845798-CB3D-D70F-7A3F-75D1CCCCB1D3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B72DB9-B08D-6B60-7ED5-A6D322DD6BAF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009C11-286C-6B2B-BCD5-9E0E5C9601D7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Sequencer Election Protocol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03DF79A-C7C1-CA52-46DB-33BBE97ACB74}"/>
              </a:ext>
            </a:extLst>
          </p:cNvPr>
          <p:cNvSpPr/>
          <p:nvPr/>
        </p:nvSpPr>
        <p:spPr>
          <a:xfrm>
            <a:off x="10058400" y="320040"/>
            <a:ext cx="1016000" cy="33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II</a:t>
            </a:r>
          </a:p>
        </p:txBody>
      </p:sp>
      <p:sp>
        <p:nvSpPr>
          <p:cNvPr id="56" name="Flowchart: Data 55">
            <a:extLst>
              <a:ext uri="{FF2B5EF4-FFF2-40B4-BE49-F238E27FC236}">
                <a16:creationId xmlns:a16="http://schemas.microsoft.com/office/drawing/2014/main" id="{5448CF22-A0AC-CB1C-304A-F3E9C5A11883}"/>
              </a:ext>
            </a:extLst>
          </p:cNvPr>
          <p:cNvSpPr/>
          <p:nvPr/>
        </p:nvSpPr>
        <p:spPr>
          <a:xfrm>
            <a:off x="4571146" y="3328812"/>
            <a:ext cx="3814549" cy="521662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32C935C-E0BD-6430-21BB-2535EC408E72}"/>
              </a:ext>
            </a:extLst>
          </p:cNvPr>
          <p:cNvCxnSpPr/>
          <p:nvPr/>
        </p:nvCxnSpPr>
        <p:spPr>
          <a:xfrm>
            <a:off x="5047396" y="4962097"/>
            <a:ext cx="641446" cy="95535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ED315C4-E164-2D26-94DE-5B49655E9908}"/>
              </a:ext>
            </a:extLst>
          </p:cNvPr>
          <p:cNvCxnSpPr>
            <a:cxnSpLocks/>
          </p:cNvCxnSpPr>
          <p:nvPr/>
        </p:nvCxnSpPr>
        <p:spPr>
          <a:xfrm flipV="1">
            <a:off x="5695663" y="4921154"/>
            <a:ext cx="1414819" cy="200167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A47E73C-DE73-70A2-BC7F-A7CC4E240594}"/>
              </a:ext>
            </a:extLst>
          </p:cNvPr>
          <p:cNvCxnSpPr>
            <a:cxnSpLocks/>
          </p:cNvCxnSpPr>
          <p:nvPr/>
        </p:nvCxnSpPr>
        <p:spPr>
          <a:xfrm>
            <a:off x="5695662" y="5144067"/>
            <a:ext cx="777924" cy="15239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5DB35AA-97AA-7C27-08AA-EE927B478C39}"/>
              </a:ext>
            </a:extLst>
          </p:cNvPr>
          <p:cNvCxnSpPr>
            <a:cxnSpLocks/>
          </p:cNvCxnSpPr>
          <p:nvPr/>
        </p:nvCxnSpPr>
        <p:spPr>
          <a:xfrm flipH="1">
            <a:off x="6507705" y="3506335"/>
            <a:ext cx="18194" cy="175601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1809369-7686-47C4-CE7A-3EA4B632359D}"/>
              </a:ext>
            </a:extLst>
          </p:cNvPr>
          <p:cNvCxnSpPr>
            <a:cxnSpLocks/>
          </p:cNvCxnSpPr>
          <p:nvPr/>
        </p:nvCxnSpPr>
        <p:spPr>
          <a:xfrm flipH="1">
            <a:off x="5063317" y="3608692"/>
            <a:ext cx="609597" cy="12783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A932BE2-843A-2E3D-4011-0528C9F2D7BC}"/>
              </a:ext>
            </a:extLst>
          </p:cNvPr>
          <p:cNvCxnSpPr>
            <a:cxnSpLocks/>
          </p:cNvCxnSpPr>
          <p:nvPr/>
        </p:nvCxnSpPr>
        <p:spPr>
          <a:xfrm flipH="1">
            <a:off x="5700212" y="3517706"/>
            <a:ext cx="802940" cy="15740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088FEA67-ACC6-8CE2-592F-D4E22CAC55EB}"/>
              </a:ext>
            </a:extLst>
          </p:cNvPr>
          <p:cNvSpPr/>
          <p:nvPr/>
        </p:nvSpPr>
        <p:spPr>
          <a:xfrm>
            <a:off x="5525067" y="4916605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4B24F57-E528-53FF-F678-EA84F711C52C}"/>
              </a:ext>
            </a:extLst>
          </p:cNvPr>
          <p:cNvSpPr/>
          <p:nvPr/>
        </p:nvSpPr>
        <p:spPr>
          <a:xfrm>
            <a:off x="6298440" y="5098573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DC5FAE9-8DCC-32B6-6E3E-793A589AF572}"/>
              </a:ext>
            </a:extLst>
          </p:cNvPr>
          <p:cNvCxnSpPr>
            <a:cxnSpLocks/>
          </p:cNvCxnSpPr>
          <p:nvPr/>
        </p:nvCxnSpPr>
        <p:spPr>
          <a:xfrm flipV="1">
            <a:off x="5695660" y="3567746"/>
            <a:ext cx="777925" cy="2957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7A5F8C3-DC04-5335-23C4-438B72795766}"/>
              </a:ext>
            </a:extLst>
          </p:cNvPr>
          <p:cNvCxnSpPr>
            <a:cxnSpLocks/>
          </p:cNvCxnSpPr>
          <p:nvPr/>
        </p:nvCxnSpPr>
        <p:spPr>
          <a:xfrm>
            <a:off x="6480405" y="3563199"/>
            <a:ext cx="630075" cy="6141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D3ABABB0-08C9-0284-3E95-3C1C9CDC9D48}"/>
              </a:ext>
            </a:extLst>
          </p:cNvPr>
          <p:cNvSpPr/>
          <p:nvPr/>
        </p:nvSpPr>
        <p:spPr>
          <a:xfrm>
            <a:off x="4865426" y="4768754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Data 67">
            <a:extLst>
              <a:ext uri="{FF2B5EF4-FFF2-40B4-BE49-F238E27FC236}">
                <a16:creationId xmlns:a16="http://schemas.microsoft.com/office/drawing/2014/main" id="{38DF997B-17C5-36C3-A5AA-DE4C01FC8495}"/>
              </a:ext>
            </a:extLst>
          </p:cNvPr>
          <p:cNvSpPr/>
          <p:nvPr/>
        </p:nvSpPr>
        <p:spPr>
          <a:xfrm>
            <a:off x="5879056" y="2248363"/>
            <a:ext cx="1539922" cy="20321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C7388E5-3B8E-DCE7-F0B2-5FD2844CF0C7}"/>
              </a:ext>
            </a:extLst>
          </p:cNvPr>
          <p:cNvCxnSpPr>
            <a:cxnSpLocks/>
          </p:cNvCxnSpPr>
          <p:nvPr/>
        </p:nvCxnSpPr>
        <p:spPr>
          <a:xfrm flipH="1">
            <a:off x="6462211" y="2357645"/>
            <a:ext cx="131925" cy="113048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BD17355-0254-8839-4189-35CB68BEEF41}"/>
              </a:ext>
            </a:extLst>
          </p:cNvPr>
          <p:cNvCxnSpPr>
            <a:cxnSpLocks/>
          </p:cNvCxnSpPr>
          <p:nvPr/>
        </p:nvCxnSpPr>
        <p:spPr>
          <a:xfrm>
            <a:off x="6615744" y="2357786"/>
            <a:ext cx="517481" cy="1285874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ACB47DAA-F812-E222-5878-5D156616EB58}"/>
              </a:ext>
            </a:extLst>
          </p:cNvPr>
          <p:cNvSpPr/>
          <p:nvPr/>
        </p:nvSpPr>
        <p:spPr>
          <a:xfrm>
            <a:off x="5525067" y="3415350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1BBB5A0-6364-289E-3D3A-FF4BA73BE968}"/>
              </a:ext>
            </a:extLst>
          </p:cNvPr>
          <p:cNvSpPr/>
          <p:nvPr/>
        </p:nvSpPr>
        <p:spPr>
          <a:xfrm>
            <a:off x="6298439" y="332436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093B51F-3CD3-782B-9C19-5A8C4003361B}"/>
              </a:ext>
            </a:extLst>
          </p:cNvPr>
          <p:cNvSpPr/>
          <p:nvPr/>
        </p:nvSpPr>
        <p:spPr>
          <a:xfrm>
            <a:off x="4512714" y="2000815"/>
            <a:ext cx="357117" cy="345744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7A3E3D6-EA16-01E0-8148-D9A2EE6CF208}"/>
              </a:ext>
            </a:extLst>
          </p:cNvPr>
          <p:cNvSpPr txBox="1"/>
          <p:nvPr/>
        </p:nvSpPr>
        <p:spPr>
          <a:xfrm>
            <a:off x="905836" y="34172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Core nodes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376E2AA-119F-A19B-53C9-C2AF4730A044}"/>
              </a:ext>
            </a:extLst>
          </p:cNvPr>
          <p:cNvSpPr txBox="1"/>
          <p:nvPr/>
        </p:nvSpPr>
        <p:spPr>
          <a:xfrm>
            <a:off x="905837" y="5134634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Regular nodes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D666891-9C40-0C36-3DAB-5BBB57A46CE8}"/>
              </a:ext>
            </a:extLst>
          </p:cNvPr>
          <p:cNvSpPr/>
          <p:nvPr/>
        </p:nvSpPr>
        <p:spPr>
          <a:xfrm>
            <a:off x="6408900" y="216629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5960876-0DCA-4FF6-5A35-81357D6A79EB}"/>
              </a:ext>
            </a:extLst>
          </p:cNvPr>
          <p:cNvCxnSpPr>
            <a:cxnSpLocks/>
          </p:cNvCxnSpPr>
          <p:nvPr/>
        </p:nvCxnSpPr>
        <p:spPr>
          <a:xfrm>
            <a:off x="7105927" y="3665558"/>
            <a:ext cx="27299" cy="12783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B67FC128-A4D6-1279-9016-133DC552F4EA}"/>
              </a:ext>
            </a:extLst>
          </p:cNvPr>
          <p:cNvSpPr/>
          <p:nvPr/>
        </p:nvSpPr>
        <p:spPr>
          <a:xfrm>
            <a:off x="6935336" y="4746007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E323DD3-ED42-2C92-C690-3ECAD4EBEC01}"/>
              </a:ext>
            </a:extLst>
          </p:cNvPr>
          <p:cNvSpPr/>
          <p:nvPr/>
        </p:nvSpPr>
        <p:spPr>
          <a:xfrm>
            <a:off x="6935335" y="3494961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81E492-86A9-AFE6-6930-CAFF95BF2966}"/>
              </a:ext>
            </a:extLst>
          </p:cNvPr>
          <p:cNvSpPr txBox="1"/>
          <p:nvPr/>
        </p:nvSpPr>
        <p:spPr>
          <a:xfrm>
            <a:off x="810585" y="19694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New 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Sequencer elected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30BF5D-C248-CA9F-7A33-B1F64CB1E986}"/>
              </a:ext>
            </a:extLst>
          </p:cNvPr>
          <p:cNvSpPr txBox="1"/>
          <p:nvPr/>
        </p:nvSpPr>
        <p:spPr>
          <a:xfrm>
            <a:off x="7820985" y="1998066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Max(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seq_numbers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 + 1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FB8101-A0BC-9555-8B7A-CAD397D746F9}"/>
              </a:ext>
            </a:extLst>
          </p:cNvPr>
          <p:cNvSpPr txBox="1"/>
          <p:nvPr/>
        </p:nvSpPr>
        <p:spPr>
          <a:xfrm>
            <a:off x="7820985" y="23504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New View number = 3</a:t>
            </a:r>
          </a:p>
        </p:txBody>
      </p:sp>
      <p:sp>
        <p:nvSpPr>
          <p:cNvPr id="13" name="TextBox 82">
            <a:extLst>
              <a:ext uri="{FF2B5EF4-FFF2-40B4-BE49-F238E27FC236}">
                <a16:creationId xmlns:a16="http://schemas.microsoft.com/office/drawing/2014/main" id="{B719B1D0-33ED-9716-494D-DA445382CEDB}"/>
              </a:ext>
            </a:extLst>
          </p:cNvPr>
          <p:cNvSpPr txBox="1"/>
          <p:nvPr/>
        </p:nvSpPr>
        <p:spPr>
          <a:xfrm>
            <a:off x="7825286" y="2754715"/>
            <a:ext cx="4693124" cy="56938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b="0" i="0" u="none" strike="noStrike" baseline="0">
                <a:solidFill>
                  <a:schemeClr val="tx1">
                    <a:lumMod val="95000"/>
                    <a:lumOff val="5000"/>
                  </a:schemeClr>
                </a:solidFill>
                <a:latin typeface="Segoe UI"/>
              </a:rPr>
              <a:t>Winner: min(sorted(candidates))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  <a:p>
            <a:pPr algn="ctr"/>
            <a:endParaRPr lang="en-US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3CD4D-8528-1BF2-59F5-F4F0BDBD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736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41BFAF-7FB8-AC0E-1D53-02AA18224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lowchart: Data 53">
            <a:extLst>
              <a:ext uri="{FF2B5EF4-FFF2-40B4-BE49-F238E27FC236}">
                <a16:creationId xmlns:a16="http://schemas.microsoft.com/office/drawing/2014/main" id="{3AA68251-99D5-6ACC-6518-CA23822DC27D}"/>
              </a:ext>
            </a:extLst>
          </p:cNvPr>
          <p:cNvSpPr/>
          <p:nvPr/>
        </p:nvSpPr>
        <p:spPr>
          <a:xfrm>
            <a:off x="3513445" y="4750455"/>
            <a:ext cx="5361295" cy="74912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E8482C-7311-0767-00A8-E3CA6BA3D471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A495DD-B4E1-A8CE-30DC-5E4F860FD4D6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4C7543-9BC4-AB29-1D04-4255012A2698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Sequencer Election Protocol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4E644B-0F16-661A-2065-590CCAA6E6D2}"/>
              </a:ext>
            </a:extLst>
          </p:cNvPr>
          <p:cNvSpPr/>
          <p:nvPr/>
        </p:nvSpPr>
        <p:spPr>
          <a:xfrm>
            <a:off x="10058400" y="320040"/>
            <a:ext cx="1016000" cy="33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II</a:t>
            </a:r>
          </a:p>
        </p:txBody>
      </p:sp>
      <p:sp>
        <p:nvSpPr>
          <p:cNvPr id="56" name="Flowchart: Data 55">
            <a:extLst>
              <a:ext uri="{FF2B5EF4-FFF2-40B4-BE49-F238E27FC236}">
                <a16:creationId xmlns:a16="http://schemas.microsoft.com/office/drawing/2014/main" id="{2A254C0D-0825-1D49-EE01-37F1F87FB53F}"/>
              </a:ext>
            </a:extLst>
          </p:cNvPr>
          <p:cNvSpPr/>
          <p:nvPr/>
        </p:nvSpPr>
        <p:spPr>
          <a:xfrm>
            <a:off x="4571146" y="3328812"/>
            <a:ext cx="3814549" cy="521662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3C27548-A162-C46D-D313-7A7EE6976FCB}"/>
              </a:ext>
            </a:extLst>
          </p:cNvPr>
          <p:cNvCxnSpPr/>
          <p:nvPr/>
        </p:nvCxnSpPr>
        <p:spPr>
          <a:xfrm>
            <a:off x="5047396" y="4962097"/>
            <a:ext cx="641446" cy="95535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6EA9AB1-771E-4A94-9F01-36EA2F4A9B11}"/>
              </a:ext>
            </a:extLst>
          </p:cNvPr>
          <p:cNvCxnSpPr>
            <a:cxnSpLocks/>
          </p:cNvCxnSpPr>
          <p:nvPr/>
        </p:nvCxnSpPr>
        <p:spPr>
          <a:xfrm flipV="1">
            <a:off x="5695663" y="4921154"/>
            <a:ext cx="1414819" cy="200167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0457CF7-6949-7720-3CD8-C17E8ED60B34}"/>
              </a:ext>
            </a:extLst>
          </p:cNvPr>
          <p:cNvCxnSpPr>
            <a:cxnSpLocks/>
          </p:cNvCxnSpPr>
          <p:nvPr/>
        </p:nvCxnSpPr>
        <p:spPr>
          <a:xfrm>
            <a:off x="5695662" y="5144067"/>
            <a:ext cx="777924" cy="15239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A317A04-8061-B5DA-366E-6C4DFBD895C8}"/>
              </a:ext>
            </a:extLst>
          </p:cNvPr>
          <p:cNvCxnSpPr>
            <a:cxnSpLocks/>
          </p:cNvCxnSpPr>
          <p:nvPr/>
        </p:nvCxnSpPr>
        <p:spPr>
          <a:xfrm flipH="1">
            <a:off x="6507705" y="3506335"/>
            <a:ext cx="18194" cy="175601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ADEAB3A-130D-EA16-7700-D59DE435CBAB}"/>
              </a:ext>
            </a:extLst>
          </p:cNvPr>
          <p:cNvCxnSpPr>
            <a:cxnSpLocks/>
          </p:cNvCxnSpPr>
          <p:nvPr/>
        </p:nvCxnSpPr>
        <p:spPr>
          <a:xfrm flipH="1">
            <a:off x="5063317" y="3608692"/>
            <a:ext cx="609597" cy="12783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FC1CA9D-3754-2954-62FB-4BF124104F71}"/>
              </a:ext>
            </a:extLst>
          </p:cNvPr>
          <p:cNvCxnSpPr>
            <a:cxnSpLocks/>
          </p:cNvCxnSpPr>
          <p:nvPr/>
        </p:nvCxnSpPr>
        <p:spPr>
          <a:xfrm flipH="1">
            <a:off x="5700212" y="3517706"/>
            <a:ext cx="802940" cy="15740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AACD8486-563D-C5DD-4FB9-49A9F9A08D7D}"/>
              </a:ext>
            </a:extLst>
          </p:cNvPr>
          <p:cNvSpPr/>
          <p:nvPr/>
        </p:nvSpPr>
        <p:spPr>
          <a:xfrm>
            <a:off x="5525067" y="4916605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9211D87-2690-7206-2300-3AA746843FB1}"/>
              </a:ext>
            </a:extLst>
          </p:cNvPr>
          <p:cNvSpPr/>
          <p:nvPr/>
        </p:nvSpPr>
        <p:spPr>
          <a:xfrm>
            <a:off x="6298440" y="5098573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F968298-9F5A-4F00-8300-C0631FC53228}"/>
              </a:ext>
            </a:extLst>
          </p:cNvPr>
          <p:cNvCxnSpPr>
            <a:cxnSpLocks/>
          </p:cNvCxnSpPr>
          <p:nvPr/>
        </p:nvCxnSpPr>
        <p:spPr>
          <a:xfrm flipV="1">
            <a:off x="5695660" y="3567746"/>
            <a:ext cx="777925" cy="2957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A50631E-0009-02BB-0F4B-DB0C38021E21}"/>
              </a:ext>
            </a:extLst>
          </p:cNvPr>
          <p:cNvCxnSpPr>
            <a:cxnSpLocks/>
          </p:cNvCxnSpPr>
          <p:nvPr/>
        </p:nvCxnSpPr>
        <p:spPr>
          <a:xfrm>
            <a:off x="6480405" y="3563199"/>
            <a:ext cx="630075" cy="6141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9E6D2CD5-FC91-9E36-C7A7-4C340E33D476}"/>
              </a:ext>
            </a:extLst>
          </p:cNvPr>
          <p:cNvSpPr/>
          <p:nvPr/>
        </p:nvSpPr>
        <p:spPr>
          <a:xfrm>
            <a:off x="4865426" y="4768754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Data 67">
            <a:extLst>
              <a:ext uri="{FF2B5EF4-FFF2-40B4-BE49-F238E27FC236}">
                <a16:creationId xmlns:a16="http://schemas.microsoft.com/office/drawing/2014/main" id="{B28BACE0-1A72-E4FB-1CB6-4D45F94031E7}"/>
              </a:ext>
            </a:extLst>
          </p:cNvPr>
          <p:cNvSpPr/>
          <p:nvPr/>
        </p:nvSpPr>
        <p:spPr>
          <a:xfrm>
            <a:off x="5879056" y="2248363"/>
            <a:ext cx="1539922" cy="20321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A37E093-EDC2-CCBF-C1C4-D3B4E933A90C}"/>
              </a:ext>
            </a:extLst>
          </p:cNvPr>
          <p:cNvCxnSpPr>
            <a:cxnSpLocks/>
          </p:cNvCxnSpPr>
          <p:nvPr/>
        </p:nvCxnSpPr>
        <p:spPr>
          <a:xfrm flipH="1">
            <a:off x="6462211" y="2357645"/>
            <a:ext cx="131925" cy="113048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AAFC244-5481-E676-A07E-CBAB45C3CD9C}"/>
              </a:ext>
            </a:extLst>
          </p:cNvPr>
          <p:cNvCxnSpPr>
            <a:cxnSpLocks/>
          </p:cNvCxnSpPr>
          <p:nvPr/>
        </p:nvCxnSpPr>
        <p:spPr>
          <a:xfrm>
            <a:off x="6615744" y="2357786"/>
            <a:ext cx="517481" cy="1285874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900B9D97-549F-EED9-BDAF-799FAC3A9117}"/>
              </a:ext>
            </a:extLst>
          </p:cNvPr>
          <p:cNvSpPr/>
          <p:nvPr/>
        </p:nvSpPr>
        <p:spPr>
          <a:xfrm>
            <a:off x="5525067" y="3415350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C8D6907-FFFE-7FF8-BF41-76E7CB21E6BA}"/>
              </a:ext>
            </a:extLst>
          </p:cNvPr>
          <p:cNvSpPr/>
          <p:nvPr/>
        </p:nvSpPr>
        <p:spPr>
          <a:xfrm>
            <a:off x="6298439" y="332436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0045F38-2EF2-86E9-6260-272DC7FBD456}"/>
              </a:ext>
            </a:extLst>
          </p:cNvPr>
          <p:cNvSpPr/>
          <p:nvPr/>
        </p:nvSpPr>
        <p:spPr>
          <a:xfrm>
            <a:off x="4512714" y="2000815"/>
            <a:ext cx="357117" cy="345744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A95FD44-106A-0B0E-088B-98E6F68ED8E7}"/>
              </a:ext>
            </a:extLst>
          </p:cNvPr>
          <p:cNvSpPr txBox="1"/>
          <p:nvPr/>
        </p:nvSpPr>
        <p:spPr>
          <a:xfrm>
            <a:off x="905836" y="35696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Core nodes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8D5A298-D23C-5DF1-A660-56C32BD8DC22}"/>
              </a:ext>
            </a:extLst>
          </p:cNvPr>
          <p:cNvSpPr txBox="1"/>
          <p:nvPr/>
        </p:nvSpPr>
        <p:spPr>
          <a:xfrm>
            <a:off x="905837" y="5134634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Regular nodes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7EF3AF71-D2DB-A483-567F-79ECE8F431F6}"/>
              </a:ext>
            </a:extLst>
          </p:cNvPr>
          <p:cNvSpPr/>
          <p:nvPr/>
        </p:nvSpPr>
        <p:spPr>
          <a:xfrm>
            <a:off x="6408900" y="216629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A27E68F-DB5E-91D6-F4E4-20D4832B33DE}"/>
              </a:ext>
            </a:extLst>
          </p:cNvPr>
          <p:cNvCxnSpPr>
            <a:cxnSpLocks/>
          </p:cNvCxnSpPr>
          <p:nvPr/>
        </p:nvCxnSpPr>
        <p:spPr>
          <a:xfrm>
            <a:off x="7105927" y="3665558"/>
            <a:ext cx="27299" cy="12783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9274CC1E-F435-D864-4EAB-BC86E8B2662D}"/>
              </a:ext>
            </a:extLst>
          </p:cNvPr>
          <p:cNvSpPr/>
          <p:nvPr/>
        </p:nvSpPr>
        <p:spPr>
          <a:xfrm>
            <a:off x="6935336" y="4746007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AB4B878-DFCD-A2B8-D7E4-9F1F10C70C3A}"/>
              </a:ext>
            </a:extLst>
          </p:cNvPr>
          <p:cNvSpPr/>
          <p:nvPr/>
        </p:nvSpPr>
        <p:spPr>
          <a:xfrm>
            <a:off x="6935335" y="3494961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3DBA22-50DE-071C-D9B0-4468AF835C65}"/>
              </a:ext>
            </a:extLst>
          </p:cNvPr>
          <p:cNvSpPr txBox="1"/>
          <p:nvPr/>
        </p:nvSpPr>
        <p:spPr>
          <a:xfrm>
            <a:off x="810585" y="19694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New 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Sequencer elected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77B874-7D1C-5D06-BD4F-BD57CA33B4A8}"/>
              </a:ext>
            </a:extLst>
          </p:cNvPr>
          <p:cNvSpPr txBox="1"/>
          <p:nvPr/>
        </p:nvSpPr>
        <p:spPr>
          <a:xfrm>
            <a:off x="7820985" y="1998066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Max(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seq_numbers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 + 1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F6A3C1-1F91-20BE-2423-01DC3294B5B5}"/>
              </a:ext>
            </a:extLst>
          </p:cNvPr>
          <p:cNvSpPr txBox="1"/>
          <p:nvPr/>
        </p:nvSpPr>
        <p:spPr>
          <a:xfrm>
            <a:off x="7820985" y="23504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New View number =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AB5BB7-7273-8DFF-9EB1-5E13728B0403}"/>
              </a:ext>
            </a:extLst>
          </p:cNvPr>
          <p:cNvSpPr txBox="1"/>
          <p:nvPr/>
        </p:nvSpPr>
        <p:spPr>
          <a:xfrm>
            <a:off x="7115175" y="4124325"/>
            <a:ext cx="6096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NEW_SEQUENCER​ : </a:t>
            </a:r>
            <a:r>
              <a:rPr lang="en-US" sz="1400" err="1">
                <a:solidFill>
                  <a:srgbClr val="FF0000"/>
                </a:solidFill>
              </a:rPr>
              <a:t>addr</a:t>
            </a:r>
            <a:endParaRPr lang="en-US" sz="1400">
              <a:solidFill>
                <a:srgbClr val="FF0000"/>
              </a:solidFill>
              <a:ea typeface="Calibri"/>
              <a:cs typeface="Calibri"/>
            </a:endParaRPr>
          </a:p>
          <a:p>
            <a:pPr algn="ctr"/>
            <a:endParaRPr lang="en-US" sz="1400">
              <a:solidFill>
                <a:srgbClr val="FF0000"/>
              </a:solidFill>
              <a:ea typeface="Calibri"/>
              <a:cs typeface="Calibri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5914AA-3ACC-FF00-53F6-A8901577F2D9}"/>
              </a:ext>
            </a:extLst>
          </p:cNvPr>
          <p:cNvCxnSpPr/>
          <p:nvPr/>
        </p:nvCxnSpPr>
        <p:spPr>
          <a:xfrm>
            <a:off x="7105650" y="3667125"/>
            <a:ext cx="28575" cy="1200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BE4B00-72EC-2869-91B0-0474E8183591}"/>
              </a:ext>
            </a:extLst>
          </p:cNvPr>
          <p:cNvCxnSpPr>
            <a:cxnSpLocks/>
          </p:cNvCxnSpPr>
          <p:nvPr/>
        </p:nvCxnSpPr>
        <p:spPr>
          <a:xfrm>
            <a:off x="5638800" y="3743324"/>
            <a:ext cx="28575" cy="1200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8FD62F6-C1B0-5A09-9E52-0DFDB2C32556}"/>
              </a:ext>
            </a:extLst>
          </p:cNvPr>
          <p:cNvCxnSpPr>
            <a:cxnSpLocks/>
          </p:cNvCxnSpPr>
          <p:nvPr/>
        </p:nvCxnSpPr>
        <p:spPr>
          <a:xfrm flipH="1">
            <a:off x="6543675" y="4943474"/>
            <a:ext cx="561975" cy="33337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5F1FE1A-B5A9-A9F3-03F2-EEEF16CE7084}"/>
              </a:ext>
            </a:extLst>
          </p:cNvPr>
          <p:cNvSpPr txBox="1"/>
          <p:nvPr/>
        </p:nvSpPr>
        <p:spPr>
          <a:xfrm>
            <a:off x="6877050" y="5105399"/>
            <a:ext cx="6096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NEW_SEQUENCER​ : </a:t>
            </a:r>
            <a:r>
              <a:rPr lang="en-US" sz="1400" err="1">
                <a:solidFill>
                  <a:srgbClr val="FF0000"/>
                </a:solidFill>
              </a:rPr>
              <a:t>addr</a:t>
            </a:r>
            <a:endParaRPr lang="en-US" sz="1400">
              <a:solidFill>
                <a:srgbClr val="FF0000"/>
              </a:solidFill>
              <a:ea typeface="Calibri"/>
              <a:cs typeface="Calibri"/>
            </a:endParaRPr>
          </a:p>
          <a:p>
            <a:pPr algn="ctr"/>
            <a:endParaRPr lang="en-US" sz="1400">
              <a:solidFill>
                <a:srgbClr val="FF0000"/>
              </a:solidFill>
              <a:ea typeface="Calibri"/>
              <a:cs typeface="Calibri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571024-A6A4-AC8A-1437-53D439350A21}"/>
              </a:ext>
            </a:extLst>
          </p:cNvPr>
          <p:cNvCxnSpPr>
            <a:cxnSpLocks/>
          </p:cNvCxnSpPr>
          <p:nvPr/>
        </p:nvCxnSpPr>
        <p:spPr>
          <a:xfrm flipH="1">
            <a:off x="4962524" y="3543299"/>
            <a:ext cx="609600" cy="1295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A451342-4B0A-D084-0A58-247A8A09D854}"/>
              </a:ext>
            </a:extLst>
          </p:cNvPr>
          <p:cNvSpPr txBox="1"/>
          <p:nvPr/>
        </p:nvSpPr>
        <p:spPr>
          <a:xfrm>
            <a:off x="3248025" y="4038599"/>
            <a:ext cx="6096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NEW_SEQUENCER​ : </a:t>
            </a:r>
            <a:r>
              <a:rPr lang="en-US" sz="1400" err="1">
                <a:solidFill>
                  <a:srgbClr val="FF0000"/>
                </a:solidFill>
              </a:rPr>
              <a:t>addr</a:t>
            </a:r>
            <a:endParaRPr lang="en-US" sz="1400">
              <a:solidFill>
                <a:srgbClr val="FF0000"/>
              </a:solidFill>
              <a:ea typeface="Calibri"/>
              <a:cs typeface="Calibri"/>
            </a:endParaRPr>
          </a:p>
          <a:p>
            <a:pPr algn="ctr"/>
            <a:endParaRPr lang="en-US" sz="1400">
              <a:solidFill>
                <a:srgbClr val="FF0000"/>
              </a:solidFill>
              <a:ea typeface="Calibri"/>
              <a:cs typeface="Calibri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E187DB-C4EA-DA23-A860-2F06FE5028DD}"/>
              </a:ext>
            </a:extLst>
          </p:cNvPr>
          <p:cNvCxnSpPr>
            <a:cxnSpLocks/>
          </p:cNvCxnSpPr>
          <p:nvPr/>
        </p:nvCxnSpPr>
        <p:spPr>
          <a:xfrm flipV="1">
            <a:off x="5724524" y="3457574"/>
            <a:ext cx="781050" cy="1428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5523E-F6FD-622F-2FE0-CBDA26CD4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50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AE44A0-51F8-DB19-1C76-49E3067C2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lowchart: Data 53">
            <a:extLst>
              <a:ext uri="{FF2B5EF4-FFF2-40B4-BE49-F238E27FC236}">
                <a16:creationId xmlns:a16="http://schemas.microsoft.com/office/drawing/2014/main" id="{39416A53-B5A5-A43A-74EE-433022EEC497}"/>
              </a:ext>
            </a:extLst>
          </p:cNvPr>
          <p:cNvSpPr/>
          <p:nvPr/>
        </p:nvSpPr>
        <p:spPr>
          <a:xfrm>
            <a:off x="3513445" y="4750455"/>
            <a:ext cx="5361295" cy="74912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2EF4AE-7260-952B-78E2-D996073CEA15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A33D26-0B0F-55F0-1289-4369527FF06A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4E3410-FE2C-C050-4ACB-514F93956D02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Sequencer Election Protocol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7CC016-3AB5-1450-CA91-8E29C207654B}"/>
              </a:ext>
            </a:extLst>
          </p:cNvPr>
          <p:cNvSpPr/>
          <p:nvPr/>
        </p:nvSpPr>
        <p:spPr>
          <a:xfrm>
            <a:off x="10058400" y="320040"/>
            <a:ext cx="1016000" cy="33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II</a:t>
            </a:r>
          </a:p>
        </p:txBody>
      </p:sp>
      <p:sp>
        <p:nvSpPr>
          <p:cNvPr id="56" name="Flowchart: Data 55">
            <a:extLst>
              <a:ext uri="{FF2B5EF4-FFF2-40B4-BE49-F238E27FC236}">
                <a16:creationId xmlns:a16="http://schemas.microsoft.com/office/drawing/2014/main" id="{8A08DACF-E7A0-9A27-20C6-EF078E4A0ED0}"/>
              </a:ext>
            </a:extLst>
          </p:cNvPr>
          <p:cNvSpPr/>
          <p:nvPr/>
        </p:nvSpPr>
        <p:spPr>
          <a:xfrm>
            <a:off x="4571146" y="3328812"/>
            <a:ext cx="3814549" cy="521662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896B4D8-86D6-5652-2480-5C28C5188C0F}"/>
              </a:ext>
            </a:extLst>
          </p:cNvPr>
          <p:cNvCxnSpPr/>
          <p:nvPr/>
        </p:nvCxnSpPr>
        <p:spPr>
          <a:xfrm>
            <a:off x="5047396" y="4962097"/>
            <a:ext cx="641446" cy="95535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2B29D38-FDD8-7A0A-CD81-7E3E19DDE9F6}"/>
              </a:ext>
            </a:extLst>
          </p:cNvPr>
          <p:cNvCxnSpPr>
            <a:cxnSpLocks/>
          </p:cNvCxnSpPr>
          <p:nvPr/>
        </p:nvCxnSpPr>
        <p:spPr>
          <a:xfrm flipV="1">
            <a:off x="5695663" y="4921154"/>
            <a:ext cx="1414819" cy="200167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037F51E-AB2B-1A26-C522-721CFF4AFE1F}"/>
              </a:ext>
            </a:extLst>
          </p:cNvPr>
          <p:cNvCxnSpPr>
            <a:cxnSpLocks/>
          </p:cNvCxnSpPr>
          <p:nvPr/>
        </p:nvCxnSpPr>
        <p:spPr>
          <a:xfrm>
            <a:off x="5695662" y="5144067"/>
            <a:ext cx="777924" cy="15239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FD08EF4-C97E-36C5-3ED1-C85657742B71}"/>
              </a:ext>
            </a:extLst>
          </p:cNvPr>
          <p:cNvCxnSpPr>
            <a:cxnSpLocks/>
          </p:cNvCxnSpPr>
          <p:nvPr/>
        </p:nvCxnSpPr>
        <p:spPr>
          <a:xfrm flipH="1">
            <a:off x="6507705" y="3506335"/>
            <a:ext cx="18194" cy="175601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7A96DAC-E807-284B-8100-8ABB688D0050}"/>
              </a:ext>
            </a:extLst>
          </p:cNvPr>
          <p:cNvCxnSpPr>
            <a:cxnSpLocks/>
          </p:cNvCxnSpPr>
          <p:nvPr/>
        </p:nvCxnSpPr>
        <p:spPr>
          <a:xfrm flipH="1">
            <a:off x="5063317" y="3608692"/>
            <a:ext cx="609597" cy="12783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0C4EEA2-54B8-36DA-595E-03F6B63908FA}"/>
              </a:ext>
            </a:extLst>
          </p:cNvPr>
          <p:cNvCxnSpPr>
            <a:cxnSpLocks/>
          </p:cNvCxnSpPr>
          <p:nvPr/>
        </p:nvCxnSpPr>
        <p:spPr>
          <a:xfrm flipH="1">
            <a:off x="5700212" y="3517706"/>
            <a:ext cx="802940" cy="15740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3B022882-E5DF-9699-E696-DC96B9D7D357}"/>
              </a:ext>
            </a:extLst>
          </p:cNvPr>
          <p:cNvSpPr/>
          <p:nvPr/>
        </p:nvSpPr>
        <p:spPr>
          <a:xfrm>
            <a:off x="5525067" y="4916605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FE6BA6E-C5C9-6C4D-AD4E-30531AC3D40B}"/>
              </a:ext>
            </a:extLst>
          </p:cNvPr>
          <p:cNvSpPr/>
          <p:nvPr/>
        </p:nvSpPr>
        <p:spPr>
          <a:xfrm>
            <a:off x="6298440" y="5098573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A49ABD9-B77B-D59F-871E-E1D5B87AC21F}"/>
              </a:ext>
            </a:extLst>
          </p:cNvPr>
          <p:cNvCxnSpPr>
            <a:cxnSpLocks/>
          </p:cNvCxnSpPr>
          <p:nvPr/>
        </p:nvCxnSpPr>
        <p:spPr>
          <a:xfrm flipV="1">
            <a:off x="5695660" y="3567746"/>
            <a:ext cx="777925" cy="2957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2EB14BF-62A4-6873-C399-1C7C6BF6B4AD}"/>
              </a:ext>
            </a:extLst>
          </p:cNvPr>
          <p:cNvCxnSpPr>
            <a:cxnSpLocks/>
          </p:cNvCxnSpPr>
          <p:nvPr/>
        </p:nvCxnSpPr>
        <p:spPr>
          <a:xfrm>
            <a:off x="6480405" y="3563199"/>
            <a:ext cx="630075" cy="6141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AF2D74CE-30C5-2C1B-EF2F-1F6B3B2049DA}"/>
              </a:ext>
            </a:extLst>
          </p:cNvPr>
          <p:cNvSpPr/>
          <p:nvPr/>
        </p:nvSpPr>
        <p:spPr>
          <a:xfrm>
            <a:off x="4865426" y="4768754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Data 67">
            <a:extLst>
              <a:ext uri="{FF2B5EF4-FFF2-40B4-BE49-F238E27FC236}">
                <a16:creationId xmlns:a16="http://schemas.microsoft.com/office/drawing/2014/main" id="{85EBBEA3-30B5-E393-291F-C70A15EF6D7C}"/>
              </a:ext>
            </a:extLst>
          </p:cNvPr>
          <p:cNvSpPr/>
          <p:nvPr/>
        </p:nvSpPr>
        <p:spPr>
          <a:xfrm>
            <a:off x="5879056" y="2248363"/>
            <a:ext cx="1539922" cy="20321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FE27736-AD14-1BF9-D2B1-4E3FD15F8AD8}"/>
              </a:ext>
            </a:extLst>
          </p:cNvPr>
          <p:cNvCxnSpPr>
            <a:cxnSpLocks/>
          </p:cNvCxnSpPr>
          <p:nvPr/>
        </p:nvCxnSpPr>
        <p:spPr>
          <a:xfrm flipH="1">
            <a:off x="6462211" y="2357645"/>
            <a:ext cx="131925" cy="113048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1C9711C-04AB-9CE1-226A-782CF7AF1C9F}"/>
              </a:ext>
            </a:extLst>
          </p:cNvPr>
          <p:cNvCxnSpPr>
            <a:cxnSpLocks/>
          </p:cNvCxnSpPr>
          <p:nvPr/>
        </p:nvCxnSpPr>
        <p:spPr>
          <a:xfrm>
            <a:off x="6615744" y="2357786"/>
            <a:ext cx="517481" cy="1285874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7C7E96EB-25FD-3418-F0E9-C8FA50490325}"/>
              </a:ext>
            </a:extLst>
          </p:cNvPr>
          <p:cNvSpPr/>
          <p:nvPr/>
        </p:nvSpPr>
        <p:spPr>
          <a:xfrm>
            <a:off x="5525067" y="3415350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8EE6644-B009-85ED-0F99-F6864D62DDD2}"/>
              </a:ext>
            </a:extLst>
          </p:cNvPr>
          <p:cNvSpPr/>
          <p:nvPr/>
        </p:nvSpPr>
        <p:spPr>
          <a:xfrm>
            <a:off x="6298439" y="332436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4A8BEF2-571D-F52D-12BE-7704AB701DA5}"/>
              </a:ext>
            </a:extLst>
          </p:cNvPr>
          <p:cNvSpPr/>
          <p:nvPr/>
        </p:nvSpPr>
        <p:spPr>
          <a:xfrm>
            <a:off x="3341139" y="3229540"/>
            <a:ext cx="357117" cy="345744"/>
          </a:xfrm>
          <a:prstGeom prst="ellipse">
            <a:avLst/>
          </a:prstGeom>
          <a:solidFill>
            <a:srgbClr val="0070C0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B2C03A6-5312-0FD5-BE2E-869D75DB87C1}"/>
              </a:ext>
            </a:extLst>
          </p:cNvPr>
          <p:cNvSpPr txBox="1"/>
          <p:nvPr/>
        </p:nvSpPr>
        <p:spPr>
          <a:xfrm>
            <a:off x="905836" y="35696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Core nodes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1E3290-CA53-FE43-5FD8-BCEA11312BA6}"/>
              </a:ext>
            </a:extLst>
          </p:cNvPr>
          <p:cNvSpPr txBox="1"/>
          <p:nvPr/>
        </p:nvSpPr>
        <p:spPr>
          <a:xfrm>
            <a:off x="905837" y="5134634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Regular nodes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2739BC95-FC3C-F7B1-BA92-6F052C494627}"/>
              </a:ext>
            </a:extLst>
          </p:cNvPr>
          <p:cNvSpPr/>
          <p:nvPr/>
        </p:nvSpPr>
        <p:spPr>
          <a:xfrm>
            <a:off x="6408900" y="216629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0B0CAD0-8DF0-7BF6-E17D-2E2047B168C0}"/>
              </a:ext>
            </a:extLst>
          </p:cNvPr>
          <p:cNvCxnSpPr>
            <a:cxnSpLocks/>
          </p:cNvCxnSpPr>
          <p:nvPr/>
        </p:nvCxnSpPr>
        <p:spPr>
          <a:xfrm>
            <a:off x="7105927" y="3665558"/>
            <a:ext cx="27299" cy="12783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1AE58EB1-5218-D1EB-4A70-775E7EF144DA}"/>
              </a:ext>
            </a:extLst>
          </p:cNvPr>
          <p:cNvSpPr/>
          <p:nvPr/>
        </p:nvSpPr>
        <p:spPr>
          <a:xfrm>
            <a:off x="6935336" y="4746007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8CA020A-1697-FC29-A2A1-6C8DEDF94037}"/>
              </a:ext>
            </a:extLst>
          </p:cNvPr>
          <p:cNvSpPr/>
          <p:nvPr/>
        </p:nvSpPr>
        <p:spPr>
          <a:xfrm>
            <a:off x="6935335" y="3494961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0FA7D-93FA-CEE6-3C05-440565D908CB}"/>
              </a:ext>
            </a:extLst>
          </p:cNvPr>
          <p:cNvSpPr txBox="1"/>
          <p:nvPr/>
        </p:nvSpPr>
        <p:spPr>
          <a:xfrm>
            <a:off x="810585" y="19694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New 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Sequencer elected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F3AE7C-7B1E-CDC7-FC58-5BAA17214055}"/>
              </a:ext>
            </a:extLst>
          </p:cNvPr>
          <p:cNvSpPr txBox="1"/>
          <p:nvPr/>
        </p:nvSpPr>
        <p:spPr>
          <a:xfrm>
            <a:off x="7820985" y="1998066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Max(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seq_numbers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 + 1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9E9995-C052-DA54-B198-C9DA94B1324B}"/>
              </a:ext>
            </a:extLst>
          </p:cNvPr>
          <p:cNvSpPr txBox="1"/>
          <p:nvPr/>
        </p:nvSpPr>
        <p:spPr>
          <a:xfrm>
            <a:off x="7820985" y="23504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New View number = 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FC139C0-C447-A39D-5E71-DFF7DD915C8F}"/>
              </a:ext>
            </a:extLst>
          </p:cNvPr>
          <p:cNvCxnSpPr/>
          <p:nvPr/>
        </p:nvCxnSpPr>
        <p:spPr>
          <a:xfrm>
            <a:off x="7105650" y="3667125"/>
            <a:ext cx="28575" cy="1200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DA4E413-DA16-61E5-B3C3-5B60F664C239}"/>
              </a:ext>
            </a:extLst>
          </p:cNvPr>
          <p:cNvCxnSpPr>
            <a:cxnSpLocks/>
          </p:cNvCxnSpPr>
          <p:nvPr/>
        </p:nvCxnSpPr>
        <p:spPr>
          <a:xfrm>
            <a:off x="5638800" y="3743324"/>
            <a:ext cx="28575" cy="1200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394B6A5-9B0C-DD53-C05A-2C0B069E0C46}"/>
              </a:ext>
            </a:extLst>
          </p:cNvPr>
          <p:cNvCxnSpPr>
            <a:cxnSpLocks/>
          </p:cNvCxnSpPr>
          <p:nvPr/>
        </p:nvCxnSpPr>
        <p:spPr>
          <a:xfrm flipH="1">
            <a:off x="6543675" y="4943474"/>
            <a:ext cx="561975" cy="33337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06D6092-3F6A-C4C3-5F8E-4E4481FD35B0}"/>
              </a:ext>
            </a:extLst>
          </p:cNvPr>
          <p:cNvCxnSpPr>
            <a:cxnSpLocks/>
          </p:cNvCxnSpPr>
          <p:nvPr/>
        </p:nvCxnSpPr>
        <p:spPr>
          <a:xfrm>
            <a:off x="3552824" y="3467099"/>
            <a:ext cx="1543050" cy="156210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4ABE6BA-3362-A440-4CB2-C0F8893774F0}"/>
              </a:ext>
            </a:extLst>
          </p:cNvPr>
          <p:cNvCxnSpPr>
            <a:cxnSpLocks/>
          </p:cNvCxnSpPr>
          <p:nvPr/>
        </p:nvCxnSpPr>
        <p:spPr>
          <a:xfrm flipV="1">
            <a:off x="5724524" y="3457574"/>
            <a:ext cx="781050" cy="1428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7EA309-B8EC-D24C-CD1D-7B905CD9CBE6}"/>
              </a:ext>
            </a:extLst>
          </p:cNvPr>
          <p:cNvSpPr txBox="1"/>
          <p:nvPr/>
        </p:nvSpPr>
        <p:spPr>
          <a:xfrm>
            <a:off x="2286960" y="2788641"/>
            <a:ext cx="245408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err="1">
                <a:solidFill>
                  <a:srgbClr val="00B050"/>
                </a:solidFill>
                <a:ea typeface="Calibri"/>
                <a:cs typeface="Calibri"/>
              </a:rPr>
              <a:t>Find_seq</a:t>
            </a:r>
            <a:r>
              <a:rPr lang="en-US" sz="1200" b="1">
                <a:solidFill>
                  <a:srgbClr val="00B050"/>
                </a:solidFill>
                <a:ea typeface="Calibri"/>
                <a:cs typeface="Calibri"/>
              </a:rPr>
              <a:t>:</a:t>
            </a:r>
          </a:p>
          <a:p>
            <a:r>
              <a:rPr lang="en-US" sz="1200" b="1">
                <a:ea typeface="Calibri"/>
                <a:cs typeface="Calibri"/>
              </a:rPr>
              <a:t>Please who is the current sequencer in this channel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5BDAD-F769-AFF0-AA98-C5E8AF3A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75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4377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Sequencer Election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016000" cy="33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7394" y="1687901"/>
            <a:ext cx="10944046" cy="20243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0486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Election Timeline: Sequencer Crash → New Leader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030747"/>
            <a:ext cx="9875520" cy="381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5840" y="2939307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80" y="2299227"/>
            <a:ext cx="25400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11634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Segoe UI"/>
              </a:defRPr>
            </a:pPr>
            <a:r>
              <a:t>SEQ alive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9922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heartbeat</a:t>
            </a:r>
          </a:p>
        </p:txBody>
      </p:sp>
      <p:sp>
        <p:nvSpPr>
          <p:cNvPr id="13" name="Oval 12"/>
          <p:cNvSpPr/>
          <p:nvPr/>
        </p:nvSpPr>
        <p:spPr>
          <a:xfrm>
            <a:off x="3108960" y="2939307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0" y="2299227"/>
            <a:ext cx="25400" cy="7315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211634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Segoe UI"/>
              </a:defRPr>
            </a:pPr>
            <a:r>
              <a:t>SEQ crashes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29922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F4444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17" name="Oval 16"/>
          <p:cNvSpPr/>
          <p:nvPr/>
        </p:nvSpPr>
        <p:spPr>
          <a:xfrm>
            <a:off x="4937760" y="2939307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2299227"/>
            <a:ext cx="25400" cy="7315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211634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Segoe UI"/>
              </a:defRPr>
            </a:pPr>
            <a:r>
              <a:t>1.5s timeout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29922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SUSPECT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0" y="2939307"/>
            <a:ext cx="182880" cy="18288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0" y="2299227"/>
            <a:ext cx="25400" cy="7315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211634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Segoe UI"/>
              </a:defRPr>
            </a:pPr>
            <a:r>
              <a:t>ELECTION_REQ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29922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730A3"/>
                </a:solidFill>
                <a:latin typeface="Segoe UI"/>
              </a:defRPr>
            </a:pPr>
            <a:r>
              <a:t>voting</a:t>
            </a:r>
          </a:p>
        </p:txBody>
      </p:sp>
      <p:sp>
        <p:nvSpPr>
          <p:cNvPr id="25" name="Oval 24"/>
          <p:cNvSpPr/>
          <p:nvPr/>
        </p:nvSpPr>
        <p:spPr>
          <a:xfrm>
            <a:off x="8595360" y="2939307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686800" y="2299227"/>
            <a:ext cx="25400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211634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Segoe UI"/>
              </a:defRPr>
            </a:pPr>
            <a:r>
              <a:t>Quorum!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29922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n/2+1 votes</a:t>
            </a:r>
          </a:p>
        </p:txBody>
      </p:sp>
      <p:sp>
        <p:nvSpPr>
          <p:cNvPr id="29" name="Oval 28"/>
          <p:cNvSpPr/>
          <p:nvPr/>
        </p:nvSpPr>
        <p:spPr>
          <a:xfrm>
            <a:off x="10149840" y="2939307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241280" y="2299227"/>
            <a:ext cx="25400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84080" y="211634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Segoe UI"/>
              </a:defRPr>
            </a:pPr>
            <a:r>
              <a:t>NEW_SEQ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29922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announced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188720" y="3030747"/>
            <a:ext cx="1920240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91840" y="3030747"/>
            <a:ext cx="1645920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120640" y="3030747"/>
            <a:ext cx="1645920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949440" y="3030747"/>
            <a:ext cx="1645920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78240" y="3030747"/>
            <a:ext cx="1371600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48640" y="438912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4389120"/>
            <a:ext cx="63500" cy="201168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" y="448056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Election Algorithm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8006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1. Core suspects → ELECTION_REQ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2. Cores vote + cascade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3. Quorum: ⌊n/2⌋ + 1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4. Winner: min(sorted(candidates))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97680" y="438912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297680" y="4389120"/>
            <a:ext cx="63500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26280" y="448056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Formal Properties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48006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Agreement: same winner at all cores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Validity: only live cores eligible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Termination: 3s timeout bound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Continuity: next_seq = max+1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438912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46720" y="4389120"/>
            <a:ext cx="63500" cy="20116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75320" y="448056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Theorems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48006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Deterministic: sorted() identical at all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No seq_num reuse across transitions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Assumption: majority of cores survive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Quorum ensures single winner</a:t>
            </a:r>
          </a:p>
        </p:txBody>
      </p:sp>
      <p:sp>
        <p:nvSpPr>
          <p:cNvPr id="50" name="Slide Number Placeholder 49">
            <a:extLst>
              <a:ext uri="{FF2B5EF4-FFF2-40B4-BE49-F238E27FC236}">
                <a16:creationId xmlns:a16="http://schemas.microsoft.com/office/drawing/2014/main" id="{B79A0927-7AA7-10F6-7F87-E1D7C3B05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755" y="14377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Message Type Catalog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9028" y="1746913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69028" y="1746913"/>
            <a:ext cx="3566160" cy="36576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6188" y="179263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Gossip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188" y="220411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30A3"/>
                </a:solidFill>
                <a:latin typeface="Consolas"/>
              </a:defRPr>
            </a:pPr>
            <a:r>
              <a:t>GOSSIP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3508" y="220411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App payload (pub/sub)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188" y="256987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30A3"/>
                </a:solidFill>
                <a:latin typeface="Consolas"/>
              </a:defRPr>
            </a:pPr>
            <a:r>
              <a:t>SEQUENCE_ASSIGN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3508" y="256987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Sequencer assigns order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9508" y="1746913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09508" y="1746913"/>
            <a:ext cx="3566160" cy="3657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46668" y="179263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Heartbeat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6668" y="220411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onsolas"/>
              </a:defRPr>
            </a:pPr>
            <a:r>
              <a:t>HEARTBEAT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3988" y="220411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Liveness probe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6668" y="256987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onsolas"/>
              </a:defRPr>
            </a:pPr>
            <a:r>
              <a:t>HEARTBEAT_ACK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63988" y="256987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Acknowledgment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9988" y="1746913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49988" y="1746913"/>
            <a:ext cx="3566160" cy="3657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87148" y="179263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148" y="220411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onsolas"/>
              </a:defRPr>
            </a:pPr>
            <a:r>
              <a:t>PEER_LIST_REQ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4468" y="220411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Give me your peers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7148" y="256987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onsolas"/>
              </a:defRPr>
            </a:pPr>
            <a:r>
              <a:t>PEER_LIST_RESP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4468" y="256987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Here are my peers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3147" y="3716740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3147" y="3716740"/>
            <a:ext cx="3566160" cy="365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307" y="37624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307" y="41739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onsolas"/>
              </a:defRPr>
            </a:pPr>
            <a:r>
              <a:t>HISTORY_REQ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627" y="41739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Fill my gaps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307" y="45397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onsolas"/>
              </a:defRPr>
            </a:pPr>
            <a:r>
              <a:t>HISTORY_RESP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627" y="45397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Batch of messages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627" y="3716740"/>
            <a:ext cx="35661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43627" y="3716740"/>
            <a:ext cx="356616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80787" y="37624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Core Nodes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787" y="41739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onsolas"/>
              </a:defRPr>
            </a:pPr>
            <a:r>
              <a:t>CORE_JOIN_REQ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8107" y="41739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Request membership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787" y="45397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onsolas"/>
              </a:defRPr>
            </a:pPr>
            <a:r>
              <a:t>CORE_JOIN_OK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8107" y="45397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Approved + broadcast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787" y="49054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onsolas"/>
              </a:defRPr>
            </a:pPr>
            <a:r>
              <a:t>CORE_LEAVE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8107" y="49054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Depart (gap found)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4107" y="3716740"/>
            <a:ext cx="35661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184107" y="3716740"/>
            <a:ext cx="3566160" cy="3657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21267" y="37624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Election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267" y="41739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onsolas"/>
              </a:defRPr>
            </a:pPr>
            <a:r>
              <a:t>SEQ_HEARTBEAT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587" y="41739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Sequencer alive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267" y="45397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onsolas"/>
              </a:defRPr>
            </a:pPr>
            <a:r>
              <a:t>ELECTION_REQ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38587" y="45397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Vote request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267" y="49054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onsolas"/>
              </a:defRPr>
            </a:pPr>
            <a:r>
              <a:t>NEW_SEQUENCER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587" y="49054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Election result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267" y="52712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onsolas"/>
              </a:defRPr>
            </a:pPr>
            <a:r>
              <a:t>FIND_SEQ_*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38587" y="52712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Runtime discovery</a:t>
            </a:r>
          </a:p>
        </p:txBody>
      </p:sp>
      <p:sp>
        <p:nvSpPr>
          <p:cNvPr id="55" name="Rounded Rectangle 4">
            <a:extLst>
              <a:ext uri="{FF2B5EF4-FFF2-40B4-BE49-F238E27FC236}">
                <a16:creationId xmlns:a16="http://schemas.microsoft.com/office/drawing/2014/main" id="{37C55CD0-3C96-7F06-F1BF-E6F25992CDA2}"/>
              </a:ext>
            </a:extLst>
          </p:cNvPr>
          <p:cNvSpPr/>
          <p:nvPr/>
        </p:nvSpPr>
        <p:spPr>
          <a:xfrm>
            <a:off x="10058400" y="320040"/>
            <a:ext cx="1016000" cy="33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FFF704-02F9-7979-6C06-17B726303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43F23E-45DC-3336-923B-79E9818E3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54</a:t>
            </a:fld>
            <a:endParaRPr lang="en-US"/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12879618-48C5-52EC-CFEC-02B2084A44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94" t="-442" r="-280" b="66593"/>
          <a:stretch>
            <a:fillRect/>
          </a:stretch>
        </p:blipFill>
        <p:spPr>
          <a:xfrm>
            <a:off x="52899" y="211575"/>
            <a:ext cx="12075028" cy="2200972"/>
          </a:xfrm>
          <a:prstGeom prst="rect">
            <a:avLst/>
          </a:prstGeom>
        </p:spPr>
      </p:pic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48BE036-ABB4-3880-7D70-ACBC97427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387" y="2416026"/>
            <a:ext cx="827722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1739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Demo: </a:t>
            </a:r>
            <a:r>
              <a:rPr lang="en-US"/>
              <a:t>20-Node</a:t>
            </a:r>
            <a:r>
              <a:t> Multi-Channel Scenario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96500" y="272415"/>
            <a:ext cx="6604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DEMO</a:t>
            </a:r>
          </a:p>
        </p:txBody>
      </p:sp>
      <p:pic>
        <p:nvPicPr>
          <p:cNvPr id="61" name="gossip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76CF763A-4BCB-CD3A-6786-C8C3FD377B4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9200" y="1160294"/>
            <a:ext cx="9753600" cy="52832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CF647-358E-2435-4B83-72E866CE5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8" fill="hold" display="0">
                  <p:stCondLst>
                    <p:cond delay="indefinite"/>
                  </p:stCondLst>
                </p:cTn>
                <p:tgtEl>
                  <p:spTgt spid="61"/>
                </p:tgtEl>
              </p:cMediaNode>
            </p:video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E02F8-6EF7-9FEB-65CE-1FD292990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C67474-6808-C48C-9EA5-760DA1481D39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C78854-9098-65EE-018A-AAB06C56DB02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EE4026-0946-89A2-BCE7-CCBA15884C23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Demo: </a:t>
            </a:r>
            <a:r>
              <a:rPr lang="en-US"/>
              <a:t>Robust Connectivity</a:t>
            </a:r>
            <a:endParaRPr lang="en-US">
              <a:cs typeface="Segoe UI Semibold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AE5C479-1D02-DBD7-9367-91728C0F73D4}"/>
              </a:ext>
            </a:extLst>
          </p:cNvPr>
          <p:cNvSpPr/>
          <p:nvPr/>
        </p:nvSpPr>
        <p:spPr>
          <a:xfrm>
            <a:off x="10096500" y="272415"/>
            <a:ext cx="6604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DEMO</a:t>
            </a:r>
          </a:p>
        </p:txBody>
      </p:sp>
      <p:pic>
        <p:nvPicPr>
          <p:cNvPr id="6" name="gossip (online-video-cutter.com) (1)">
            <a:hlinkClick r:id="" action="ppaction://media"/>
            <a:extLst>
              <a:ext uri="{FF2B5EF4-FFF2-40B4-BE49-F238E27FC236}">
                <a16:creationId xmlns:a16="http://schemas.microsoft.com/office/drawing/2014/main" id="{C047B20E-44AB-BD94-6509-780468F10FC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5566" y="1186985"/>
            <a:ext cx="9753600" cy="52832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E58579-9EF9-12A3-F2AC-282B38F2B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73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8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Summary of Guarantees &amp; Theorems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82200" y="339090"/>
            <a:ext cx="1546225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SUMMARY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06B61D6-039A-1B82-FC5F-134210CBD2B0}"/>
              </a:ext>
            </a:extLst>
          </p:cNvPr>
          <p:cNvGrpSpPr/>
          <p:nvPr/>
        </p:nvGrpSpPr>
        <p:grpSpPr>
          <a:xfrm>
            <a:off x="548640" y="1800225"/>
            <a:ext cx="10972800" cy="475488"/>
            <a:chOff x="548640" y="1371600"/>
            <a:chExt cx="10972800" cy="475488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371600"/>
              <a:ext cx="10972800" cy="47548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1F5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548640" y="1371600"/>
              <a:ext cx="76200" cy="475488"/>
            </a:xfrm>
            <a:prstGeom prst="rect">
              <a:avLst/>
            </a:prstGeom>
            <a:solidFill>
              <a:srgbClr val="3730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Oval 7"/>
            <p:cNvSpPr/>
            <p:nvPr/>
          </p:nvSpPr>
          <p:spPr>
            <a:xfrm>
              <a:off x="960120" y="1517904"/>
              <a:ext cx="182880" cy="182880"/>
            </a:xfrm>
            <a:prstGeom prst="ellipse">
              <a:avLst/>
            </a:prstGeom>
            <a:solidFill>
              <a:srgbClr val="3730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71600" y="1463040"/>
              <a:ext cx="274320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1E293B"/>
                  </a:solidFill>
                  <a:latin typeface="Segoe UI"/>
                </a:defRPr>
              </a:pPr>
              <a:r>
                <a:t>Deduplication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14800" y="1463040"/>
              <a:ext cx="731520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0">
                  <a:solidFill>
                    <a:srgbClr val="64748B"/>
                  </a:solidFill>
                  <a:latin typeface="Segoe UI"/>
                </a:defRPr>
              </a:pPr>
              <a:r>
                <a:t>Per msg_id seen set + forward count ≤ 3</a:t>
              </a:r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558165" y="2381631"/>
            <a:ext cx="109728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58165" y="2381631"/>
            <a:ext cx="7620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9645" y="2527935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81125" y="247307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Total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24325" y="2473071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Sequencer seq_num + OrderedDeliveryBuffer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8165" y="2948559"/>
            <a:ext cx="109728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58165" y="2948559"/>
            <a:ext cx="7620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69645" y="3094863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81125" y="303999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Eventual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24325" y="303999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Epidemic O(log n) convergence + history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8165" y="3515487"/>
            <a:ext cx="109728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58165" y="3515487"/>
            <a:ext cx="76200" cy="47548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69645" y="3661791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81125" y="360692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Failure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24325" y="3606927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◇P eventually perfect (δt-based heartbeat)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8165" y="4082415"/>
            <a:ext cx="109728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58165" y="4082415"/>
            <a:ext cx="76200" cy="4754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69645" y="4228719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81125" y="4173855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Election Agreement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24325" y="4173855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Deterministic sort on identical core set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8165" y="4649343"/>
            <a:ext cx="109728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58165" y="4649343"/>
            <a:ext cx="76200" cy="4754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69645" y="4795647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81125" y="474078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Election Termination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24325" y="4740783"/>
            <a:ext cx="731520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Segoe UI"/>
              </a:defRPr>
            </a:pPr>
            <a:r>
              <a:t>Quorum ⌊n/2⌋+1 with</a:t>
            </a:r>
            <a:r>
              <a:rPr lang="en-US"/>
              <a:t> </a:t>
            </a:r>
            <a:r>
              <a:t>timeout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8165" y="5216271"/>
            <a:ext cx="109728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58165" y="5216271"/>
            <a:ext cx="76200" cy="47548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69645" y="5362575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381125" y="530771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Seq Continuity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24325" y="5307711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next_seq = max(last_known) + 1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8165" y="5783199"/>
            <a:ext cx="109728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58165" y="5783199"/>
            <a:ext cx="76200" cy="47548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69645" y="5929503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81125" y="58746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Crash Recovery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24325" y="587463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SQLite WAL + history catch-up from core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F550AD7-19F4-D8E9-56CE-2EEDF7248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Segoe UI Semibold"/>
              </a:defRPr>
            </a:pPr>
            <a:r>
              <a:t>"From chaos to order..."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We started with unreliable nodes and ended with total-order delivery, fault tolerance, and self-healing.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02155"/>
            <a:ext cx="3566160" cy="25622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002155"/>
            <a:ext cx="3566160" cy="645795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2600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BF0"/>
                </a:solidFill>
                <a:latin typeface="Segoe UI"/>
              </a:defRPr>
            </a:pPr>
            <a:r>
              <a:t>We built the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27985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Epidemic gossip O(log n)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Heartbeat ◇P detection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EMA edge reliability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Self-healing discovery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02155"/>
            <a:ext cx="3566160" cy="25622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002155"/>
            <a:ext cx="3566160" cy="64579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Phase 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33553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BF0"/>
                </a:solidFill>
                <a:latin typeface="Segoe UI"/>
              </a:defRPr>
            </a:pPr>
            <a:r>
              <a:t>We added order &amp; resilience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927985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Sequencer total order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Delivery buffer (no gaps)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Dynamic core nodes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Quorum-based election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02155"/>
            <a:ext cx="3566160" cy="25622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2002155"/>
            <a:ext cx="3566160" cy="645795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33553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BF0"/>
                </a:solidFill>
                <a:latin typeface="Segoe UI"/>
              </a:defRPr>
            </a:pPr>
            <a:r>
              <a:t>A production-grade protocol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927985"/>
            <a:ext cx="3291840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</a:t>
            </a:r>
            <a:r>
              <a:rPr lang="en-US"/>
              <a:t>20 </a:t>
            </a:r>
            <a:r>
              <a:t>nodes, 3 channels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Survives sequencer crashes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History recovery for late join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Real-time 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790" y="5071110"/>
            <a:ext cx="1097280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7710" y="5160645"/>
            <a:ext cx="105156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Segoe UI"/>
              </a:defRPr>
            </a:pPr>
            <a:r>
              <a:t>Key Insight: Epidemic gossip + single sequencer per channel achieves total order</a:t>
            </a:r>
            <a:r>
              <a:rPr lang="en-US"/>
              <a:t> + dynamic</a:t>
            </a:r>
            <a:r>
              <a:t> core nodes ensure availability.</a:t>
            </a:r>
            <a:endParaRPr lang="en-US"/>
          </a:p>
          <a:p>
            <a:pPr>
              <a:defRPr sz="1400" b="0">
                <a:solidFill>
                  <a:srgbClr val="1E293B"/>
                </a:solidFill>
                <a:latin typeface="Segoe UI"/>
              </a:defRPr>
            </a:pPr>
            <a:r>
              <a:rPr lang="en-US" b="1">
                <a:ea typeface="+mn-lt"/>
                <a:cs typeface="+mn-lt"/>
              </a:rPr>
              <a:t>decentralized delivery.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4E9B225-2545-9210-B828-75D813968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1938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REFERENCES</a:t>
            </a:r>
          </a:p>
        </p:txBody>
      </p:sp>
      <p:sp>
        <p:nvSpPr>
          <p:cNvPr id="6" name="Oval 5"/>
          <p:cNvSpPr/>
          <p:nvPr/>
        </p:nvSpPr>
        <p:spPr>
          <a:xfrm>
            <a:off x="932688" y="1499616"/>
            <a:ext cx="146304" cy="146304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Demers, A. et al. (1987)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63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"Epidemic Algorithms for Replicated Database Maintenance." ACM PODC.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139696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Lamport, L. (1978)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03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"Time, Clocks, and the Ordering of Events in a Distributed System." CACM.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779776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Chandra, T. &amp; Toueg, S. (1996)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743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"Unreliable Failure Detectors for Reliable Distributed Systems." JACM.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419855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33832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Brakmo, L. &amp; Peterson, L. (1995)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3832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"TCP Vegas: End-to-End Congestion Avoidance." IEEE JSAC.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5993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Birman, K. et al. (1999)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023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"Bimodal Multicast." ACM TOCS.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70001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Kermarrec, A.-M. et al. (2003)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663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"Probabilistic Reliable Dissemination in Large-Scale Systems." IEEE TPDS.</a:t>
            </a:r>
          </a:p>
        </p:txBody>
      </p:sp>
      <p:sp>
        <p:nvSpPr>
          <p:cNvPr id="24" name="Oval 23"/>
          <p:cNvSpPr/>
          <p:nvPr/>
        </p:nvSpPr>
        <p:spPr>
          <a:xfrm>
            <a:off x="932688" y="5340095"/>
            <a:ext cx="146304" cy="14630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53035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Eugster, P. et al. (2004)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30351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"Epidemic Information Dissemination in Distributed Systems." IEEE Computer.</a:t>
            </a:r>
          </a:p>
        </p:txBody>
      </p:sp>
      <p:sp>
        <p:nvSpPr>
          <p:cNvPr id="27" name="Oval 26"/>
          <p:cNvSpPr/>
          <p:nvPr/>
        </p:nvSpPr>
        <p:spPr>
          <a:xfrm>
            <a:off x="932688" y="5980176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8016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Jelasity, M. et al. (2007)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943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"Gossip-based Peer Sampling." ACM TOCS.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4D8F58D3-2ED6-4C80-DB50-DFE2C32A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0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89950" y="3337560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983684" y="4480559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 flipH="1">
            <a:off x="8075124" y="3429000"/>
            <a:ext cx="306266" cy="1142999"/>
          </a:xfrm>
          <a:prstGeom prst="line">
            <a:avLst/>
          </a:prstGeom>
          <a:ln w="63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146950" y="5317294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H="1">
            <a:off x="7238390" y="4571999"/>
            <a:ext cx="836734" cy="836735"/>
          </a:xfrm>
          <a:prstGeom prst="line">
            <a:avLst/>
          </a:prstGeom>
          <a:ln w="63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003950" y="5623560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H="1">
            <a:off x="6095390" y="5408734"/>
            <a:ext cx="1143000" cy="306266"/>
          </a:xfrm>
          <a:prstGeom prst="line">
            <a:avLst/>
          </a:prstGeom>
          <a:ln w="63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860951" y="5317294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4952391" y="5408734"/>
            <a:ext cx="1142999" cy="306266"/>
          </a:xfrm>
          <a:prstGeom prst="line">
            <a:avLst/>
          </a:prstGeom>
          <a:ln w="63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024216" y="4480559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4115656" y="4571999"/>
            <a:ext cx="836735" cy="836735"/>
          </a:xfrm>
          <a:prstGeom prst="line">
            <a:avLst/>
          </a:prstGeom>
          <a:ln w="63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717950" y="3337560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3809390" y="3429000"/>
            <a:ext cx="306266" cy="1142999"/>
          </a:xfrm>
          <a:prstGeom prst="line">
            <a:avLst/>
          </a:prstGeom>
          <a:ln w="63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024216" y="2194560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 flipV="1">
            <a:off x="3809390" y="2286000"/>
            <a:ext cx="306266" cy="1143000"/>
          </a:xfrm>
          <a:prstGeom prst="line">
            <a:avLst/>
          </a:prstGeom>
          <a:ln w="63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860950" y="1357826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 flipV="1">
            <a:off x="4115656" y="1449266"/>
            <a:ext cx="836734" cy="836734"/>
          </a:xfrm>
          <a:prstGeom prst="line">
            <a:avLst/>
          </a:prstGeom>
          <a:ln w="63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003950" y="1051560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 flipV="1">
            <a:off x="4952390" y="1143000"/>
            <a:ext cx="1143000" cy="306266"/>
          </a:xfrm>
          <a:prstGeom prst="line">
            <a:avLst/>
          </a:prstGeom>
          <a:ln w="63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46950" y="1357826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6095390" y="1143000"/>
            <a:ext cx="1143000" cy="306266"/>
          </a:xfrm>
          <a:prstGeom prst="line">
            <a:avLst/>
          </a:prstGeom>
          <a:ln w="63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983684" y="2194560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7238390" y="1449266"/>
            <a:ext cx="836734" cy="836734"/>
          </a:xfrm>
          <a:prstGeom prst="line">
            <a:avLst/>
          </a:prstGeom>
          <a:ln w="63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809390" y="3429000"/>
            <a:ext cx="4572000" cy="0"/>
          </a:xfrm>
          <a:prstGeom prst="line">
            <a:avLst/>
          </a:prstGeom>
          <a:ln w="381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095390" y="1143000"/>
            <a:ext cx="0" cy="4572000"/>
          </a:xfrm>
          <a:prstGeom prst="line">
            <a:avLst/>
          </a:prstGeom>
          <a:ln w="381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809390" y="3429000"/>
            <a:ext cx="4572000" cy="0"/>
          </a:xfrm>
          <a:prstGeom prst="line">
            <a:avLst/>
          </a:prstGeom>
          <a:ln w="381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95390" y="1143000"/>
            <a:ext cx="0" cy="4572000"/>
          </a:xfrm>
          <a:prstGeom prst="line">
            <a:avLst/>
          </a:prstGeom>
          <a:ln w="381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306018" y="2290673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Segoe UI Semibold"/>
              </a:defRPr>
            </a:pPr>
            <a:r>
              <a:t>Thank You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8404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5B4FC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1F1587A9-9FCF-772F-50F4-CA62DCDB0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44</cp:revision>
  <dcterms:created xsi:type="dcterms:W3CDTF">2013-01-27T09:14:16Z</dcterms:created>
  <dcterms:modified xsi:type="dcterms:W3CDTF">2026-04-14T17:02:22Z</dcterms:modified>
  <cp:category/>
</cp:coreProperties>
</file>